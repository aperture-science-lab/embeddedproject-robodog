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" name="Google Shape;526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8a1bd73c28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g38a1bd73c28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g38a1bd73c28_0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IST_MASTER">
  <p:cSld name="PPTIST_MASTER">
    <p:bg>
      <p:bgPr>
        <a:solidFill>
          <a:srgbClr val="FFFFFF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le:Aperture Laboratories Logo.svg - Wikimedia Commons" id="10" name="Google Shape;10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7000" y="5839750"/>
            <a:ext cx="2235050" cy="5692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2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2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2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20.png"/><Relationship Id="rId6" Type="http://schemas.openxmlformats.org/officeDocument/2006/relationships/image" Target="../media/image2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slides_tmpl/image/25-08-27-19:57:53-d2nf5g98bjvh7rlivtbg.png" id="18" name="Google Shape;1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510" y="0"/>
            <a:ext cx="12297409" cy="690181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/>
          <p:nvPr/>
        </p:nvSpPr>
        <p:spPr>
          <a:xfrm>
            <a:off x="564630" y="2992890"/>
            <a:ext cx="8800500" cy="9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SpotMicro AI Dog in Egypt</a:t>
            </a:r>
            <a:endParaRPr b="0" i="0" sz="1600" u="none" cap="none" strike="noStrike"/>
          </a:p>
        </p:txBody>
      </p:sp>
      <p:pic>
        <p:nvPicPr>
          <p:cNvPr descr="File:Aperture Laboratories Logo.svg - Wikimedia Commons" id="20" name="Google Shape;20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625" y="1583843"/>
            <a:ext cx="4520974" cy="1151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>
            <a:gsLst>
              <a:gs pos="0">
                <a:srgbClr val="F6F8FD"/>
              </a:gs>
              <a:gs pos="100000">
                <a:srgbClr val="BEBEBE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pic>
        <p:nvPicPr>
          <p:cNvPr descr="https://kimi-img.moonshot.cn/pub/slides/slides_tmpl/image/25-08-27-19:57:52-d2nf5g18bjvh7rlivt90.png" id="28" name="Google Shape;28;p5"/>
          <p:cNvPicPr preferRelativeResize="0"/>
          <p:nvPr/>
        </p:nvPicPr>
        <p:blipFill rotWithShape="1">
          <a:blip r:embed="rId3">
            <a:alphaModFix/>
          </a:blip>
          <a:srcRect b="0" l="20534" r="0" t="0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5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31" name="Google Shape;31;p5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Overview</a:t>
            </a:r>
            <a:endParaRPr b="0" i="0" sz="1600" u="none" cap="none" strike="noStrike"/>
          </a:p>
        </p:txBody>
      </p:sp>
      <p:sp>
        <p:nvSpPr>
          <p:cNvPr id="32" name="Google Shape;32;p5"/>
          <p:cNvSpPr/>
          <p:nvPr/>
        </p:nvSpPr>
        <p:spPr>
          <a:xfrm>
            <a:off x="7765415" y="1823085"/>
            <a:ext cx="1781810" cy="133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600" u="none" cap="none" strike="noStrike"/>
          </a:p>
        </p:txBody>
      </p:sp>
      <p:pic>
        <p:nvPicPr>
          <p:cNvPr id="33" name="Google Shape;33;p5"/>
          <p:cNvPicPr preferRelativeResize="0"/>
          <p:nvPr/>
        </p:nvPicPr>
        <p:blipFill rotWithShape="1">
          <a:blip r:embed="rId4">
            <a:alphaModFix/>
          </a:blip>
          <a:srcRect b="777" l="0" r="0" t="787"/>
          <a:stretch/>
        </p:blipFill>
        <p:spPr>
          <a:xfrm>
            <a:off x="1328420" y="2077085"/>
            <a:ext cx="2712719" cy="2670177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descr="https://kimi-img.moonshot.cn/pub/slides/slides_tmpl/image/25-08-27-19:57:52-d2nf5g18bjvh7rlivt9g.png" id="34" name="Google Shape;3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46590" y="2077085"/>
            <a:ext cx="920750" cy="335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254000" y="1854200"/>
            <a:ext cx="7200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SpotMicro AI Dog</a:t>
            </a:r>
            <a:endParaRPr b="0" i="0" sz="1600" u="none" cap="none" strike="noStrike"/>
          </a:p>
        </p:txBody>
      </p:sp>
      <p:sp>
        <p:nvSpPr>
          <p:cNvPr id="41" name="Google Shape;41;p6"/>
          <p:cNvSpPr/>
          <p:nvPr/>
        </p:nvSpPr>
        <p:spPr>
          <a:xfrm>
            <a:off x="254000" y="2565400"/>
            <a:ext cx="6692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Autonomous Quadruped Robot Project in Egypt</a:t>
            </a:r>
            <a:endParaRPr b="0" i="0" sz="1600" u="none" cap="none" strike="noStrike"/>
          </a:p>
        </p:txBody>
      </p:sp>
      <p:sp>
        <p:nvSpPr>
          <p:cNvPr id="42" name="Google Shape;42;p6"/>
          <p:cNvSpPr/>
          <p:nvPr/>
        </p:nvSpPr>
        <p:spPr>
          <a:xfrm>
            <a:off x="254000" y="3784600"/>
            <a:ext cx="66929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Building a smart, affordable, and locally-sourced quadruped robot featuring dynamic walking, stereo vision, NLP, and person-following capabilities. Leveraging open-source models and Egyptian components for a cost-effective innovation showcase.</a:t>
            </a:r>
            <a:endParaRPr b="0" i="0" sz="1600" u="none" cap="none" strike="noStrike"/>
          </a:p>
        </p:txBody>
      </p:sp>
      <p:pic>
        <p:nvPicPr>
          <p:cNvPr descr="https://kimi-web-img.moonshot.cn/img/www.aoborobot.com/070369c6598d52ca331b5e66829d5064a3321179.jpg" id="43" name="Google Shape;4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7414" y="3429000"/>
            <a:ext cx="4686300" cy="914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/>
          <p:nvPr/>
        </p:nvSpPr>
        <p:spPr>
          <a:xfrm>
            <a:off x="254000" y="194564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 b="0" i="0" sz="1600" u="none" cap="none" strike="noStrike"/>
          </a:p>
        </p:txBody>
      </p:sp>
      <p:sp>
        <p:nvSpPr>
          <p:cNvPr id="50" name="Google Shape;50;p7"/>
          <p:cNvSpPr/>
          <p:nvPr/>
        </p:nvSpPr>
        <p:spPr>
          <a:xfrm>
            <a:off x="254000" y="2504440"/>
            <a:ext cx="1016000" cy="50800"/>
          </a:xfrm>
          <a:custGeom>
            <a:rect b="b" l="l" r="r" t="t"/>
            <a:pathLst>
              <a:path extrusionOk="0" h="50800" w="10160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8C8C8C"/>
          </a:solidFill>
          <a:ln>
            <a:noFill/>
          </a:ln>
        </p:spPr>
      </p:sp>
      <p:sp>
        <p:nvSpPr>
          <p:cNvPr id="51" name="Google Shape;51;p7"/>
          <p:cNvSpPr/>
          <p:nvPr/>
        </p:nvSpPr>
        <p:spPr>
          <a:xfrm>
            <a:off x="254000" y="2961640"/>
            <a:ext cx="3695700" cy="1955800"/>
          </a:xfrm>
          <a:custGeom>
            <a:rect b="b" l="l" r="r" t="t"/>
            <a:pathLst>
              <a:path extrusionOk="0" h="1955800" w="3695700">
                <a:moveTo>
                  <a:pt x="101604" y="0"/>
                </a:moveTo>
                <a:lnTo>
                  <a:pt x="3594096" y="0"/>
                </a:lnTo>
                <a:cubicBezTo>
                  <a:pt x="3650210" y="0"/>
                  <a:pt x="3695700" y="45490"/>
                  <a:pt x="3695700" y="101604"/>
                </a:cubicBezTo>
                <a:lnTo>
                  <a:pt x="3695700" y="1854196"/>
                </a:lnTo>
                <a:cubicBezTo>
                  <a:pt x="3695700" y="1910310"/>
                  <a:pt x="3650210" y="1955800"/>
                  <a:pt x="3594096" y="1955800"/>
                </a:cubicBezTo>
                <a:lnTo>
                  <a:pt x="101604" y="1955800"/>
                </a:lnTo>
                <a:cubicBezTo>
                  <a:pt x="45490" y="1955800"/>
                  <a:pt x="0" y="1910310"/>
                  <a:pt x="0" y="1854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262626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/>
          <p:nvPr/>
        </p:nvSpPr>
        <p:spPr>
          <a:xfrm>
            <a:off x="1813877" y="3164840"/>
            <a:ext cx="571500" cy="457200"/>
          </a:xfrm>
          <a:custGeom>
            <a:rect b="b" l="l" r="r" t="t"/>
            <a:pathLst>
              <a:path extrusionOk="0" h="457200" w="571500">
                <a:moveTo>
                  <a:pt x="314325" y="0"/>
                </a:moveTo>
                <a:cubicBezTo>
                  <a:pt x="314325" y="-15806"/>
                  <a:pt x="301556" y="-28575"/>
                  <a:pt x="285750" y="-28575"/>
                </a:cubicBezTo>
                <a:cubicBezTo>
                  <a:pt x="269944" y="-28575"/>
                  <a:pt x="257175" y="-15806"/>
                  <a:pt x="257175" y="0"/>
                </a:cubicBezTo>
                <a:lnTo>
                  <a:pt x="257175" y="57150"/>
                </a:lnTo>
                <a:lnTo>
                  <a:pt x="171450" y="57150"/>
                </a:lnTo>
                <a:cubicBezTo>
                  <a:pt x="124123" y="57150"/>
                  <a:pt x="85725" y="95548"/>
                  <a:pt x="85725" y="142875"/>
                </a:cubicBezTo>
                <a:lnTo>
                  <a:pt x="85725" y="342900"/>
                </a:lnTo>
                <a:cubicBezTo>
                  <a:pt x="85725" y="390227"/>
                  <a:pt x="124123" y="428625"/>
                  <a:pt x="171450" y="428625"/>
                </a:cubicBezTo>
                <a:lnTo>
                  <a:pt x="400050" y="428625"/>
                </a:lnTo>
                <a:cubicBezTo>
                  <a:pt x="447377" y="428625"/>
                  <a:pt x="485775" y="390227"/>
                  <a:pt x="485775" y="342900"/>
                </a:cubicBezTo>
                <a:lnTo>
                  <a:pt x="485775" y="142875"/>
                </a:lnTo>
                <a:cubicBezTo>
                  <a:pt x="485775" y="95548"/>
                  <a:pt x="447377" y="57150"/>
                  <a:pt x="400050" y="57150"/>
                </a:cubicBezTo>
                <a:lnTo>
                  <a:pt x="314325" y="57150"/>
                </a:lnTo>
                <a:lnTo>
                  <a:pt x="314325" y="0"/>
                </a:lnTo>
                <a:close/>
                <a:moveTo>
                  <a:pt x="142875" y="328613"/>
                </a:moveTo>
                <a:cubicBezTo>
                  <a:pt x="142875" y="316736"/>
                  <a:pt x="152430" y="307181"/>
                  <a:pt x="164306" y="307181"/>
                </a:cubicBezTo>
                <a:lnTo>
                  <a:pt x="192881" y="307181"/>
                </a:lnTo>
                <a:cubicBezTo>
                  <a:pt x="204758" y="307181"/>
                  <a:pt x="214313" y="316736"/>
                  <a:pt x="214313" y="328613"/>
                </a:cubicBezTo>
                <a:cubicBezTo>
                  <a:pt x="214313" y="340489"/>
                  <a:pt x="204758" y="350044"/>
                  <a:pt x="192881" y="350044"/>
                </a:cubicBezTo>
                <a:lnTo>
                  <a:pt x="164306" y="350044"/>
                </a:lnTo>
                <a:cubicBezTo>
                  <a:pt x="152430" y="350044"/>
                  <a:pt x="142875" y="340489"/>
                  <a:pt x="142875" y="328613"/>
                </a:cubicBezTo>
                <a:close/>
                <a:moveTo>
                  <a:pt x="250031" y="328613"/>
                </a:moveTo>
                <a:cubicBezTo>
                  <a:pt x="250031" y="316736"/>
                  <a:pt x="259586" y="307181"/>
                  <a:pt x="271463" y="307181"/>
                </a:cubicBezTo>
                <a:lnTo>
                  <a:pt x="300038" y="307181"/>
                </a:lnTo>
                <a:cubicBezTo>
                  <a:pt x="311914" y="307181"/>
                  <a:pt x="321469" y="316736"/>
                  <a:pt x="321469" y="328613"/>
                </a:cubicBezTo>
                <a:cubicBezTo>
                  <a:pt x="321469" y="340489"/>
                  <a:pt x="311914" y="350044"/>
                  <a:pt x="300038" y="350044"/>
                </a:cubicBezTo>
                <a:lnTo>
                  <a:pt x="271463" y="350044"/>
                </a:lnTo>
                <a:cubicBezTo>
                  <a:pt x="259586" y="350044"/>
                  <a:pt x="250031" y="340489"/>
                  <a:pt x="250031" y="328613"/>
                </a:cubicBezTo>
                <a:close/>
                <a:moveTo>
                  <a:pt x="357188" y="328613"/>
                </a:moveTo>
                <a:cubicBezTo>
                  <a:pt x="357188" y="316736"/>
                  <a:pt x="366742" y="307181"/>
                  <a:pt x="378619" y="307181"/>
                </a:cubicBezTo>
                <a:lnTo>
                  <a:pt x="407194" y="307181"/>
                </a:lnTo>
                <a:cubicBezTo>
                  <a:pt x="419070" y="307181"/>
                  <a:pt x="428625" y="316736"/>
                  <a:pt x="428625" y="328613"/>
                </a:cubicBezTo>
                <a:cubicBezTo>
                  <a:pt x="428625" y="340489"/>
                  <a:pt x="419070" y="350044"/>
                  <a:pt x="407194" y="350044"/>
                </a:cubicBezTo>
                <a:lnTo>
                  <a:pt x="378619" y="350044"/>
                </a:lnTo>
                <a:cubicBezTo>
                  <a:pt x="366742" y="350044"/>
                  <a:pt x="357188" y="340489"/>
                  <a:pt x="357188" y="328613"/>
                </a:cubicBezTo>
                <a:close/>
                <a:moveTo>
                  <a:pt x="200025" y="157163"/>
                </a:moveTo>
                <a:cubicBezTo>
                  <a:pt x="223681" y="157163"/>
                  <a:pt x="242888" y="176369"/>
                  <a:pt x="242888" y="200025"/>
                </a:cubicBezTo>
                <a:cubicBezTo>
                  <a:pt x="242888" y="223681"/>
                  <a:pt x="223681" y="242888"/>
                  <a:pt x="200025" y="242888"/>
                </a:cubicBezTo>
                <a:cubicBezTo>
                  <a:pt x="176369" y="242888"/>
                  <a:pt x="157163" y="223681"/>
                  <a:pt x="157163" y="200025"/>
                </a:cubicBezTo>
                <a:cubicBezTo>
                  <a:pt x="157163" y="176369"/>
                  <a:pt x="176369" y="157163"/>
                  <a:pt x="200025" y="157163"/>
                </a:cubicBezTo>
                <a:close/>
                <a:moveTo>
                  <a:pt x="328613" y="200025"/>
                </a:moveTo>
                <a:cubicBezTo>
                  <a:pt x="328613" y="176369"/>
                  <a:pt x="347819" y="157163"/>
                  <a:pt x="371475" y="157163"/>
                </a:cubicBezTo>
                <a:cubicBezTo>
                  <a:pt x="395131" y="157163"/>
                  <a:pt x="414338" y="176369"/>
                  <a:pt x="414338" y="200025"/>
                </a:cubicBezTo>
                <a:cubicBezTo>
                  <a:pt x="414338" y="223681"/>
                  <a:pt x="395131" y="242888"/>
                  <a:pt x="371475" y="242888"/>
                </a:cubicBezTo>
                <a:cubicBezTo>
                  <a:pt x="347819" y="242888"/>
                  <a:pt x="328613" y="223681"/>
                  <a:pt x="328613" y="200025"/>
                </a:cubicBezTo>
                <a:close/>
                <a:moveTo>
                  <a:pt x="57150" y="200025"/>
                </a:moveTo>
                <a:cubicBezTo>
                  <a:pt x="57150" y="184219"/>
                  <a:pt x="44381" y="171450"/>
                  <a:pt x="28575" y="171450"/>
                </a:cubicBezTo>
                <a:cubicBezTo>
                  <a:pt x="12769" y="171450"/>
                  <a:pt x="0" y="184219"/>
                  <a:pt x="0" y="200025"/>
                </a:cubicBezTo>
                <a:lnTo>
                  <a:pt x="0" y="285750"/>
                </a:lnTo>
                <a:cubicBezTo>
                  <a:pt x="0" y="301556"/>
                  <a:pt x="12769" y="314325"/>
                  <a:pt x="28575" y="314325"/>
                </a:cubicBezTo>
                <a:cubicBezTo>
                  <a:pt x="44381" y="314325"/>
                  <a:pt x="57150" y="301556"/>
                  <a:pt x="57150" y="285750"/>
                </a:cubicBezTo>
                <a:lnTo>
                  <a:pt x="57150" y="200025"/>
                </a:lnTo>
                <a:close/>
                <a:moveTo>
                  <a:pt x="542925" y="171450"/>
                </a:moveTo>
                <a:cubicBezTo>
                  <a:pt x="527119" y="171450"/>
                  <a:pt x="514350" y="184219"/>
                  <a:pt x="514350" y="200025"/>
                </a:cubicBezTo>
                <a:lnTo>
                  <a:pt x="514350" y="285750"/>
                </a:lnTo>
                <a:cubicBezTo>
                  <a:pt x="514350" y="301556"/>
                  <a:pt x="527119" y="314325"/>
                  <a:pt x="542925" y="314325"/>
                </a:cubicBezTo>
                <a:cubicBezTo>
                  <a:pt x="558731" y="314325"/>
                  <a:pt x="571500" y="301556"/>
                  <a:pt x="571500" y="285750"/>
                </a:cubicBezTo>
                <a:lnTo>
                  <a:pt x="571500" y="200025"/>
                </a:lnTo>
                <a:cubicBezTo>
                  <a:pt x="571500" y="184219"/>
                  <a:pt x="558731" y="171450"/>
                  <a:pt x="542925" y="171450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7"/>
          <p:cNvSpPr/>
          <p:nvPr/>
        </p:nvSpPr>
        <p:spPr>
          <a:xfrm>
            <a:off x="203200" y="3774440"/>
            <a:ext cx="37973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AI-Driven Autonomy</a:t>
            </a:r>
            <a:endParaRPr b="0" i="0" sz="1600" u="none" cap="none" strike="noStrike"/>
          </a:p>
        </p:txBody>
      </p:sp>
      <p:sp>
        <p:nvSpPr>
          <p:cNvPr id="54" name="Google Shape;54;p7"/>
          <p:cNvSpPr/>
          <p:nvPr/>
        </p:nvSpPr>
        <p:spPr>
          <a:xfrm>
            <a:off x="457200" y="4180840"/>
            <a:ext cx="32893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SLAM, Voice Interaction, LLM Integration</a:t>
            </a:r>
            <a:endParaRPr b="0" i="0" sz="1600" u="none" cap="none" strike="noStrike"/>
          </a:p>
        </p:txBody>
      </p:sp>
      <p:sp>
        <p:nvSpPr>
          <p:cNvPr id="55" name="Google Shape;55;p7"/>
          <p:cNvSpPr/>
          <p:nvPr/>
        </p:nvSpPr>
        <p:spPr>
          <a:xfrm>
            <a:off x="4250214" y="2961640"/>
            <a:ext cx="3695700" cy="1955800"/>
          </a:xfrm>
          <a:custGeom>
            <a:rect b="b" l="l" r="r" t="t"/>
            <a:pathLst>
              <a:path extrusionOk="0" h="1955800" w="3695700">
                <a:moveTo>
                  <a:pt x="101604" y="0"/>
                </a:moveTo>
                <a:lnTo>
                  <a:pt x="3594096" y="0"/>
                </a:lnTo>
                <a:cubicBezTo>
                  <a:pt x="3650210" y="0"/>
                  <a:pt x="3695700" y="45490"/>
                  <a:pt x="3695700" y="101604"/>
                </a:cubicBezTo>
                <a:lnTo>
                  <a:pt x="3695700" y="1854196"/>
                </a:lnTo>
                <a:cubicBezTo>
                  <a:pt x="3695700" y="1910310"/>
                  <a:pt x="3650210" y="1955800"/>
                  <a:pt x="3594096" y="1955800"/>
                </a:cubicBezTo>
                <a:lnTo>
                  <a:pt x="101604" y="1955800"/>
                </a:lnTo>
                <a:cubicBezTo>
                  <a:pt x="45490" y="1955800"/>
                  <a:pt x="0" y="1910310"/>
                  <a:pt x="0" y="1854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8C8C8C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7"/>
          <p:cNvSpPr/>
          <p:nvPr/>
        </p:nvSpPr>
        <p:spPr>
          <a:xfrm>
            <a:off x="5867241" y="3164840"/>
            <a:ext cx="457200" cy="457200"/>
          </a:xfrm>
          <a:custGeom>
            <a:rect b="b" l="l" r="r" t="t"/>
            <a:pathLst>
              <a:path extrusionOk="0" h="457200" w="457200">
                <a:moveTo>
                  <a:pt x="114300" y="85725"/>
                </a:moveTo>
                <a:lnTo>
                  <a:pt x="114300" y="71438"/>
                </a:lnTo>
                <a:cubicBezTo>
                  <a:pt x="114300" y="31968"/>
                  <a:pt x="191095" y="0"/>
                  <a:pt x="285750" y="0"/>
                </a:cubicBezTo>
                <a:cubicBezTo>
                  <a:pt x="380405" y="0"/>
                  <a:pt x="457200" y="31968"/>
                  <a:pt x="457200" y="71438"/>
                </a:cubicBezTo>
                <a:lnTo>
                  <a:pt x="457200" y="85725"/>
                </a:lnTo>
                <a:cubicBezTo>
                  <a:pt x="457200" y="113050"/>
                  <a:pt x="420320" y="136803"/>
                  <a:pt x="366117" y="148858"/>
                </a:cubicBezTo>
                <a:cubicBezTo>
                  <a:pt x="363974" y="146358"/>
                  <a:pt x="361742" y="143947"/>
                  <a:pt x="359509" y="141714"/>
                </a:cubicBezTo>
                <a:cubicBezTo>
                  <a:pt x="345668" y="128052"/>
                  <a:pt x="327809" y="117693"/>
                  <a:pt x="309146" y="110014"/>
                </a:cubicBezTo>
                <a:cubicBezTo>
                  <a:pt x="271730" y="94387"/>
                  <a:pt x="222974" y="85814"/>
                  <a:pt x="171450" y="85814"/>
                </a:cubicBezTo>
                <a:cubicBezTo>
                  <a:pt x="151894" y="85814"/>
                  <a:pt x="132784" y="87064"/>
                  <a:pt x="114479" y="89475"/>
                </a:cubicBezTo>
                <a:cubicBezTo>
                  <a:pt x="114300" y="88315"/>
                  <a:pt x="114300" y="87064"/>
                  <a:pt x="114300" y="85814"/>
                </a:cubicBezTo>
                <a:close/>
                <a:moveTo>
                  <a:pt x="385763" y="315218"/>
                </a:moveTo>
                <a:lnTo>
                  <a:pt x="385763" y="273963"/>
                </a:lnTo>
                <a:cubicBezTo>
                  <a:pt x="399246" y="270480"/>
                  <a:pt x="411926" y="266373"/>
                  <a:pt x="423446" y="261551"/>
                </a:cubicBezTo>
                <a:cubicBezTo>
                  <a:pt x="435233" y="256639"/>
                  <a:pt x="446752" y="250656"/>
                  <a:pt x="457200" y="243423"/>
                </a:cubicBezTo>
                <a:lnTo>
                  <a:pt x="457200" y="257175"/>
                </a:lnTo>
                <a:cubicBezTo>
                  <a:pt x="457200" y="281107"/>
                  <a:pt x="429071" y="302270"/>
                  <a:pt x="385763" y="315218"/>
                </a:cubicBezTo>
                <a:close/>
                <a:moveTo>
                  <a:pt x="385763" y="229493"/>
                </a:moveTo>
                <a:lnTo>
                  <a:pt x="385763" y="200025"/>
                </a:lnTo>
                <a:cubicBezTo>
                  <a:pt x="385763" y="196007"/>
                  <a:pt x="385405" y="192167"/>
                  <a:pt x="384870" y="188416"/>
                </a:cubicBezTo>
                <a:cubicBezTo>
                  <a:pt x="398711" y="184934"/>
                  <a:pt x="411659" y="180737"/>
                  <a:pt x="423446" y="175736"/>
                </a:cubicBezTo>
                <a:cubicBezTo>
                  <a:pt x="435233" y="170736"/>
                  <a:pt x="446752" y="164842"/>
                  <a:pt x="457200" y="157609"/>
                </a:cubicBezTo>
                <a:lnTo>
                  <a:pt x="457200" y="171361"/>
                </a:lnTo>
                <a:cubicBezTo>
                  <a:pt x="457200" y="195292"/>
                  <a:pt x="429071" y="216456"/>
                  <a:pt x="385763" y="229404"/>
                </a:cubicBezTo>
                <a:close/>
                <a:moveTo>
                  <a:pt x="0" y="214313"/>
                </a:moveTo>
                <a:lnTo>
                  <a:pt x="0" y="200025"/>
                </a:lnTo>
                <a:cubicBezTo>
                  <a:pt x="0" y="160556"/>
                  <a:pt x="76795" y="128588"/>
                  <a:pt x="171450" y="128588"/>
                </a:cubicBezTo>
                <a:cubicBezTo>
                  <a:pt x="266105" y="128588"/>
                  <a:pt x="342900" y="160556"/>
                  <a:pt x="342900" y="200025"/>
                </a:cubicBezTo>
                <a:lnTo>
                  <a:pt x="342900" y="214313"/>
                </a:lnTo>
                <a:cubicBezTo>
                  <a:pt x="342900" y="253782"/>
                  <a:pt x="266105" y="285750"/>
                  <a:pt x="171450" y="285750"/>
                </a:cubicBezTo>
                <a:cubicBezTo>
                  <a:pt x="76795" y="285750"/>
                  <a:pt x="0" y="253782"/>
                  <a:pt x="0" y="214313"/>
                </a:cubicBezTo>
                <a:close/>
                <a:moveTo>
                  <a:pt x="342900" y="300038"/>
                </a:moveTo>
                <a:cubicBezTo>
                  <a:pt x="342900" y="339507"/>
                  <a:pt x="266105" y="371475"/>
                  <a:pt x="171450" y="371475"/>
                </a:cubicBezTo>
                <a:cubicBezTo>
                  <a:pt x="76795" y="371475"/>
                  <a:pt x="0" y="339507"/>
                  <a:pt x="0" y="300038"/>
                </a:cubicBezTo>
                <a:lnTo>
                  <a:pt x="0" y="286286"/>
                </a:lnTo>
                <a:cubicBezTo>
                  <a:pt x="10358" y="293519"/>
                  <a:pt x="21878" y="299412"/>
                  <a:pt x="33754" y="304413"/>
                </a:cubicBezTo>
                <a:cubicBezTo>
                  <a:pt x="71170" y="320040"/>
                  <a:pt x="119926" y="328613"/>
                  <a:pt x="171450" y="328613"/>
                </a:cubicBezTo>
                <a:cubicBezTo>
                  <a:pt x="222974" y="328613"/>
                  <a:pt x="271730" y="319951"/>
                  <a:pt x="309146" y="304413"/>
                </a:cubicBezTo>
                <a:cubicBezTo>
                  <a:pt x="320933" y="299502"/>
                  <a:pt x="332452" y="293519"/>
                  <a:pt x="342900" y="286286"/>
                </a:cubicBezTo>
                <a:lnTo>
                  <a:pt x="342900" y="300038"/>
                </a:lnTo>
                <a:close/>
                <a:moveTo>
                  <a:pt x="342900" y="372011"/>
                </a:moveTo>
                <a:lnTo>
                  <a:pt x="342900" y="385763"/>
                </a:lnTo>
                <a:cubicBezTo>
                  <a:pt x="342900" y="425232"/>
                  <a:pt x="266105" y="457200"/>
                  <a:pt x="171450" y="457200"/>
                </a:cubicBezTo>
                <a:cubicBezTo>
                  <a:pt x="76795" y="457200"/>
                  <a:pt x="0" y="425232"/>
                  <a:pt x="0" y="385763"/>
                </a:cubicBezTo>
                <a:lnTo>
                  <a:pt x="0" y="372011"/>
                </a:lnTo>
                <a:cubicBezTo>
                  <a:pt x="10358" y="379244"/>
                  <a:pt x="21878" y="385137"/>
                  <a:pt x="33754" y="390138"/>
                </a:cubicBezTo>
                <a:cubicBezTo>
                  <a:pt x="71170" y="405765"/>
                  <a:pt x="119926" y="414338"/>
                  <a:pt x="171450" y="414338"/>
                </a:cubicBezTo>
                <a:cubicBezTo>
                  <a:pt x="222974" y="414338"/>
                  <a:pt x="271730" y="405676"/>
                  <a:pt x="309146" y="390138"/>
                </a:cubicBezTo>
                <a:cubicBezTo>
                  <a:pt x="320933" y="385227"/>
                  <a:pt x="332452" y="379244"/>
                  <a:pt x="342900" y="372011"/>
                </a:cubicBezTo>
                <a:close/>
              </a:path>
            </a:pathLst>
          </a:custGeom>
          <a:solidFill>
            <a:srgbClr val="8C8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4199414" y="3774440"/>
            <a:ext cx="37973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6,670 EGP Budget</a:t>
            </a:r>
            <a:endParaRPr b="0" i="0" sz="1600" u="none" cap="none" strike="noStrike"/>
          </a:p>
        </p:txBody>
      </p:sp>
      <p:sp>
        <p:nvSpPr>
          <p:cNvPr id="58" name="Google Shape;58;p7"/>
          <p:cNvSpPr/>
          <p:nvPr/>
        </p:nvSpPr>
        <p:spPr>
          <a:xfrm>
            <a:off x="4453414" y="4180840"/>
            <a:ext cx="32893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Cost-effective using locally sourced components</a:t>
            </a:r>
            <a:endParaRPr b="0" i="0" sz="1600" u="none" cap="none" strike="noStrike"/>
          </a:p>
        </p:txBody>
      </p:sp>
      <p:sp>
        <p:nvSpPr>
          <p:cNvPr id="59" name="Google Shape;59;p7"/>
          <p:cNvSpPr/>
          <p:nvPr/>
        </p:nvSpPr>
        <p:spPr>
          <a:xfrm>
            <a:off x="8246428" y="2961640"/>
            <a:ext cx="3670300" cy="1930400"/>
          </a:xfrm>
          <a:custGeom>
            <a:rect b="b" l="l" r="r" t="t"/>
            <a:pathLst>
              <a:path extrusionOk="0" h="1930400" w="3670300">
                <a:moveTo>
                  <a:pt x="101597" y="0"/>
                </a:moveTo>
                <a:lnTo>
                  <a:pt x="3568703" y="0"/>
                </a:lnTo>
                <a:cubicBezTo>
                  <a:pt x="3624813" y="0"/>
                  <a:pt x="3670300" y="45487"/>
                  <a:pt x="3670300" y="101597"/>
                </a:cubicBezTo>
                <a:lnTo>
                  <a:pt x="3670300" y="1828803"/>
                </a:lnTo>
                <a:cubicBezTo>
                  <a:pt x="3670300" y="1884913"/>
                  <a:pt x="3624813" y="1930400"/>
                  <a:pt x="3568703" y="1930400"/>
                </a:cubicBezTo>
                <a:lnTo>
                  <a:pt x="101597" y="1930400"/>
                </a:lnTo>
                <a:cubicBezTo>
                  <a:pt x="45487" y="1930400"/>
                  <a:pt x="0" y="1884913"/>
                  <a:pt x="0" y="18288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FFFFFF">
              <a:alpha val="9803"/>
            </a:srgbClr>
          </a:solidFill>
          <a:ln cap="flat" cmpd="sng" w="10150">
            <a:solidFill>
              <a:srgbClr val="FFFFFF">
                <a:alpha val="4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7"/>
          <p:cNvSpPr/>
          <p:nvPr/>
        </p:nvSpPr>
        <p:spPr>
          <a:xfrm>
            <a:off x="9863614" y="31750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ubicBezTo>
                  <a:pt x="0" y="102432"/>
                  <a:pt x="102432" y="0"/>
                  <a:pt x="228600" y="0"/>
                </a:cubicBezTo>
                <a:close/>
                <a:moveTo>
                  <a:pt x="207169" y="107156"/>
                </a:moveTo>
                <a:lnTo>
                  <a:pt x="207169" y="228600"/>
                </a:lnTo>
                <a:cubicBezTo>
                  <a:pt x="207169" y="235744"/>
                  <a:pt x="210741" y="242441"/>
                  <a:pt x="216724" y="246459"/>
                </a:cubicBezTo>
                <a:lnTo>
                  <a:pt x="302449" y="303609"/>
                </a:lnTo>
                <a:cubicBezTo>
                  <a:pt x="312271" y="310217"/>
                  <a:pt x="325576" y="307538"/>
                  <a:pt x="332184" y="297626"/>
                </a:cubicBezTo>
                <a:cubicBezTo>
                  <a:pt x="338792" y="287715"/>
                  <a:pt x="336113" y="274499"/>
                  <a:pt x="326201" y="267891"/>
                </a:cubicBezTo>
                <a:lnTo>
                  <a:pt x="250031" y="217170"/>
                </a:lnTo>
                <a:lnTo>
                  <a:pt x="250031" y="107156"/>
                </a:lnTo>
                <a:cubicBezTo>
                  <a:pt x="250031" y="95280"/>
                  <a:pt x="240476" y="85725"/>
                  <a:pt x="228600" y="85725"/>
                </a:cubicBezTo>
                <a:cubicBezTo>
                  <a:pt x="216724" y="85725"/>
                  <a:pt x="207169" y="95280"/>
                  <a:pt x="207169" y="107156"/>
                </a:cubicBez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7"/>
          <p:cNvSpPr/>
          <p:nvPr/>
        </p:nvSpPr>
        <p:spPr>
          <a:xfrm>
            <a:off x="8205788" y="3784600"/>
            <a:ext cx="3771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20-Hour Timeline</a:t>
            </a:r>
            <a:endParaRPr b="0" i="0" sz="1600" u="none" cap="none" strike="noStrike"/>
          </a:p>
        </p:txBody>
      </p:sp>
      <p:sp>
        <p:nvSpPr>
          <p:cNvPr id="62" name="Google Shape;62;p7"/>
          <p:cNvSpPr/>
          <p:nvPr/>
        </p:nvSpPr>
        <p:spPr>
          <a:xfrm>
            <a:off x="8459788" y="4191000"/>
            <a:ext cx="32639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Rapid development and deployment cycle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>
            <a:gsLst>
              <a:gs pos="0">
                <a:srgbClr val="F6F8FD"/>
              </a:gs>
              <a:gs pos="100000">
                <a:srgbClr val="BEBEBE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8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pic>
        <p:nvPicPr>
          <p:cNvPr descr="https://kimi-img.moonshot.cn/pub/slides/slides_tmpl/image/25-08-27-19:57:52-d2nf5g18bjvh7rlivt90.png" id="70" name="Google Shape;70;p8"/>
          <p:cNvPicPr preferRelativeResize="0"/>
          <p:nvPr/>
        </p:nvPicPr>
        <p:blipFill rotWithShape="1">
          <a:blip r:embed="rId3">
            <a:alphaModFix/>
          </a:blip>
          <a:srcRect b="0" l="20534" r="0" t="0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8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73" name="Google Shape;73;p8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Mechanical Design</a:t>
            </a:r>
            <a:endParaRPr b="0" i="0" sz="1600" u="none" cap="none" strike="noStrike"/>
          </a:p>
        </p:txBody>
      </p:sp>
      <p:sp>
        <p:nvSpPr>
          <p:cNvPr id="74" name="Google Shape;74;p8"/>
          <p:cNvSpPr/>
          <p:nvPr/>
        </p:nvSpPr>
        <p:spPr>
          <a:xfrm>
            <a:off x="7765415" y="1823085"/>
            <a:ext cx="1781810" cy="133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600" u="none" cap="none" strike="noStrike"/>
          </a:p>
        </p:txBody>
      </p:sp>
      <p:pic>
        <p:nvPicPr>
          <p:cNvPr descr="Fichier:Aperture Science Logo.svg — Wikipédia" id="75" name="Google Shape;75;p8"/>
          <p:cNvPicPr preferRelativeResize="0"/>
          <p:nvPr/>
        </p:nvPicPr>
        <p:blipFill rotWithShape="1">
          <a:blip r:embed="rId4">
            <a:alphaModFix/>
          </a:blip>
          <a:srcRect b="777" l="0" r="0" t="787"/>
          <a:stretch/>
        </p:blipFill>
        <p:spPr>
          <a:xfrm>
            <a:off x="1328420" y="2077085"/>
            <a:ext cx="2712719" cy="26701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kimi-img.moonshot.cn/pub/slides/slides_tmpl/image/25-08-27-19:57:52-d2nf5g18bjvh7rlivt9g.png" id="76" name="Google Shape;7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46590" y="2077085"/>
            <a:ext cx="920750" cy="335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9"/>
          <p:cNvSpPr/>
          <p:nvPr/>
        </p:nvSpPr>
        <p:spPr>
          <a:xfrm>
            <a:off x="254000" y="1524000"/>
            <a:ext cx="614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Mechanical Platform</a:t>
            </a:r>
            <a:endParaRPr b="0" i="0" sz="1600" u="none" cap="none" strike="noStrike"/>
          </a:p>
        </p:txBody>
      </p:sp>
      <p:sp>
        <p:nvSpPr>
          <p:cNvPr id="83" name="Google Shape;83;p9"/>
          <p:cNvSpPr/>
          <p:nvPr/>
        </p:nvSpPr>
        <p:spPr>
          <a:xfrm>
            <a:off x="254000" y="2032000"/>
            <a:ext cx="61468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SpotMicro V4 Structure</a:t>
            </a:r>
            <a:endParaRPr b="0" i="0" sz="1600" u="none" cap="none" strike="noStrike"/>
          </a:p>
        </p:txBody>
      </p:sp>
      <p:sp>
        <p:nvSpPr>
          <p:cNvPr id="84" name="Google Shape;84;p9"/>
          <p:cNvSpPr/>
          <p:nvPr/>
        </p:nvSpPr>
        <p:spPr>
          <a:xfrm>
            <a:off x="254000" y="2590800"/>
            <a:ext cx="5638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The robot's chassis is based on the open-source </a:t>
            </a:r>
            <a:r>
              <a:rPr b="0" i="0" lang="en-US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SpotMicro V4</a:t>
            </a: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model, with all parts fabricated locally using </a:t>
            </a:r>
            <a:r>
              <a:rPr b="0" i="0" lang="en-US" sz="1600" u="none" cap="none" strike="noStrike">
                <a:solidFill>
                  <a:srgbClr val="333333"/>
                </a:solidFill>
                <a:highlight>
                  <a:srgbClr val="8C8C8C"/>
                </a:highlight>
                <a:latin typeface="Arial"/>
                <a:ea typeface="Arial"/>
                <a:cs typeface="Arial"/>
                <a:sym typeface="Arial"/>
              </a:rPr>
              <a:t> PLA and flexible filaments </a:t>
            </a: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 This ensures a lightweight, durable, and modular structure.</a:t>
            </a:r>
            <a:endParaRPr b="0" i="0" sz="1600" u="none" cap="none" strike="noStrike"/>
          </a:p>
        </p:txBody>
      </p:sp>
      <p:sp>
        <p:nvSpPr>
          <p:cNvPr id="85" name="Google Shape;85;p9"/>
          <p:cNvSpPr/>
          <p:nvPr/>
        </p:nvSpPr>
        <p:spPr>
          <a:xfrm>
            <a:off x="279400" y="4165600"/>
            <a:ext cx="203200" cy="203200"/>
          </a:xfrm>
          <a:custGeom>
            <a:rect b="b" l="l" r="r" t="t"/>
            <a:pathLst>
              <a:path extrusionOk="0" h="203200" w="203200">
                <a:moveTo>
                  <a:pt x="25400" y="25400"/>
                </a:moveTo>
                <a:cubicBezTo>
                  <a:pt x="25400" y="11390"/>
                  <a:pt x="36790" y="0"/>
                  <a:pt x="50800" y="0"/>
                </a:cubicBezTo>
                <a:lnTo>
                  <a:pt x="135533" y="0"/>
                </a:lnTo>
                <a:cubicBezTo>
                  <a:pt x="142280" y="0"/>
                  <a:pt x="148749" y="2659"/>
                  <a:pt x="153511" y="7422"/>
                </a:cubicBezTo>
                <a:lnTo>
                  <a:pt x="170378" y="24289"/>
                </a:lnTo>
                <a:cubicBezTo>
                  <a:pt x="175141" y="29051"/>
                  <a:pt x="177800" y="35520"/>
                  <a:pt x="177800" y="42267"/>
                </a:cubicBezTo>
                <a:lnTo>
                  <a:pt x="177800" y="57150"/>
                </a:lnTo>
                <a:lnTo>
                  <a:pt x="25400" y="57150"/>
                </a:lnTo>
                <a:lnTo>
                  <a:pt x="25400" y="25400"/>
                </a:lnTo>
                <a:close/>
                <a:moveTo>
                  <a:pt x="0" y="101600"/>
                </a:moveTo>
                <a:cubicBezTo>
                  <a:pt x="0" y="87590"/>
                  <a:pt x="11390" y="76200"/>
                  <a:pt x="25400" y="76200"/>
                </a:cubicBezTo>
                <a:lnTo>
                  <a:pt x="177800" y="76200"/>
                </a:lnTo>
                <a:cubicBezTo>
                  <a:pt x="191810" y="76200"/>
                  <a:pt x="203200" y="87590"/>
                  <a:pt x="203200" y="101600"/>
                </a:cubicBezTo>
                <a:lnTo>
                  <a:pt x="203200" y="139700"/>
                </a:lnTo>
                <a:cubicBezTo>
                  <a:pt x="203200" y="146725"/>
                  <a:pt x="197525" y="152400"/>
                  <a:pt x="190500" y="152400"/>
                </a:cubicBezTo>
                <a:lnTo>
                  <a:pt x="177800" y="152400"/>
                </a:lnTo>
                <a:lnTo>
                  <a:pt x="177800" y="177800"/>
                </a:lnTo>
                <a:cubicBezTo>
                  <a:pt x="177800" y="191810"/>
                  <a:pt x="166410" y="203200"/>
                  <a:pt x="152400" y="203200"/>
                </a:cubicBezTo>
                <a:lnTo>
                  <a:pt x="50800" y="203200"/>
                </a:lnTo>
                <a:cubicBezTo>
                  <a:pt x="36790" y="203200"/>
                  <a:pt x="25400" y="191810"/>
                  <a:pt x="25400" y="177800"/>
                </a:cubicBezTo>
                <a:lnTo>
                  <a:pt x="25400" y="152400"/>
                </a:lnTo>
                <a:lnTo>
                  <a:pt x="12700" y="152400"/>
                </a:lnTo>
                <a:cubicBezTo>
                  <a:pt x="5675" y="152400"/>
                  <a:pt x="0" y="146725"/>
                  <a:pt x="0" y="139700"/>
                </a:cubicBezTo>
                <a:lnTo>
                  <a:pt x="0" y="101600"/>
                </a:lnTo>
                <a:close/>
                <a:moveTo>
                  <a:pt x="50800" y="165100"/>
                </a:moveTo>
                <a:lnTo>
                  <a:pt x="50800" y="177800"/>
                </a:lnTo>
                <a:lnTo>
                  <a:pt x="152400" y="177800"/>
                </a:lnTo>
                <a:lnTo>
                  <a:pt x="152400" y="139700"/>
                </a:lnTo>
                <a:lnTo>
                  <a:pt x="50800" y="139700"/>
                </a:lnTo>
                <a:lnTo>
                  <a:pt x="50800" y="165100"/>
                </a:lnTo>
                <a:close/>
                <a:moveTo>
                  <a:pt x="180975" y="107950"/>
                </a:moveTo>
                <a:cubicBezTo>
                  <a:pt x="180975" y="102693"/>
                  <a:pt x="176707" y="98425"/>
                  <a:pt x="171450" y="98425"/>
                </a:cubicBezTo>
                <a:cubicBezTo>
                  <a:pt x="166193" y="98425"/>
                  <a:pt x="161925" y="102693"/>
                  <a:pt x="161925" y="107950"/>
                </a:cubicBezTo>
                <a:cubicBezTo>
                  <a:pt x="161925" y="113207"/>
                  <a:pt x="166193" y="117475"/>
                  <a:pt x="171450" y="117475"/>
                </a:cubicBezTo>
                <a:cubicBezTo>
                  <a:pt x="176707" y="117475"/>
                  <a:pt x="180975" y="113207"/>
                  <a:pt x="180975" y="107950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9"/>
          <p:cNvSpPr/>
          <p:nvPr/>
        </p:nvSpPr>
        <p:spPr>
          <a:xfrm>
            <a:off x="609600" y="4114800"/>
            <a:ext cx="5283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3D Printer: Creality Ender 3</a:t>
            </a:r>
            <a:endParaRPr b="0" i="0" sz="1600" u="none" cap="none" strike="noStrike"/>
          </a:p>
        </p:txBody>
      </p:sp>
      <p:sp>
        <p:nvSpPr>
          <p:cNvPr id="87" name="Google Shape;87;p9"/>
          <p:cNvSpPr/>
          <p:nvPr/>
        </p:nvSpPr>
        <p:spPr>
          <a:xfrm>
            <a:off x="279400" y="4622800"/>
            <a:ext cx="203200" cy="203200"/>
          </a:xfrm>
          <a:custGeom>
            <a:rect b="b" l="l" r="r" t="t"/>
            <a:pathLst>
              <a:path extrusionOk="0" h="203200" w="203200">
                <a:moveTo>
                  <a:pt x="92273" y="2064"/>
                </a:moveTo>
                <a:cubicBezTo>
                  <a:pt x="98187" y="-675"/>
                  <a:pt x="105013" y="-675"/>
                  <a:pt x="110927" y="2064"/>
                </a:cubicBezTo>
                <a:lnTo>
                  <a:pt x="197683" y="42148"/>
                </a:lnTo>
                <a:cubicBezTo>
                  <a:pt x="201057" y="43696"/>
                  <a:pt x="203200" y="47069"/>
                  <a:pt x="203200" y="50800"/>
                </a:cubicBezTo>
                <a:cubicBezTo>
                  <a:pt x="203200" y="54531"/>
                  <a:pt x="201057" y="57904"/>
                  <a:pt x="197683" y="59452"/>
                </a:cubicBezTo>
                <a:lnTo>
                  <a:pt x="110927" y="99536"/>
                </a:lnTo>
                <a:cubicBezTo>
                  <a:pt x="105013" y="102275"/>
                  <a:pt x="98187" y="102275"/>
                  <a:pt x="92273" y="99536"/>
                </a:cubicBezTo>
                <a:lnTo>
                  <a:pt x="5517" y="59452"/>
                </a:lnTo>
                <a:cubicBezTo>
                  <a:pt x="2143" y="57864"/>
                  <a:pt x="0" y="54491"/>
                  <a:pt x="0" y="50800"/>
                </a:cubicBezTo>
                <a:cubicBezTo>
                  <a:pt x="0" y="47109"/>
                  <a:pt x="2143" y="43696"/>
                  <a:pt x="5517" y="42148"/>
                </a:cubicBezTo>
                <a:lnTo>
                  <a:pt x="92273" y="2064"/>
                </a:lnTo>
                <a:close/>
                <a:moveTo>
                  <a:pt x="19090" y="86678"/>
                </a:moveTo>
                <a:lnTo>
                  <a:pt x="84296" y="116800"/>
                </a:lnTo>
                <a:cubicBezTo>
                  <a:pt x="95290" y="121880"/>
                  <a:pt x="107950" y="121880"/>
                  <a:pt x="118943" y="116800"/>
                </a:cubicBezTo>
                <a:lnTo>
                  <a:pt x="184150" y="86678"/>
                </a:lnTo>
                <a:lnTo>
                  <a:pt x="197683" y="92948"/>
                </a:lnTo>
                <a:cubicBezTo>
                  <a:pt x="201057" y="94496"/>
                  <a:pt x="203200" y="97869"/>
                  <a:pt x="203200" y="101600"/>
                </a:cubicBezTo>
                <a:cubicBezTo>
                  <a:pt x="203200" y="105331"/>
                  <a:pt x="201057" y="108704"/>
                  <a:pt x="197683" y="110252"/>
                </a:cubicBezTo>
                <a:lnTo>
                  <a:pt x="110927" y="150336"/>
                </a:lnTo>
                <a:cubicBezTo>
                  <a:pt x="105013" y="153075"/>
                  <a:pt x="98187" y="153075"/>
                  <a:pt x="92273" y="150336"/>
                </a:cubicBezTo>
                <a:lnTo>
                  <a:pt x="5517" y="110252"/>
                </a:lnTo>
                <a:cubicBezTo>
                  <a:pt x="2143" y="108664"/>
                  <a:pt x="0" y="105291"/>
                  <a:pt x="0" y="101600"/>
                </a:cubicBezTo>
                <a:cubicBezTo>
                  <a:pt x="0" y="97909"/>
                  <a:pt x="2143" y="94496"/>
                  <a:pt x="5517" y="92948"/>
                </a:cubicBezTo>
                <a:lnTo>
                  <a:pt x="19050" y="86678"/>
                </a:lnTo>
                <a:close/>
                <a:moveTo>
                  <a:pt x="5517" y="143748"/>
                </a:moveTo>
                <a:lnTo>
                  <a:pt x="19050" y="137478"/>
                </a:lnTo>
                <a:lnTo>
                  <a:pt x="84257" y="167600"/>
                </a:lnTo>
                <a:cubicBezTo>
                  <a:pt x="95250" y="172680"/>
                  <a:pt x="107910" y="172680"/>
                  <a:pt x="118904" y="167600"/>
                </a:cubicBezTo>
                <a:lnTo>
                  <a:pt x="184110" y="137478"/>
                </a:lnTo>
                <a:lnTo>
                  <a:pt x="197644" y="143748"/>
                </a:lnTo>
                <a:cubicBezTo>
                  <a:pt x="201017" y="145296"/>
                  <a:pt x="203160" y="148669"/>
                  <a:pt x="203160" y="152400"/>
                </a:cubicBezTo>
                <a:cubicBezTo>
                  <a:pt x="203160" y="156131"/>
                  <a:pt x="201017" y="159504"/>
                  <a:pt x="197644" y="161052"/>
                </a:cubicBezTo>
                <a:lnTo>
                  <a:pt x="110887" y="201136"/>
                </a:lnTo>
                <a:cubicBezTo>
                  <a:pt x="104973" y="203875"/>
                  <a:pt x="98147" y="203875"/>
                  <a:pt x="92234" y="201136"/>
                </a:cubicBezTo>
                <a:lnTo>
                  <a:pt x="5517" y="161052"/>
                </a:lnTo>
                <a:cubicBezTo>
                  <a:pt x="2143" y="159464"/>
                  <a:pt x="0" y="156091"/>
                  <a:pt x="0" y="152400"/>
                </a:cubicBezTo>
                <a:cubicBezTo>
                  <a:pt x="0" y="148709"/>
                  <a:pt x="2143" y="145296"/>
                  <a:pt x="5517" y="143748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9"/>
          <p:cNvSpPr/>
          <p:nvPr/>
        </p:nvSpPr>
        <p:spPr>
          <a:xfrm>
            <a:off x="609600" y="4572000"/>
            <a:ext cx="5283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Infill: 10-20%</a:t>
            </a:r>
            <a:endParaRPr b="0" i="0" sz="1600" u="none" cap="none" strike="noStrike"/>
          </a:p>
        </p:txBody>
      </p:sp>
      <p:sp>
        <p:nvSpPr>
          <p:cNvPr id="89" name="Google Shape;89;p9"/>
          <p:cNvSpPr/>
          <p:nvPr/>
        </p:nvSpPr>
        <p:spPr>
          <a:xfrm>
            <a:off x="279400" y="5080000"/>
            <a:ext cx="203200" cy="203200"/>
          </a:xfrm>
          <a:custGeom>
            <a:rect b="b" l="l" r="r" t="t"/>
            <a:pathLst>
              <a:path extrusionOk="0" h="203200" w="203200">
                <a:moveTo>
                  <a:pt x="203200" y="101600"/>
                </a:moveTo>
                <a:cubicBezTo>
                  <a:pt x="203200" y="101957"/>
                  <a:pt x="203200" y="102314"/>
                  <a:pt x="203200" y="102672"/>
                </a:cubicBezTo>
                <a:cubicBezTo>
                  <a:pt x="203041" y="117157"/>
                  <a:pt x="189865" y="127000"/>
                  <a:pt x="175379" y="127000"/>
                </a:cubicBezTo>
                <a:lnTo>
                  <a:pt x="136525" y="127000"/>
                </a:lnTo>
                <a:cubicBezTo>
                  <a:pt x="126008" y="127000"/>
                  <a:pt x="117475" y="135533"/>
                  <a:pt x="117475" y="146050"/>
                </a:cubicBezTo>
                <a:cubicBezTo>
                  <a:pt x="117475" y="147399"/>
                  <a:pt x="117634" y="148709"/>
                  <a:pt x="117872" y="149979"/>
                </a:cubicBezTo>
                <a:cubicBezTo>
                  <a:pt x="118705" y="154027"/>
                  <a:pt x="120452" y="157917"/>
                  <a:pt x="122158" y="161846"/>
                </a:cubicBezTo>
                <a:cubicBezTo>
                  <a:pt x="124579" y="167323"/>
                  <a:pt x="126960" y="172760"/>
                  <a:pt x="126960" y="178514"/>
                </a:cubicBezTo>
                <a:cubicBezTo>
                  <a:pt x="126960" y="191135"/>
                  <a:pt x="118388" y="202605"/>
                  <a:pt x="105767" y="203121"/>
                </a:cubicBezTo>
                <a:cubicBezTo>
                  <a:pt x="104378" y="203160"/>
                  <a:pt x="102989" y="203200"/>
                  <a:pt x="101560" y="203200"/>
                </a:cubicBezTo>
                <a:cubicBezTo>
                  <a:pt x="45442" y="203200"/>
                  <a:pt x="-40" y="157718"/>
                  <a:pt x="-40" y="101600"/>
                </a:cubicBezTo>
                <a:cubicBezTo>
                  <a:pt x="-40" y="45482"/>
                  <a:pt x="45482" y="0"/>
                  <a:pt x="101600" y="0"/>
                </a:cubicBezTo>
                <a:cubicBezTo>
                  <a:pt x="157718" y="0"/>
                  <a:pt x="203200" y="45482"/>
                  <a:pt x="203200" y="101600"/>
                </a:cubicBezTo>
                <a:close/>
                <a:moveTo>
                  <a:pt x="50800" y="114300"/>
                </a:moveTo>
                <a:cubicBezTo>
                  <a:pt x="50800" y="107291"/>
                  <a:pt x="45109" y="101600"/>
                  <a:pt x="38100" y="101600"/>
                </a:cubicBezTo>
                <a:cubicBezTo>
                  <a:pt x="31091" y="101600"/>
                  <a:pt x="25400" y="107291"/>
                  <a:pt x="25400" y="114300"/>
                </a:cubicBezTo>
                <a:cubicBezTo>
                  <a:pt x="25400" y="121309"/>
                  <a:pt x="31091" y="127000"/>
                  <a:pt x="38100" y="127000"/>
                </a:cubicBezTo>
                <a:cubicBezTo>
                  <a:pt x="45109" y="127000"/>
                  <a:pt x="50800" y="121309"/>
                  <a:pt x="50800" y="114300"/>
                </a:cubicBezTo>
                <a:close/>
                <a:moveTo>
                  <a:pt x="50800" y="76200"/>
                </a:moveTo>
                <a:cubicBezTo>
                  <a:pt x="57809" y="76200"/>
                  <a:pt x="63500" y="70509"/>
                  <a:pt x="63500" y="63500"/>
                </a:cubicBezTo>
                <a:cubicBezTo>
                  <a:pt x="63500" y="56491"/>
                  <a:pt x="57809" y="50800"/>
                  <a:pt x="50800" y="50800"/>
                </a:cubicBezTo>
                <a:cubicBezTo>
                  <a:pt x="43791" y="50800"/>
                  <a:pt x="38100" y="56491"/>
                  <a:pt x="38100" y="63500"/>
                </a:cubicBezTo>
                <a:cubicBezTo>
                  <a:pt x="38100" y="70509"/>
                  <a:pt x="43791" y="76200"/>
                  <a:pt x="50800" y="76200"/>
                </a:cubicBezTo>
                <a:close/>
                <a:moveTo>
                  <a:pt x="114300" y="38100"/>
                </a:moveTo>
                <a:cubicBezTo>
                  <a:pt x="114300" y="31091"/>
                  <a:pt x="108609" y="25400"/>
                  <a:pt x="101600" y="25400"/>
                </a:cubicBezTo>
                <a:cubicBezTo>
                  <a:pt x="94591" y="25400"/>
                  <a:pt x="88900" y="31091"/>
                  <a:pt x="88900" y="38100"/>
                </a:cubicBezTo>
                <a:cubicBezTo>
                  <a:pt x="88900" y="45109"/>
                  <a:pt x="94591" y="50800"/>
                  <a:pt x="101600" y="50800"/>
                </a:cubicBezTo>
                <a:cubicBezTo>
                  <a:pt x="108609" y="50800"/>
                  <a:pt x="114300" y="45109"/>
                  <a:pt x="114300" y="38100"/>
                </a:cubicBezTo>
                <a:close/>
                <a:moveTo>
                  <a:pt x="152400" y="76200"/>
                </a:moveTo>
                <a:cubicBezTo>
                  <a:pt x="159409" y="76200"/>
                  <a:pt x="165100" y="70509"/>
                  <a:pt x="165100" y="63500"/>
                </a:cubicBezTo>
                <a:cubicBezTo>
                  <a:pt x="165100" y="56491"/>
                  <a:pt x="159409" y="50800"/>
                  <a:pt x="152400" y="50800"/>
                </a:cubicBezTo>
                <a:cubicBezTo>
                  <a:pt x="145391" y="50800"/>
                  <a:pt x="139700" y="56491"/>
                  <a:pt x="139700" y="63500"/>
                </a:cubicBezTo>
                <a:cubicBezTo>
                  <a:pt x="139700" y="70509"/>
                  <a:pt x="145391" y="76200"/>
                  <a:pt x="152400" y="76200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9"/>
          <p:cNvSpPr/>
          <p:nvPr/>
        </p:nvSpPr>
        <p:spPr>
          <a:xfrm>
            <a:off x="609600" y="5029200"/>
            <a:ext cx="5283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Colors: White, Black, Gray</a:t>
            </a:r>
            <a:endParaRPr b="0" i="0" sz="1600" u="none" cap="none" strike="noStrike"/>
          </a:p>
        </p:txBody>
      </p:sp>
      <p:pic>
        <p:nvPicPr>
          <p:cNvPr descr="https://kimi-web-img.moonshot.cn/img/discover.therookies.co/8a4b1bec870e7359ad05d3ebb881c8bea522090c.jpg" id="91" name="Google Shape;9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9200" y="3429000"/>
            <a:ext cx="5638800" cy="914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"/>
          <p:cNvSpPr/>
          <p:nvPr/>
        </p:nvSpPr>
        <p:spPr>
          <a:xfrm>
            <a:off x="0" y="1767841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Actuation &amp; Mobility</a:t>
            </a:r>
            <a:endParaRPr b="0" i="0" sz="1600" u="none" cap="none" strike="noStrike"/>
          </a:p>
        </p:txBody>
      </p:sp>
      <p:sp>
        <p:nvSpPr>
          <p:cNvPr id="98" name="Google Shape;98;p10"/>
          <p:cNvSpPr/>
          <p:nvPr/>
        </p:nvSpPr>
        <p:spPr>
          <a:xfrm>
            <a:off x="0" y="2326641"/>
            <a:ext cx="12192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Powered by twelve high-torque MG996R servos for dynamic locomotion.</a:t>
            </a:r>
            <a:endParaRPr b="0" i="0" sz="1600" u="none" cap="none" strike="noStrike"/>
          </a:p>
        </p:txBody>
      </p:sp>
      <p:sp>
        <p:nvSpPr>
          <p:cNvPr id="99" name="Google Shape;99;p10"/>
          <p:cNvSpPr/>
          <p:nvPr/>
        </p:nvSpPr>
        <p:spPr>
          <a:xfrm>
            <a:off x="254000" y="3088641"/>
            <a:ext cx="3695700" cy="1397000"/>
          </a:xfrm>
          <a:custGeom>
            <a:rect b="b" l="l" r="r" t="t"/>
            <a:pathLst>
              <a:path extrusionOk="0" h="1397000" w="3695700">
                <a:moveTo>
                  <a:pt x="101604" y="0"/>
                </a:moveTo>
                <a:lnTo>
                  <a:pt x="3594096" y="0"/>
                </a:lnTo>
                <a:cubicBezTo>
                  <a:pt x="3650210" y="0"/>
                  <a:pt x="3695700" y="45490"/>
                  <a:pt x="3695700" y="101604"/>
                </a:cubicBezTo>
                <a:lnTo>
                  <a:pt x="3695700" y="1295396"/>
                </a:lnTo>
                <a:cubicBezTo>
                  <a:pt x="3695700" y="1351510"/>
                  <a:pt x="3650210" y="1397000"/>
                  <a:pt x="3594096" y="1397000"/>
                </a:cubicBezTo>
                <a:lnTo>
                  <a:pt x="101604" y="1397000"/>
                </a:lnTo>
                <a:cubicBezTo>
                  <a:pt x="45490" y="1397000"/>
                  <a:pt x="0" y="1351510"/>
                  <a:pt x="0" y="12953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262626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0"/>
          <p:cNvSpPr/>
          <p:nvPr/>
        </p:nvSpPr>
        <p:spPr>
          <a:xfrm>
            <a:off x="203200" y="3291841"/>
            <a:ext cx="3797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600" u="none" cap="none" strike="noStrike"/>
          </a:p>
        </p:txBody>
      </p:sp>
      <p:sp>
        <p:nvSpPr>
          <p:cNvPr id="101" name="Google Shape;101;p10"/>
          <p:cNvSpPr/>
          <p:nvPr/>
        </p:nvSpPr>
        <p:spPr>
          <a:xfrm>
            <a:off x="203200" y="3952241"/>
            <a:ext cx="379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kg·cm Stall Torque</a:t>
            </a:r>
            <a:endParaRPr b="0" i="0" sz="1600" u="none" cap="none" strike="noStrike"/>
          </a:p>
        </p:txBody>
      </p:sp>
      <p:sp>
        <p:nvSpPr>
          <p:cNvPr id="102" name="Google Shape;102;p10"/>
          <p:cNvSpPr/>
          <p:nvPr/>
        </p:nvSpPr>
        <p:spPr>
          <a:xfrm>
            <a:off x="4250214" y="3088641"/>
            <a:ext cx="3695700" cy="1397000"/>
          </a:xfrm>
          <a:custGeom>
            <a:rect b="b" l="l" r="r" t="t"/>
            <a:pathLst>
              <a:path extrusionOk="0" h="1397000" w="3695700">
                <a:moveTo>
                  <a:pt x="101604" y="0"/>
                </a:moveTo>
                <a:lnTo>
                  <a:pt x="3594096" y="0"/>
                </a:lnTo>
                <a:cubicBezTo>
                  <a:pt x="3650210" y="0"/>
                  <a:pt x="3695700" y="45490"/>
                  <a:pt x="3695700" y="101604"/>
                </a:cubicBezTo>
                <a:lnTo>
                  <a:pt x="3695700" y="1295396"/>
                </a:lnTo>
                <a:cubicBezTo>
                  <a:pt x="3695700" y="1351510"/>
                  <a:pt x="3650210" y="1397000"/>
                  <a:pt x="3594096" y="1397000"/>
                </a:cubicBezTo>
                <a:lnTo>
                  <a:pt x="101604" y="1397000"/>
                </a:lnTo>
                <a:cubicBezTo>
                  <a:pt x="45490" y="1397000"/>
                  <a:pt x="0" y="1351510"/>
                  <a:pt x="0" y="12953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8C8C8C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0"/>
          <p:cNvSpPr/>
          <p:nvPr/>
        </p:nvSpPr>
        <p:spPr>
          <a:xfrm>
            <a:off x="4199414" y="3291841"/>
            <a:ext cx="3797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180°</a:t>
            </a:r>
            <a:endParaRPr b="0" i="0" sz="1600" u="none" cap="none" strike="noStrike"/>
          </a:p>
        </p:txBody>
      </p:sp>
      <p:sp>
        <p:nvSpPr>
          <p:cNvPr id="104" name="Google Shape;104;p10"/>
          <p:cNvSpPr/>
          <p:nvPr/>
        </p:nvSpPr>
        <p:spPr>
          <a:xfrm>
            <a:off x="4199414" y="3952241"/>
            <a:ext cx="379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Range of Motion</a:t>
            </a:r>
            <a:endParaRPr b="0" i="0" sz="1600" u="none" cap="none" strike="noStrike"/>
          </a:p>
        </p:txBody>
      </p:sp>
      <p:sp>
        <p:nvSpPr>
          <p:cNvPr id="105" name="Google Shape;105;p10"/>
          <p:cNvSpPr/>
          <p:nvPr/>
        </p:nvSpPr>
        <p:spPr>
          <a:xfrm>
            <a:off x="8246428" y="3088641"/>
            <a:ext cx="3670300" cy="1371600"/>
          </a:xfrm>
          <a:custGeom>
            <a:rect b="b" l="l" r="r" t="t"/>
            <a:pathLst>
              <a:path extrusionOk="0" h="1371600" w="3670300">
                <a:moveTo>
                  <a:pt x="101594" y="0"/>
                </a:moveTo>
                <a:lnTo>
                  <a:pt x="3568706" y="0"/>
                </a:lnTo>
                <a:cubicBezTo>
                  <a:pt x="3624815" y="0"/>
                  <a:pt x="3670300" y="45485"/>
                  <a:pt x="3670300" y="101594"/>
                </a:cubicBezTo>
                <a:lnTo>
                  <a:pt x="3670300" y="1270006"/>
                </a:lnTo>
                <a:cubicBezTo>
                  <a:pt x="3670300" y="1326115"/>
                  <a:pt x="3624815" y="1371600"/>
                  <a:pt x="3568706" y="1371600"/>
                </a:cubicBezTo>
                <a:lnTo>
                  <a:pt x="101594" y="1371600"/>
                </a:lnTo>
                <a:cubicBezTo>
                  <a:pt x="45485" y="1371600"/>
                  <a:pt x="0" y="1326115"/>
                  <a:pt x="0" y="12700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FFFFFF">
              <a:alpha val="9803"/>
            </a:srgbClr>
          </a:solidFill>
          <a:ln cap="flat" cmpd="sng" w="10150">
            <a:solidFill>
              <a:srgbClr val="FFFFFF">
                <a:alpha val="4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8205788" y="3302000"/>
            <a:ext cx="3771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0.15s</a:t>
            </a:r>
            <a:endParaRPr b="0" i="0" sz="1600" u="none" cap="none" strike="noStrike"/>
          </a:p>
        </p:txBody>
      </p:sp>
      <p:sp>
        <p:nvSpPr>
          <p:cNvPr id="107" name="Google Shape;107;p10"/>
          <p:cNvSpPr/>
          <p:nvPr/>
        </p:nvSpPr>
        <p:spPr>
          <a:xfrm>
            <a:off x="8205788" y="3962400"/>
            <a:ext cx="3771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Speed per 60°</a:t>
            </a:r>
            <a:endParaRPr b="0" i="0" sz="1600" u="none" cap="none" strike="noStrike"/>
          </a:p>
        </p:txBody>
      </p:sp>
      <p:sp>
        <p:nvSpPr>
          <p:cNvPr id="108" name="Google Shape;108;p10"/>
          <p:cNvSpPr/>
          <p:nvPr/>
        </p:nvSpPr>
        <p:spPr>
          <a:xfrm>
            <a:off x="0" y="4785361"/>
            <a:ext cx="1219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Three servos per leg provide comprehensive control for stable walking, turning, and balancing on varied terrain.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>
            <a:gsLst>
              <a:gs pos="0">
                <a:srgbClr val="F6F8FD"/>
              </a:gs>
              <a:gs pos="100000">
                <a:srgbClr val="BEBEBE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pic>
        <p:nvPicPr>
          <p:cNvPr descr="https://kimi-img.moonshot.cn/pub/slides/slides_tmpl/image/25-08-27-19:57:52-d2nf5g18bjvh7rlivt90.png" id="116" name="Google Shape;116;p11"/>
          <p:cNvPicPr preferRelativeResize="0"/>
          <p:nvPr/>
        </p:nvPicPr>
        <p:blipFill rotWithShape="1">
          <a:blip r:embed="rId3">
            <a:alphaModFix/>
          </a:blip>
          <a:srcRect b="0" l="20534" r="0" t="0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1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1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119" name="Google Shape;119;p11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Electronics Core</a:t>
            </a:r>
            <a:endParaRPr b="0" i="0" sz="1600" u="none" cap="none" strike="noStrike"/>
          </a:p>
        </p:txBody>
      </p:sp>
      <p:sp>
        <p:nvSpPr>
          <p:cNvPr id="120" name="Google Shape;120;p11"/>
          <p:cNvSpPr/>
          <p:nvPr/>
        </p:nvSpPr>
        <p:spPr>
          <a:xfrm>
            <a:off x="7765415" y="1823085"/>
            <a:ext cx="1781810" cy="133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600" u="none" cap="none" strike="noStrike"/>
          </a:p>
        </p:txBody>
      </p:sp>
      <p:pic>
        <p:nvPicPr>
          <p:cNvPr descr="Fichier:Aperture Science Logo.svg — Wikipédia" id="121" name="Google Shape;121;p11"/>
          <p:cNvPicPr preferRelativeResize="0"/>
          <p:nvPr/>
        </p:nvPicPr>
        <p:blipFill rotWithShape="1">
          <a:blip r:embed="rId4">
            <a:alphaModFix/>
          </a:blip>
          <a:srcRect b="777" l="0" r="0" t="787"/>
          <a:stretch/>
        </p:blipFill>
        <p:spPr>
          <a:xfrm>
            <a:off x="1328420" y="2077085"/>
            <a:ext cx="2712719" cy="26701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kimi-img.moonshot.cn/pub/slides/slides_tmpl/image/25-08-27-19:57:52-d2nf5g18bjvh7rlivt9g.png" id="122" name="Google Shape;12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46590" y="2077085"/>
            <a:ext cx="920750" cy="335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2"/>
          <p:cNvSpPr/>
          <p:nvPr/>
        </p:nvSpPr>
        <p:spPr>
          <a:xfrm>
            <a:off x="254000" y="1651000"/>
            <a:ext cx="4686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The Brain: Arduino RP2040</a:t>
            </a:r>
            <a:endParaRPr b="0" i="0" sz="1600" u="none" cap="none" strike="noStrike"/>
          </a:p>
        </p:txBody>
      </p:sp>
      <p:sp>
        <p:nvSpPr>
          <p:cNvPr id="129" name="Google Shape;129;p12"/>
          <p:cNvSpPr/>
          <p:nvPr/>
        </p:nvSpPr>
        <p:spPr>
          <a:xfrm>
            <a:off x="254000" y="2768600"/>
            <a:ext cx="4686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0" i="0" lang="en-US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Arduino Nano RP2040 Connect</a:t>
            </a: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serves as the central controller, managing real-time operations, sensor fusion, and connectivity.</a:t>
            </a:r>
            <a:endParaRPr b="0" i="0" sz="1600" u="none" cap="none" strike="noStrike"/>
          </a:p>
        </p:txBody>
      </p:sp>
      <p:sp>
        <p:nvSpPr>
          <p:cNvPr id="130" name="Google Shape;130;p12"/>
          <p:cNvSpPr/>
          <p:nvPr/>
        </p:nvSpPr>
        <p:spPr>
          <a:xfrm>
            <a:off x="314325" y="4013200"/>
            <a:ext cx="285750" cy="254000"/>
          </a:xfrm>
          <a:custGeom>
            <a:rect b="b" l="l" r="r" t="t"/>
            <a:pathLst>
              <a:path extrusionOk="0" h="254000" w="285750">
                <a:moveTo>
                  <a:pt x="142875" y="47625"/>
                </a:moveTo>
                <a:cubicBezTo>
                  <a:pt x="97780" y="47625"/>
                  <a:pt x="56952" y="65484"/>
                  <a:pt x="26938" y="94555"/>
                </a:cubicBezTo>
                <a:cubicBezTo>
                  <a:pt x="20638" y="100657"/>
                  <a:pt x="10567" y="100509"/>
                  <a:pt x="4514" y="94208"/>
                </a:cubicBezTo>
                <a:cubicBezTo>
                  <a:pt x="-1538" y="87908"/>
                  <a:pt x="-1439" y="77837"/>
                  <a:pt x="4862" y="71785"/>
                </a:cubicBezTo>
                <a:cubicBezTo>
                  <a:pt x="40531" y="37157"/>
                  <a:pt x="89247" y="15875"/>
                  <a:pt x="142875" y="15875"/>
                </a:cubicBezTo>
                <a:cubicBezTo>
                  <a:pt x="196503" y="15875"/>
                  <a:pt x="245219" y="37157"/>
                  <a:pt x="280938" y="71785"/>
                </a:cubicBezTo>
                <a:cubicBezTo>
                  <a:pt x="287238" y="77887"/>
                  <a:pt x="287387" y="87957"/>
                  <a:pt x="281285" y="94208"/>
                </a:cubicBezTo>
                <a:cubicBezTo>
                  <a:pt x="275183" y="100459"/>
                  <a:pt x="265113" y="100657"/>
                  <a:pt x="258862" y="94555"/>
                </a:cubicBezTo>
                <a:cubicBezTo>
                  <a:pt x="228798" y="65484"/>
                  <a:pt x="187970" y="47625"/>
                  <a:pt x="142875" y="47625"/>
                </a:cubicBezTo>
                <a:close/>
                <a:moveTo>
                  <a:pt x="119063" y="214313"/>
                </a:moveTo>
                <a:cubicBezTo>
                  <a:pt x="119063" y="201170"/>
                  <a:pt x="129733" y="190500"/>
                  <a:pt x="142875" y="190500"/>
                </a:cubicBezTo>
                <a:cubicBezTo>
                  <a:pt x="156017" y="190500"/>
                  <a:pt x="166688" y="201170"/>
                  <a:pt x="166688" y="214313"/>
                </a:cubicBezTo>
                <a:cubicBezTo>
                  <a:pt x="166688" y="227455"/>
                  <a:pt x="156017" y="238125"/>
                  <a:pt x="142875" y="238125"/>
                </a:cubicBezTo>
                <a:cubicBezTo>
                  <a:pt x="129733" y="238125"/>
                  <a:pt x="119063" y="227455"/>
                  <a:pt x="119063" y="214313"/>
                </a:cubicBezTo>
                <a:close/>
                <a:moveTo>
                  <a:pt x="83344" y="161826"/>
                </a:moveTo>
                <a:cubicBezTo>
                  <a:pt x="77539" y="168424"/>
                  <a:pt x="67518" y="169019"/>
                  <a:pt x="60920" y="163215"/>
                </a:cubicBezTo>
                <a:cubicBezTo>
                  <a:pt x="54322" y="157411"/>
                  <a:pt x="53727" y="147389"/>
                  <a:pt x="59531" y="140791"/>
                </a:cubicBezTo>
                <a:cubicBezTo>
                  <a:pt x="79871" y="117773"/>
                  <a:pt x="109686" y="103188"/>
                  <a:pt x="142875" y="103188"/>
                </a:cubicBezTo>
                <a:cubicBezTo>
                  <a:pt x="176064" y="103188"/>
                  <a:pt x="205879" y="117773"/>
                  <a:pt x="226219" y="140791"/>
                </a:cubicBezTo>
                <a:cubicBezTo>
                  <a:pt x="232023" y="147389"/>
                  <a:pt x="231378" y="157411"/>
                  <a:pt x="224830" y="163215"/>
                </a:cubicBezTo>
                <a:cubicBezTo>
                  <a:pt x="218281" y="169019"/>
                  <a:pt x="208211" y="168374"/>
                  <a:pt x="202406" y="161826"/>
                </a:cubicBezTo>
                <a:cubicBezTo>
                  <a:pt x="187821" y="145306"/>
                  <a:pt x="166588" y="134938"/>
                  <a:pt x="142875" y="134938"/>
                </a:cubicBezTo>
                <a:cubicBezTo>
                  <a:pt x="119162" y="134938"/>
                  <a:pt x="97929" y="145306"/>
                  <a:pt x="83344" y="16182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2"/>
          <p:cNvSpPr/>
          <p:nvPr/>
        </p:nvSpPr>
        <p:spPr>
          <a:xfrm>
            <a:off x="762000" y="3987800"/>
            <a:ext cx="2273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Wi-Fi &amp; Bluetooth</a:t>
            </a:r>
            <a:endParaRPr b="0" i="0" sz="1600" u="none" cap="none" strike="noStrike"/>
          </a:p>
        </p:txBody>
      </p:sp>
      <p:sp>
        <p:nvSpPr>
          <p:cNvPr id="132" name="Google Shape;132;p12"/>
          <p:cNvSpPr/>
          <p:nvPr/>
        </p:nvSpPr>
        <p:spPr>
          <a:xfrm>
            <a:off x="330200" y="4470400"/>
            <a:ext cx="254000" cy="254000"/>
          </a:xfrm>
          <a:custGeom>
            <a:rect b="b" l="l" r="r" t="t"/>
            <a:pathLst>
              <a:path extrusionOk="0" h="254000" w="254000">
                <a:moveTo>
                  <a:pt x="87313" y="11906"/>
                </a:moveTo>
                <a:cubicBezTo>
                  <a:pt x="87313" y="5308"/>
                  <a:pt x="82004" y="0"/>
                  <a:pt x="75406" y="0"/>
                </a:cubicBezTo>
                <a:cubicBezTo>
                  <a:pt x="68808" y="0"/>
                  <a:pt x="63500" y="5308"/>
                  <a:pt x="63500" y="11906"/>
                </a:cubicBezTo>
                <a:lnTo>
                  <a:pt x="63500" y="31750"/>
                </a:lnTo>
                <a:cubicBezTo>
                  <a:pt x="45988" y="31750"/>
                  <a:pt x="31750" y="45988"/>
                  <a:pt x="31750" y="63500"/>
                </a:cubicBezTo>
                <a:lnTo>
                  <a:pt x="11906" y="63500"/>
                </a:lnTo>
                <a:cubicBezTo>
                  <a:pt x="5308" y="63500"/>
                  <a:pt x="0" y="68808"/>
                  <a:pt x="0" y="75406"/>
                </a:cubicBezTo>
                <a:cubicBezTo>
                  <a:pt x="0" y="82004"/>
                  <a:pt x="5308" y="87313"/>
                  <a:pt x="11906" y="87313"/>
                </a:cubicBezTo>
                <a:lnTo>
                  <a:pt x="31750" y="87313"/>
                </a:lnTo>
                <a:lnTo>
                  <a:pt x="31750" y="115094"/>
                </a:lnTo>
                <a:lnTo>
                  <a:pt x="11906" y="115094"/>
                </a:lnTo>
                <a:cubicBezTo>
                  <a:pt x="5308" y="115094"/>
                  <a:pt x="0" y="120402"/>
                  <a:pt x="0" y="127000"/>
                </a:cubicBezTo>
                <a:cubicBezTo>
                  <a:pt x="0" y="133598"/>
                  <a:pt x="5308" y="138906"/>
                  <a:pt x="11906" y="138906"/>
                </a:cubicBezTo>
                <a:lnTo>
                  <a:pt x="31750" y="138906"/>
                </a:lnTo>
                <a:lnTo>
                  <a:pt x="31750" y="166688"/>
                </a:lnTo>
                <a:lnTo>
                  <a:pt x="11906" y="166688"/>
                </a:lnTo>
                <a:cubicBezTo>
                  <a:pt x="5308" y="166688"/>
                  <a:pt x="0" y="171996"/>
                  <a:pt x="0" y="178594"/>
                </a:cubicBezTo>
                <a:cubicBezTo>
                  <a:pt x="0" y="185192"/>
                  <a:pt x="5308" y="190500"/>
                  <a:pt x="11906" y="190500"/>
                </a:cubicBezTo>
                <a:lnTo>
                  <a:pt x="31750" y="190500"/>
                </a:lnTo>
                <a:cubicBezTo>
                  <a:pt x="31750" y="208012"/>
                  <a:pt x="45988" y="222250"/>
                  <a:pt x="63500" y="222250"/>
                </a:cubicBezTo>
                <a:lnTo>
                  <a:pt x="63500" y="242094"/>
                </a:lnTo>
                <a:cubicBezTo>
                  <a:pt x="63500" y="248692"/>
                  <a:pt x="68808" y="254000"/>
                  <a:pt x="75406" y="254000"/>
                </a:cubicBezTo>
                <a:cubicBezTo>
                  <a:pt x="82004" y="254000"/>
                  <a:pt x="87313" y="248692"/>
                  <a:pt x="87313" y="242094"/>
                </a:cubicBezTo>
                <a:lnTo>
                  <a:pt x="87313" y="222250"/>
                </a:lnTo>
                <a:lnTo>
                  <a:pt x="115094" y="222250"/>
                </a:lnTo>
                <a:lnTo>
                  <a:pt x="115094" y="242094"/>
                </a:lnTo>
                <a:cubicBezTo>
                  <a:pt x="115094" y="248692"/>
                  <a:pt x="120402" y="254000"/>
                  <a:pt x="127000" y="254000"/>
                </a:cubicBezTo>
                <a:cubicBezTo>
                  <a:pt x="133598" y="254000"/>
                  <a:pt x="138906" y="248692"/>
                  <a:pt x="138906" y="242094"/>
                </a:cubicBezTo>
                <a:lnTo>
                  <a:pt x="138906" y="222250"/>
                </a:lnTo>
                <a:lnTo>
                  <a:pt x="166688" y="222250"/>
                </a:lnTo>
                <a:lnTo>
                  <a:pt x="166688" y="242094"/>
                </a:lnTo>
                <a:cubicBezTo>
                  <a:pt x="166688" y="248692"/>
                  <a:pt x="171996" y="254000"/>
                  <a:pt x="178594" y="254000"/>
                </a:cubicBezTo>
                <a:cubicBezTo>
                  <a:pt x="185192" y="254000"/>
                  <a:pt x="190500" y="248692"/>
                  <a:pt x="190500" y="242094"/>
                </a:cubicBezTo>
                <a:lnTo>
                  <a:pt x="190500" y="222250"/>
                </a:lnTo>
                <a:cubicBezTo>
                  <a:pt x="208012" y="222250"/>
                  <a:pt x="222250" y="208012"/>
                  <a:pt x="222250" y="190500"/>
                </a:cubicBezTo>
                <a:lnTo>
                  <a:pt x="242094" y="190500"/>
                </a:lnTo>
                <a:cubicBezTo>
                  <a:pt x="248692" y="190500"/>
                  <a:pt x="254000" y="185192"/>
                  <a:pt x="254000" y="178594"/>
                </a:cubicBezTo>
                <a:cubicBezTo>
                  <a:pt x="254000" y="171996"/>
                  <a:pt x="248692" y="166688"/>
                  <a:pt x="242094" y="166688"/>
                </a:cubicBezTo>
                <a:lnTo>
                  <a:pt x="222250" y="166688"/>
                </a:lnTo>
                <a:lnTo>
                  <a:pt x="222250" y="138906"/>
                </a:lnTo>
                <a:lnTo>
                  <a:pt x="242094" y="138906"/>
                </a:lnTo>
                <a:cubicBezTo>
                  <a:pt x="248692" y="138906"/>
                  <a:pt x="254000" y="133598"/>
                  <a:pt x="254000" y="127000"/>
                </a:cubicBezTo>
                <a:cubicBezTo>
                  <a:pt x="254000" y="120402"/>
                  <a:pt x="248692" y="115094"/>
                  <a:pt x="242094" y="115094"/>
                </a:cubicBezTo>
                <a:lnTo>
                  <a:pt x="222250" y="115094"/>
                </a:lnTo>
                <a:lnTo>
                  <a:pt x="222250" y="87313"/>
                </a:lnTo>
                <a:lnTo>
                  <a:pt x="242094" y="87313"/>
                </a:lnTo>
                <a:cubicBezTo>
                  <a:pt x="248692" y="87313"/>
                  <a:pt x="254000" y="82004"/>
                  <a:pt x="254000" y="75406"/>
                </a:cubicBezTo>
                <a:cubicBezTo>
                  <a:pt x="254000" y="68808"/>
                  <a:pt x="248692" y="63500"/>
                  <a:pt x="242094" y="63500"/>
                </a:cubicBezTo>
                <a:lnTo>
                  <a:pt x="222250" y="63500"/>
                </a:lnTo>
                <a:cubicBezTo>
                  <a:pt x="222250" y="45988"/>
                  <a:pt x="208012" y="31750"/>
                  <a:pt x="190500" y="31750"/>
                </a:cubicBezTo>
                <a:lnTo>
                  <a:pt x="190500" y="11906"/>
                </a:lnTo>
                <a:cubicBezTo>
                  <a:pt x="190500" y="5308"/>
                  <a:pt x="185192" y="0"/>
                  <a:pt x="178594" y="0"/>
                </a:cubicBezTo>
                <a:cubicBezTo>
                  <a:pt x="171996" y="0"/>
                  <a:pt x="166688" y="5308"/>
                  <a:pt x="166688" y="11906"/>
                </a:cubicBezTo>
                <a:lnTo>
                  <a:pt x="166688" y="31750"/>
                </a:lnTo>
                <a:lnTo>
                  <a:pt x="138906" y="31750"/>
                </a:lnTo>
                <a:lnTo>
                  <a:pt x="138906" y="11906"/>
                </a:lnTo>
                <a:cubicBezTo>
                  <a:pt x="138906" y="5308"/>
                  <a:pt x="133598" y="0"/>
                  <a:pt x="127000" y="0"/>
                </a:cubicBezTo>
                <a:cubicBezTo>
                  <a:pt x="120402" y="0"/>
                  <a:pt x="115094" y="5308"/>
                  <a:pt x="115094" y="11906"/>
                </a:cubicBezTo>
                <a:lnTo>
                  <a:pt x="115094" y="31750"/>
                </a:lnTo>
                <a:lnTo>
                  <a:pt x="87313" y="31750"/>
                </a:lnTo>
                <a:lnTo>
                  <a:pt x="87313" y="11906"/>
                </a:lnTo>
                <a:close/>
                <a:moveTo>
                  <a:pt x="79375" y="63500"/>
                </a:moveTo>
                <a:lnTo>
                  <a:pt x="174625" y="63500"/>
                </a:lnTo>
                <a:cubicBezTo>
                  <a:pt x="183406" y="63500"/>
                  <a:pt x="190500" y="70594"/>
                  <a:pt x="190500" y="79375"/>
                </a:cubicBezTo>
                <a:lnTo>
                  <a:pt x="190500" y="174625"/>
                </a:lnTo>
                <a:cubicBezTo>
                  <a:pt x="190500" y="183406"/>
                  <a:pt x="183406" y="190500"/>
                  <a:pt x="174625" y="190500"/>
                </a:cubicBezTo>
                <a:lnTo>
                  <a:pt x="79375" y="190500"/>
                </a:lnTo>
                <a:cubicBezTo>
                  <a:pt x="70594" y="190500"/>
                  <a:pt x="63500" y="183406"/>
                  <a:pt x="63500" y="174625"/>
                </a:cubicBezTo>
                <a:lnTo>
                  <a:pt x="63500" y="79375"/>
                </a:lnTo>
                <a:cubicBezTo>
                  <a:pt x="63500" y="70594"/>
                  <a:pt x="70594" y="63500"/>
                  <a:pt x="79375" y="63500"/>
                </a:cubicBezTo>
                <a:close/>
                <a:moveTo>
                  <a:pt x="87313" y="87313"/>
                </a:moveTo>
                <a:lnTo>
                  <a:pt x="87313" y="166688"/>
                </a:lnTo>
                <a:lnTo>
                  <a:pt x="166688" y="166688"/>
                </a:lnTo>
                <a:lnTo>
                  <a:pt x="166688" y="87313"/>
                </a:lnTo>
                <a:lnTo>
                  <a:pt x="87313" y="873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2"/>
          <p:cNvSpPr/>
          <p:nvPr/>
        </p:nvSpPr>
        <p:spPr>
          <a:xfrm>
            <a:off x="762000" y="4445000"/>
            <a:ext cx="340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Onboard IMU (LSM6DSOXTR)</a:t>
            </a:r>
            <a:endParaRPr b="0" i="0" sz="1600" u="none" cap="none" strike="noStrike"/>
          </a:p>
        </p:txBody>
      </p:sp>
      <p:sp>
        <p:nvSpPr>
          <p:cNvPr id="134" name="Google Shape;134;p12"/>
          <p:cNvSpPr/>
          <p:nvPr/>
        </p:nvSpPr>
        <p:spPr>
          <a:xfrm>
            <a:off x="361950" y="4927600"/>
            <a:ext cx="190500" cy="254000"/>
          </a:xfrm>
          <a:custGeom>
            <a:rect b="b" l="l" r="r" t="t"/>
            <a:pathLst>
              <a:path extrusionOk="0" h="254000" w="190500">
                <a:moveTo>
                  <a:pt x="95250" y="0"/>
                </a:moveTo>
                <a:cubicBezTo>
                  <a:pt x="68957" y="0"/>
                  <a:pt x="47625" y="21332"/>
                  <a:pt x="47625" y="47625"/>
                </a:cubicBezTo>
                <a:lnTo>
                  <a:pt x="47625" y="111125"/>
                </a:lnTo>
                <a:cubicBezTo>
                  <a:pt x="47625" y="137418"/>
                  <a:pt x="68957" y="158750"/>
                  <a:pt x="95250" y="158750"/>
                </a:cubicBezTo>
                <a:cubicBezTo>
                  <a:pt x="121543" y="158750"/>
                  <a:pt x="142875" y="137418"/>
                  <a:pt x="142875" y="111125"/>
                </a:cubicBezTo>
                <a:lnTo>
                  <a:pt x="142875" y="47625"/>
                </a:lnTo>
                <a:cubicBezTo>
                  <a:pt x="142875" y="21332"/>
                  <a:pt x="121543" y="0"/>
                  <a:pt x="95250" y="0"/>
                </a:cubicBezTo>
                <a:close/>
                <a:moveTo>
                  <a:pt x="23812" y="91281"/>
                </a:moveTo>
                <a:cubicBezTo>
                  <a:pt x="23812" y="84683"/>
                  <a:pt x="18504" y="79375"/>
                  <a:pt x="11906" y="79375"/>
                </a:cubicBezTo>
                <a:cubicBezTo>
                  <a:pt x="5308" y="79375"/>
                  <a:pt x="0" y="84683"/>
                  <a:pt x="0" y="91281"/>
                </a:cubicBezTo>
                <a:lnTo>
                  <a:pt x="0" y="111125"/>
                </a:lnTo>
                <a:cubicBezTo>
                  <a:pt x="0" y="159693"/>
                  <a:pt x="36364" y="199777"/>
                  <a:pt x="83344" y="205631"/>
                </a:cubicBezTo>
                <a:lnTo>
                  <a:pt x="83344" y="230188"/>
                </a:lnTo>
                <a:lnTo>
                  <a:pt x="59531" y="230188"/>
                </a:lnTo>
                <a:cubicBezTo>
                  <a:pt x="52933" y="230188"/>
                  <a:pt x="47625" y="235496"/>
                  <a:pt x="47625" y="242094"/>
                </a:cubicBezTo>
                <a:cubicBezTo>
                  <a:pt x="47625" y="248692"/>
                  <a:pt x="52933" y="254000"/>
                  <a:pt x="59531" y="254000"/>
                </a:cubicBezTo>
                <a:lnTo>
                  <a:pt x="130969" y="254000"/>
                </a:lnTo>
                <a:cubicBezTo>
                  <a:pt x="137567" y="254000"/>
                  <a:pt x="142875" y="248692"/>
                  <a:pt x="142875" y="242094"/>
                </a:cubicBezTo>
                <a:cubicBezTo>
                  <a:pt x="142875" y="235496"/>
                  <a:pt x="137567" y="230188"/>
                  <a:pt x="130969" y="230188"/>
                </a:cubicBezTo>
                <a:lnTo>
                  <a:pt x="107156" y="230188"/>
                </a:lnTo>
                <a:lnTo>
                  <a:pt x="107156" y="205631"/>
                </a:lnTo>
                <a:cubicBezTo>
                  <a:pt x="154136" y="199777"/>
                  <a:pt x="190500" y="159693"/>
                  <a:pt x="190500" y="111125"/>
                </a:cubicBezTo>
                <a:lnTo>
                  <a:pt x="190500" y="91281"/>
                </a:lnTo>
                <a:cubicBezTo>
                  <a:pt x="190500" y="84683"/>
                  <a:pt x="185192" y="79375"/>
                  <a:pt x="178594" y="79375"/>
                </a:cubicBezTo>
                <a:cubicBezTo>
                  <a:pt x="171996" y="79375"/>
                  <a:pt x="166688" y="84683"/>
                  <a:pt x="166688" y="91281"/>
                </a:cubicBezTo>
                <a:lnTo>
                  <a:pt x="166688" y="111125"/>
                </a:lnTo>
                <a:cubicBezTo>
                  <a:pt x="166688" y="150564"/>
                  <a:pt x="134689" y="182563"/>
                  <a:pt x="95250" y="182563"/>
                </a:cubicBezTo>
                <a:cubicBezTo>
                  <a:pt x="55811" y="182563"/>
                  <a:pt x="23812" y="150564"/>
                  <a:pt x="23812" y="111125"/>
                </a:cubicBezTo>
                <a:lnTo>
                  <a:pt x="23812" y="9128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2"/>
          <p:cNvSpPr/>
          <p:nvPr/>
        </p:nvSpPr>
        <p:spPr>
          <a:xfrm>
            <a:off x="762000" y="4902200"/>
            <a:ext cx="2463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Built-in Microphone</a:t>
            </a:r>
            <a:endParaRPr b="0" i="0" sz="1600" u="none" cap="none" strike="noStrike"/>
          </a:p>
        </p:txBody>
      </p:sp>
      <p:pic>
        <p:nvPicPr>
          <p:cNvPr descr="https://kimi-web-img.moonshot.cn/img/yushuangwang2.oss-accelerate.aliyuncs.com/af09e0152c946b695c3f50948196069476fb1625.png" id="136" name="Google Shape;136;p12"/>
          <p:cNvPicPr preferRelativeResize="0"/>
          <p:nvPr/>
        </p:nvPicPr>
        <p:blipFill rotWithShape="1">
          <a:blip r:embed="rId3">
            <a:alphaModFix/>
          </a:blip>
          <a:srcRect b="0" l="10475" r="10475" t="0"/>
          <a:stretch/>
        </p:blipFill>
        <p:spPr>
          <a:xfrm>
            <a:off x="5249228" y="254000"/>
            <a:ext cx="6692900" cy="6350000"/>
          </a:xfrm>
          <a:prstGeom prst="roundRect">
            <a:avLst>
              <a:gd fmla="val 1600" name="adj"/>
            </a:avLst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>
            <a:off x="254000" y="154940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Synchronized Servo Control</a:t>
            </a:r>
            <a:endParaRPr b="0" i="0" sz="1600" u="none" cap="none" strike="noStrike"/>
          </a:p>
        </p:txBody>
      </p:sp>
      <p:sp>
        <p:nvSpPr>
          <p:cNvPr id="143" name="Google Shape;143;p13"/>
          <p:cNvSpPr/>
          <p:nvPr/>
        </p:nvSpPr>
        <p:spPr>
          <a:xfrm>
            <a:off x="0" y="2108200"/>
            <a:ext cx="12192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Precise movement is achieved using a dedicated PWM driver.</a:t>
            </a:r>
            <a:endParaRPr b="0" i="0" sz="1600" u="none" cap="none" strike="noStrike"/>
          </a:p>
        </p:txBody>
      </p:sp>
      <p:sp>
        <p:nvSpPr>
          <p:cNvPr id="144" name="Google Shape;144;p13"/>
          <p:cNvSpPr/>
          <p:nvPr/>
        </p:nvSpPr>
        <p:spPr>
          <a:xfrm>
            <a:off x="2308066" y="2870200"/>
            <a:ext cx="762000" cy="762000"/>
          </a:xfrm>
          <a:custGeom>
            <a:rect b="b" l="l" r="r" t="t"/>
            <a:pathLst>
              <a:path extrusionOk="0" h="762000" w="762000">
                <a:moveTo>
                  <a:pt x="261938" y="35719"/>
                </a:moveTo>
                <a:cubicBezTo>
                  <a:pt x="261938" y="15925"/>
                  <a:pt x="246013" y="0"/>
                  <a:pt x="226219" y="0"/>
                </a:cubicBezTo>
                <a:cubicBezTo>
                  <a:pt x="206425" y="0"/>
                  <a:pt x="190500" y="15925"/>
                  <a:pt x="190500" y="35719"/>
                </a:cubicBezTo>
                <a:lnTo>
                  <a:pt x="190500" y="95250"/>
                </a:lnTo>
                <a:cubicBezTo>
                  <a:pt x="137964" y="95250"/>
                  <a:pt x="95250" y="137964"/>
                  <a:pt x="95250" y="190500"/>
                </a:cubicBezTo>
                <a:lnTo>
                  <a:pt x="35719" y="190500"/>
                </a:lnTo>
                <a:cubicBezTo>
                  <a:pt x="15925" y="190500"/>
                  <a:pt x="0" y="206425"/>
                  <a:pt x="0" y="226219"/>
                </a:cubicBezTo>
                <a:cubicBezTo>
                  <a:pt x="0" y="246013"/>
                  <a:pt x="15925" y="261938"/>
                  <a:pt x="35719" y="261938"/>
                </a:cubicBezTo>
                <a:lnTo>
                  <a:pt x="95250" y="261938"/>
                </a:lnTo>
                <a:lnTo>
                  <a:pt x="95250" y="345281"/>
                </a:lnTo>
                <a:lnTo>
                  <a:pt x="35719" y="345281"/>
                </a:lnTo>
                <a:cubicBezTo>
                  <a:pt x="15925" y="345281"/>
                  <a:pt x="0" y="361206"/>
                  <a:pt x="0" y="381000"/>
                </a:cubicBezTo>
                <a:cubicBezTo>
                  <a:pt x="0" y="400794"/>
                  <a:pt x="15925" y="416719"/>
                  <a:pt x="35719" y="416719"/>
                </a:cubicBezTo>
                <a:lnTo>
                  <a:pt x="95250" y="416719"/>
                </a:lnTo>
                <a:lnTo>
                  <a:pt x="95250" y="500063"/>
                </a:lnTo>
                <a:lnTo>
                  <a:pt x="35719" y="500063"/>
                </a:lnTo>
                <a:cubicBezTo>
                  <a:pt x="15925" y="500063"/>
                  <a:pt x="0" y="515987"/>
                  <a:pt x="0" y="535781"/>
                </a:cubicBezTo>
                <a:cubicBezTo>
                  <a:pt x="0" y="555575"/>
                  <a:pt x="15925" y="571500"/>
                  <a:pt x="35719" y="571500"/>
                </a:cubicBezTo>
                <a:lnTo>
                  <a:pt x="95250" y="571500"/>
                </a:lnTo>
                <a:cubicBezTo>
                  <a:pt x="95250" y="624036"/>
                  <a:pt x="137964" y="666750"/>
                  <a:pt x="190500" y="666750"/>
                </a:cubicBezTo>
                <a:lnTo>
                  <a:pt x="190500" y="726281"/>
                </a:lnTo>
                <a:cubicBezTo>
                  <a:pt x="190500" y="746075"/>
                  <a:pt x="206425" y="762000"/>
                  <a:pt x="226219" y="762000"/>
                </a:cubicBezTo>
                <a:cubicBezTo>
                  <a:pt x="246013" y="762000"/>
                  <a:pt x="261938" y="746075"/>
                  <a:pt x="261938" y="726281"/>
                </a:cubicBezTo>
                <a:lnTo>
                  <a:pt x="261938" y="666750"/>
                </a:lnTo>
                <a:lnTo>
                  <a:pt x="345281" y="666750"/>
                </a:lnTo>
                <a:lnTo>
                  <a:pt x="345281" y="726281"/>
                </a:lnTo>
                <a:cubicBezTo>
                  <a:pt x="345281" y="746075"/>
                  <a:pt x="361206" y="762000"/>
                  <a:pt x="381000" y="762000"/>
                </a:cubicBezTo>
                <a:cubicBezTo>
                  <a:pt x="400794" y="762000"/>
                  <a:pt x="416719" y="746075"/>
                  <a:pt x="416719" y="726281"/>
                </a:cubicBezTo>
                <a:lnTo>
                  <a:pt x="416719" y="666750"/>
                </a:lnTo>
                <a:lnTo>
                  <a:pt x="500063" y="666750"/>
                </a:lnTo>
                <a:lnTo>
                  <a:pt x="500063" y="726281"/>
                </a:lnTo>
                <a:cubicBezTo>
                  <a:pt x="500063" y="746075"/>
                  <a:pt x="515987" y="762000"/>
                  <a:pt x="535781" y="762000"/>
                </a:cubicBezTo>
                <a:cubicBezTo>
                  <a:pt x="555575" y="762000"/>
                  <a:pt x="571500" y="746075"/>
                  <a:pt x="571500" y="726281"/>
                </a:cubicBezTo>
                <a:lnTo>
                  <a:pt x="571500" y="666750"/>
                </a:lnTo>
                <a:cubicBezTo>
                  <a:pt x="624036" y="666750"/>
                  <a:pt x="666750" y="624036"/>
                  <a:pt x="666750" y="571500"/>
                </a:cubicBezTo>
                <a:lnTo>
                  <a:pt x="726281" y="571500"/>
                </a:lnTo>
                <a:cubicBezTo>
                  <a:pt x="746075" y="571500"/>
                  <a:pt x="762000" y="555575"/>
                  <a:pt x="762000" y="535781"/>
                </a:cubicBezTo>
                <a:cubicBezTo>
                  <a:pt x="762000" y="515987"/>
                  <a:pt x="746075" y="500063"/>
                  <a:pt x="726281" y="500063"/>
                </a:cubicBezTo>
                <a:lnTo>
                  <a:pt x="666750" y="500063"/>
                </a:lnTo>
                <a:lnTo>
                  <a:pt x="666750" y="416719"/>
                </a:lnTo>
                <a:lnTo>
                  <a:pt x="726281" y="416719"/>
                </a:lnTo>
                <a:cubicBezTo>
                  <a:pt x="746075" y="416719"/>
                  <a:pt x="762000" y="400794"/>
                  <a:pt x="762000" y="381000"/>
                </a:cubicBezTo>
                <a:cubicBezTo>
                  <a:pt x="762000" y="361206"/>
                  <a:pt x="746075" y="345281"/>
                  <a:pt x="726281" y="345281"/>
                </a:cubicBezTo>
                <a:lnTo>
                  <a:pt x="666750" y="345281"/>
                </a:lnTo>
                <a:lnTo>
                  <a:pt x="666750" y="261938"/>
                </a:lnTo>
                <a:lnTo>
                  <a:pt x="726281" y="261938"/>
                </a:lnTo>
                <a:cubicBezTo>
                  <a:pt x="746075" y="261938"/>
                  <a:pt x="762000" y="246013"/>
                  <a:pt x="762000" y="226219"/>
                </a:cubicBezTo>
                <a:cubicBezTo>
                  <a:pt x="762000" y="206425"/>
                  <a:pt x="746075" y="190500"/>
                  <a:pt x="726281" y="190500"/>
                </a:cubicBezTo>
                <a:lnTo>
                  <a:pt x="666750" y="190500"/>
                </a:lnTo>
                <a:cubicBezTo>
                  <a:pt x="666750" y="137964"/>
                  <a:pt x="624036" y="95250"/>
                  <a:pt x="571500" y="95250"/>
                </a:cubicBezTo>
                <a:lnTo>
                  <a:pt x="571500" y="35719"/>
                </a:lnTo>
                <a:cubicBezTo>
                  <a:pt x="571500" y="15925"/>
                  <a:pt x="555575" y="0"/>
                  <a:pt x="535781" y="0"/>
                </a:cubicBezTo>
                <a:cubicBezTo>
                  <a:pt x="515987" y="0"/>
                  <a:pt x="500063" y="15925"/>
                  <a:pt x="500063" y="35719"/>
                </a:cubicBezTo>
                <a:lnTo>
                  <a:pt x="500063" y="95250"/>
                </a:lnTo>
                <a:lnTo>
                  <a:pt x="416719" y="95250"/>
                </a:lnTo>
                <a:lnTo>
                  <a:pt x="416719" y="35719"/>
                </a:lnTo>
                <a:cubicBezTo>
                  <a:pt x="416719" y="15925"/>
                  <a:pt x="400794" y="0"/>
                  <a:pt x="381000" y="0"/>
                </a:cubicBezTo>
                <a:cubicBezTo>
                  <a:pt x="361206" y="0"/>
                  <a:pt x="345281" y="15925"/>
                  <a:pt x="345281" y="35719"/>
                </a:cubicBezTo>
                <a:lnTo>
                  <a:pt x="345281" y="95250"/>
                </a:lnTo>
                <a:lnTo>
                  <a:pt x="261938" y="95250"/>
                </a:lnTo>
                <a:lnTo>
                  <a:pt x="261938" y="35719"/>
                </a:lnTo>
                <a:close/>
                <a:moveTo>
                  <a:pt x="238125" y="190500"/>
                </a:moveTo>
                <a:lnTo>
                  <a:pt x="523875" y="190500"/>
                </a:lnTo>
                <a:cubicBezTo>
                  <a:pt x="550218" y="190500"/>
                  <a:pt x="571500" y="211782"/>
                  <a:pt x="571500" y="238125"/>
                </a:cubicBezTo>
                <a:lnTo>
                  <a:pt x="571500" y="523875"/>
                </a:lnTo>
                <a:cubicBezTo>
                  <a:pt x="571500" y="550218"/>
                  <a:pt x="550218" y="571500"/>
                  <a:pt x="523875" y="571500"/>
                </a:cubicBezTo>
                <a:lnTo>
                  <a:pt x="238125" y="571500"/>
                </a:lnTo>
                <a:cubicBezTo>
                  <a:pt x="211782" y="571500"/>
                  <a:pt x="190500" y="550218"/>
                  <a:pt x="190500" y="523875"/>
                </a:cubicBezTo>
                <a:lnTo>
                  <a:pt x="190500" y="238125"/>
                </a:lnTo>
                <a:cubicBezTo>
                  <a:pt x="190500" y="211782"/>
                  <a:pt x="211782" y="190500"/>
                  <a:pt x="238125" y="190500"/>
                </a:cubicBezTo>
                <a:close/>
                <a:moveTo>
                  <a:pt x="261938" y="261938"/>
                </a:moveTo>
                <a:lnTo>
                  <a:pt x="261938" y="500063"/>
                </a:lnTo>
                <a:lnTo>
                  <a:pt x="500063" y="500063"/>
                </a:lnTo>
                <a:lnTo>
                  <a:pt x="500063" y="261938"/>
                </a:lnTo>
                <a:lnTo>
                  <a:pt x="261938" y="261938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3"/>
          <p:cNvSpPr/>
          <p:nvPr/>
        </p:nvSpPr>
        <p:spPr>
          <a:xfrm>
            <a:off x="1711801" y="3733800"/>
            <a:ext cx="1955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Arduino Nano</a:t>
            </a:r>
            <a:endParaRPr b="0" i="0" sz="1600" u="none" cap="none" strike="noStrike"/>
          </a:p>
        </p:txBody>
      </p:sp>
      <p:sp>
        <p:nvSpPr>
          <p:cNvPr id="146" name="Google Shape;146;p13"/>
          <p:cNvSpPr/>
          <p:nvPr/>
        </p:nvSpPr>
        <p:spPr>
          <a:xfrm>
            <a:off x="1711801" y="4038600"/>
            <a:ext cx="19558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Main Controller</a:t>
            </a:r>
            <a:endParaRPr b="0" i="0" sz="1600" u="none" cap="none" strike="noStrike"/>
          </a:p>
        </p:txBody>
      </p:sp>
      <p:sp>
        <p:nvSpPr>
          <p:cNvPr id="147" name="Google Shape;147;p13"/>
          <p:cNvSpPr/>
          <p:nvPr/>
        </p:nvSpPr>
        <p:spPr>
          <a:xfrm>
            <a:off x="3856831" y="3276600"/>
            <a:ext cx="685800" cy="609600"/>
          </a:xfrm>
          <a:custGeom>
            <a:rect b="b" l="l" r="r" t="t"/>
            <a:pathLst>
              <a:path extrusionOk="0" h="609600" w="685800">
                <a:moveTo>
                  <a:pt x="674608" y="331708"/>
                </a:moveTo>
                <a:cubicBezTo>
                  <a:pt x="689491" y="316825"/>
                  <a:pt x="689491" y="292656"/>
                  <a:pt x="674608" y="277773"/>
                </a:cubicBezTo>
                <a:lnTo>
                  <a:pt x="522208" y="125373"/>
                </a:lnTo>
                <a:cubicBezTo>
                  <a:pt x="507325" y="110490"/>
                  <a:pt x="483156" y="110490"/>
                  <a:pt x="468273" y="125373"/>
                </a:cubicBezTo>
                <a:cubicBezTo>
                  <a:pt x="453390" y="140256"/>
                  <a:pt x="453390" y="164425"/>
                  <a:pt x="468273" y="179308"/>
                </a:cubicBezTo>
                <a:lnTo>
                  <a:pt x="555665" y="266700"/>
                </a:lnTo>
                <a:lnTo>
                  <a:pt x="38100" y="266700"/>
                </a:lnTo>
                <a:cubicBezTo>
                  <a:pt x="17026" y="266700"/>
                  <a:pt x="0" y="283726"/>
                  <a:pt x="0" y="304800"/>
                </a:cubicBezTo>
                <a:cubicBezTo>
                  <a:pt x="0" y="325874"/>
                  <a:pt x="17026" y="342900"/>
                  <a:pt x="38100" y="342900"/>
                </a:cubicBezTo>
                <a:lnTo>
                  <a:pt x="555665" y="342900"/>
                </a:lnTo>
                <a:lnTo>
                  <a:pt x="468273" y="430292"/>
                </a:lnTo>
                <a:cubicBezTo>
                  <a:pt x="453390" y="445175"/>
                  <a:pt x="453390" y="469344"/>
                  <a:pt x="468273" y="484227"/>
                </a:cubicBezTo>
                <a:cubicBezTo>
                  <a:pt x="483156" y="499110"/>
                  <a:pt x="507325" y="499110"/>
                  <a:pt x="522208" y="484227"/>
                </a:cubicBezTo>
                <a:lnTo>
                  <a:pt x="674608" y="331827"/>
                </a:lnTo>
                <a:close/>
              </a:path>
            </a:pathLst>
          </a:custGeom>
          <a:solidFill>
            <a:srgbClr val="8C8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3"/>
          <p:cNvSpPr/>
          <p:nvPr/>
        </p:nvSpPr>
        <p:spPr>
          <a:xfrm>
            <a:off x="5412899" y="2870200"/>
            <a:ext cx="762000" cy="762000"/>
          </a:xfrm>
          <a:custGeom>
            <a:rect b="b" l="l" r="r" t="t"/>
            <a:pathLst>
              <a:path extrusionOk="0" h="762000" w="762000">
                <a:moveTo>
                  <a:pt x="285750" y="95250"/>
                </a:moveTo>
                <a:cubicBezTo>
                  <a:pt x="285750" y="68907"/>
                  <a:pt x="307032" y="47625"/>
                  <a:pt x="333375" y="47625"/>
                </a:cubicBezTo>
                <a:lnTo>
                  <a:pt x="428625" y="47625"/>
                </a:lnTo>
                <a:cubicBezTo>
                  <a:pt x="454968" y="47625"/>
                  <a:pt x="476250" y="68907"/>
                  <a:pt x="476250" y="95250"/>
                </a:cubicBezTo>
                <a:lnTo>
                  <a:pt x="476250" y="190500"/>
                </a:lnTo>
                <a:cubicBezTo>
                  <a:pt x="476250" y="216843"/>
                  <a:pt x="454968" y="238125"/>
                  <a:pt x="428625" y="238125"/>
                </a:cubicBezTo>
                <a:lnTo>
                  <a:pt x="416719" y="238125"/>
                </a:lnTo>
                <a:lnTo>
                  <a:pt x="416719" y="333375"/>
                </a:lnTo>
                <a:lnTo>
                  <a:pt x="595313" y="333375"/>
                </a:lnTo>
                <a:cubicBezTo>
                  <a:pt x="654546" y="333375"/>
                  <a:pt x="702469" y="381298"/>
                  <a:pt x="702469" y="440531"/>
                </a:cubicBezTo>
                <a:lnTo>
                  <a:pt x="702469" y="523875"/>
                </a:lnTo>
                <a:lnTo>
                  <a:pt x="714375" y="523875"/>
                </a:lnTo>
                <a:cubicBezTo>
                  <a:pt x="740718" y="523875"/>
                  <a:pt x="762000" y="545157"/>
                  <a:pt x="762000" y="571500"/>
                </a:cubicBezTo>
                <a:lnTo>
                  <a:pt x="762000" y="666750"/>
                </a:lnTo>
                <a:cubicBezTo>
                  <a:pt x="762000" y="693093"/>
                  <a:pt x="740718" y="714375"/>
                  <a:pt x="714375" y="714375"/>
                </a:cubicBezTo>
                <a:lnTo>
                  <a:pt x="619125" y="714375"/>
                </a:lnTo>
                <a:cubicBezTo>
                  <a:pt x="592782" y="714375"/>
                  <a:pt x="571500" y="693093"/>
                  <a:pt x="571500" y="666750"/>
                </a:cubicBezTo>
                <a:lnTo>
                  <a:pt x="571500" y="571500"/>
                </a:lnTo>
                <a:cubicBezTo>
                  <a:pt x="571500" y="545157"/>
                  <a:pt x="592782" y="523875"/>
                  <a:pt x="619125" y="523875"/>
                </a:cubicBezTo>
                <a:lnTo>
                  <a:pt x="631031" y="523875"/>
                </a:lnTo>
                <a:lnTo>
                  <a:pt x="631031" y="440531"/>
                </a:lnTo>
                <a:cubicBezTo>
                  <a:pt x="631031" y="420737"/>
                  <a:pt x="615107" y="404813"/>
                  <a:pt x="595313" y="404813"/>
                </a:cubicBezTo>
                <a:lnTo>
                  <a:pt x="416719" y="404813"/>
                </a:lnTo>
                <a:lnTo>
                  <a:pt x="416719" y="523875"/>
                </a:lnTo>
                <a:lnTo>
                  <a:pt x="428625" y="523875"/>
                </a:lnTo>
                <a:cubicBezTo>
                  <a:pt x="454968" y="523875"/>
                  <a:pt x="476250" y="545157"/>
                  <a:pt x="476250" y="571500"/>
                </a:cubicBezTo>
                <a:lnTo>
                  <a:pt x="476250" y="666750"/>
                </a:lnTo>
                <a:cubicBezTo>
                  <a:pt x="476250" y="693093"/>
                  <a:pt x="454968" y="714375"/>
                  <a:pt x="428625" y="714375"/>
                </a:cubicBezTo>
                <a:lnTo>
                  <a:pt x="333375" y="714375"/>
                </a:lnTo>
                <a:cubicBezTo>
                  <a:pt x="307032" y="714375"/>
                  <a:pt x="285750" y="693093"/>
                  <a:pt x="285750" y="666750"/>
                </a:cubicBezTo>
                <a:lnTo>
                  <a:pt x="285750" y="571500"/>
                </a:lnTo>
                <a:cubicBezTo>
                  <a:pt x="285750" y="545157"/>
                  <a:pt x="307032" y="523875"/>
                  <a:pt x="333375" y="523875"/>
                </a:cubicBezTo>
                <a:lnTo>
                  <a:pt x="345281" y="523875"/>
                </a:lnTo>
                <a:lnTo>
                  <a:pt x="345281" y="404813"/>
                </a:lnTo>
                <a:lnTo>
                  <a:pt x="166688" y="404813"/>
                </a:lnTo>
                <a:cubicBezTo>
                  <a:pt x="146893" y="404813"/>
                  <a:pt x="130969" y="420737"/>
                  <a:pt x="130969" y="440531"/>
                </a:cubicBezTo>
                <a:lnTo>
                  <a:pt x="130969" y="523875"/>
                </a:lnTo>
                <a:lnTo>
                  <a:pt x="142875" y="523875"/>
                </a:lnTo>
                <a:cubicBezTo>
                  <a:pt x="169218" y="523875"/>
                  <a:pt x="190500" y="545157"/>
                  <a:pt x="190500" y="571500"/>
                </a:cubicBezTo>
                <a:lnTo>
                  <a:pt x="190500" y="666750"/>
                </a:lnTo>
                <a:cubicBezTo>
                  <a:pt x="190500" y="693093"/>
                  <a:pt x="169218" y="714375"/>
                  <a:pt x="142875" y="714375"/>
                </a:cubicBezTo>
                <a:lnTo>
                  <a:pt x="47625" y="714375"/>
                </a:lnTo>
                <a:cubicBezTo>
                  <a:pt x="21282" y="714375"/>
                  <a:pt x="0" y="693093"/>
                  <a:pt x="0" y="666750"/>
                </a:cubicBezTo>
                <a:lnTo>
                  <a:pt x="0" y="571500"/>
                </a:lnTo>
                <a:cubicBezTo>
                  <a:pt x="0" y="545157"/>
                  <a:pt x="21282" y="523875"/>
                  <a:pt x="47625" y="523875"/>
                </a:cubicBezTo>
                <a:lnTo>
                  <a:pt x="59531" y="523875"/>
                </a:lnTo>
                <a:lnTo>
                  <a:pt x="59531" y="440531"/>
                </a:lnTo>
                <a:cubicBezTo>
                  <a:pt x="59531" y="381298"/>
                  <a:pt x="107454" y="333375"/>
                  <a:pt x="166688" y="333375"/>
                </a:cubicBezTo>
                <a:lnTo>
                  <a:pt x="345281" y="333375"/>
                </a:lnTo>
                <a:lnTo>
                  <a:pt x="345281" y="238125"/>
                </a:lnTo>
                <a:lnTo>
                  <a:pt x="333375" y="238125"/>
                </a:lnTo>
                <a:cubicBezTo>
                  <a:pt x="307032" y="238125"/>
                  <a:pt x="285750" y="216843"/>
                  <a:pt x="285750" y="190500"/>
                </a:cubicBezTo>
                <a:lnTo>
                  <a:pt x="285750" y="95250"/>
                </a:lnTo>
                <a:close/>
              </a:path>
            </a:pathLst>
          </a:custGeom>
          <a:solidFill>
            <a:srgbClr val="8C8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3"/>
          <p:cNvSpPr/>
          <p:nvPr/>
        </p:nvSpPr>
        <p:spPr>
          <a:xfrm>
            <a:off x="4733131" y="3733800"/>
            <a:ext cx="2120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PCA9685 Driver</a:t>
            </a:r>
            <a:endParaRPr b="0" i="0" sz="1600" u="none" cap="none" strike="noStrike"/>
          </a:p>
        </p:txBody>
      </p:sp>
      <p:sp>
        <p:nvSpPr>
          <p:cNvPr id="150" name="Google Shape;150;p13"/>
          <p:cNvSpPr/>
          <p:nvPr/>
        </p:nvSpPr>
        <p:spPr>
          <a:xfrm>
            <a:off x="4733131" y="4038600"/>
            <a:ext cx="21209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I²C PWM Control</a:t>
            </a:r>
            <a:endParaRPr b="0" i="0" sz="1600" u="none" cap="none" strike="noStrike"/>
          </a:p>
        </p:txBody>
      </p:sp>
      <p:sp>
        <p:nvSpPr>
          <p:cNvPr id="151" name="Google Shape;151;p13"/>
          <p:cNvSpPr/>
          <p:nvPr/>
        </p:nvSpPr>
        <p:spPr>
          <a:xfrm>
            <a:off x="7045325" y="3276600"/>
            <a:ext cx="685800" cy="609600"/>
          </a:xfrm>
          <a:custGeom>
            <a:rect b="b" l="l" r="r" t="t"/>
            <a:pathLst>
              <a:path extrusionOk="0" h="609600" w="685800">
                <a:moveTo>
                  <a:pt x="674608" y="331708"/>
                </a:moveTo>
                <a:cubicBezTo>
                  <a:pt x="689491" y="316825"/>
                  <a:pt x="689491" y="292656"/>
                  <a:pt x="674608" y="277773"/>
                </a:cubicBezTo>
                <a:lnTo>
                  <a:pt x="522208" y="125373"/>
                </a:lnTo>
                <a:cubicBezTo>
                  <a:pt x="507325" y="110490"/>
                  <a:pt x="483156" y="110490"/>
                  <a:pt x="468273" y="125373"/>
                </a:cubicBezTo>
                <a:cubicBezTo>
                  <a:pt x="453390" y="140256"/>
                  <a:pt x="453390" y="164425"/>
                  <a:pt x="468273" y="179308"/>
                </a:cubicBezTo>
                <a:lnTo>
                  <a:pt x="555665" y="266700"/>
                </a:lnTo>
                <a:lnTo>
                  <a:pt x="38100" y="266700"/>
                </a:lnTo>
                <a:cubicBezTo>
                  <a:pt x="17026" y="266700"/>
                  <a:pt x="0" y="283726"/>
                  <a:pt x="0" y="304800"/>
                </a:cubicBezTo>
                <a:cubicBezTo>
                  <a:pt x="0" y="325874"/>
                  <a:pt x="17026" y="342900"/>
                  <a:pt x="38100" y="342900"/>
                </a:cubicBezTo>
                <a:lnTo>
                  <a:pt x="555665" y="342900"/>
                </a:lnTo>
                <a:lnTo>
                  <a:pt x="468273" y="430292"/>
                </a:lnTo>
                <a:cubicBezTo>
                  <a:pt x="453390" y="445175"/>
                  <a:pt x="453390" y="469344"/>
                  <a:pt x="468273" y="484227"/>
                </a:cubicBezTo>
                <a:cubicBezTo>
                  <a:pt x="483156" y="499110"/>
                  <a:pt x="507325" y="499110"/>
                  <a:pt x="522208" y="484227"/>
                </a:cubicBezTo>
                <a:lnTo>
                  <a:pt x="674608" y="331827"/>
                </a:lnTo>
                <a:close/>
              </a:path>
            </a:pathLst>
          </a:custGeom>
          <a:solidFill>
            <a:srgbClr val="8C8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3"/>
          <p:cNvSpPr/>
          <p:nvPr/>
        </p:nvSpPr>
        <p:spPr>
          <a:xfrm>
            <a:off x="8724583" y="2870200"/>
            <a:ext cx="952500" cy="762000"/>
          </a:xfrm>
          <a:custGeom>
            <a:rect b="b" l="l" r="r" t="t"/>
            <a:pathLst>
              <a:path extrusionOk="0" h="762000" w="952500">
                <a:moveTo>
                  <a:pt x="618976" y="313283"/>
                </a:moveTo>
                <a:cubicBezTo>
                  <a:pt x="637133" y="308372"/>
                  <a:pt x="656183" y="317004"/>
                  <a:pt x="664369" y="333821"/>
                </a:cubicBezTo>
                <a:lnTo>
                  <a:pt x="692051" y="389781"/>
                </a:lnTo>
                <a:cubicBezTo>
                  <a:pt x="707380" y="391864"/>
                  <a:pt x="722412" y="396032"/>
                  <a:pt x="736550" y="401836"/>
                </a:cubicBezTo>
                <a:lnTo>
                  <a:pt x="788640" y="367159"/>
                </a:lnTo>
                <a:cubicBezTo>
                  <a:pt x="804267" y="356741"/>
                  <a:pt x="824954" y="358825"/>
                  <a:pt x="838200" y="372070"/>
                </a:cubicBezTo>
                <a:lnTo>
                  <a:pt x="866775" y="400645"/>
                </a:lnTo>
                <a:cubicBezTo>
                  <a:pt x="880021" y="413891"/>
                  <a:pt x="882104" y="434727"/>
                  <a:pt x="871686" y="450205"/>
                </a:cubicBezTo>
                <a:lnTo>
                  <a:pt x="837009" y="502146"/>
                </a:lnTo>
                <a:cubicBezTo>
                  <a:pt x="839837" y="509141"/>
                  <a:pt x="842367" y="516434"/>
                  <a:pt x="844451" y="524024"/>
                </a:cubicBezTo>
                <a:cubicBezTo>
                  <a:pt x="846534" y="531614"/>
                  <a:pt x="847874" y="539055"/>
                  <a:pt x="848916" y="546646"/>
                </a:cubicBezTo>
                <a:lnTo>
                  <a:pt x="905024" y="574328"/>
                </a:lnTo>
                <a:cubicBezTo>
                  <a:pt x="921841" y="582662"/>
                  <a:pt x="930473" y="601712"/>
                  <a:pt x="925562" y="619720"/>
                </a:cubicBezTo>
                <a:lnTo>
                  <a:pt x="915144" y="658713"/>
                </a:lnTo>
                <a:cubicBezTo>
                  <a:pt x="910233" y="676721"/>
                  <a:pt x="893415" y="688925"/>
                  <a:pt x="874663" y="687735"/>
                </a:cubicBezTo>
                <a:lnTo>
                  <a:pt x="812155" y="683716"/>
                </a:lnTo>
                <a:cubicBezTo>
                  <a:pt x="802779" y="695771"/>
                  <a:pt x="791914" y="706934"/>
                  <a:pt x="779562" y="716459"/>
                </a:cubicBezTo>
                <a:lnTo>
                  <a:pt x="783580" y="778818"/>
                </a:lnTo>
                <a:cubicBezTo>
                  <a:pt x="784771" y="797570"/>
                  <a:pt x="772567" y="814536"/>
                  <a:pt x="754559" y="819299"/>
                </a:cubicBezTo>
                <a:lnTo>
                  <a:pt x="715566" y="829717"/>
                </a:lnTo>
                <a:cubicBezTo>
                  <a:pt x="697409" y="834628"/>
                  <a:pt x="678507" y="825996"/>
                  <a:pt x="670173" y="809179"/>
                </a:cubicBezTo>
                <a:lnTo>
                  <a:pt x="642491" y="753219"/>
                </a:lnTo>
                <a:cubicBezTo>
                  <a:pt x="627162" y="751136"/>
                  <a:pt x="612130" y="746968"/>
                  <a:pt x="597991" y="741164"/>
                </a:cubicBezTo>
                <a:lnTo>
                  <a:pt x="545902" y="775841"/>
                </a:lnTo>
                <a:cubicBezTo>
                  <a:pt x="530275" y="786259"/>
                  <a:pt x="509588" y="784175"/>
                  <a:pt x="496342" y="770930"/>
                </a:cubicBezTo>
                <a:lnTo>
                  <a:pt x="467767" y="742355"/>
                </a:lnTo>
                <a:cubicBezTo>
                  <a:pt x="454521" y="729109"/>
                  <a:pt x="452438" y="708422"/>
                  <a:pt x="462855" y="692795"/>
                </a:cubicBezTo>
                <a:lnTo>
                  <a:pt x="497532" y="640705"/>
                </a:lnTo>
                <a:cubicBezTo>
                  <a:pt x="494705" y="633710"/>
                  <a:pt x="492175" y="626418"/>
                  <a:pt x="490091" y="618827"/>
                </a:cubicBezTo>
                <a:cubicBezTo>
                  <a:pt x="488007" y="611237"/>
                  <a:pt x="486668" y="603647"/>
                  <a:pt x="485626" y="596205"/>
                </a:cubicBezTo>
                <a:lnTo>
                  <a:pt x="429518" y="568523"/>
                </a:lnTo>
                <a:cubicBezTo>
                  <a:pt x="412700" y="560189"/>
                  <a:pt x="404217" y="541139"/>
                  <a:pt x="408980" y="523131"/>
                </a:cubicBezTo>
                <a:lnTo>
                  <a:pt x="419398" y="484138"/>
                </a:lnTo>
                <a:cubicBezTo>
                  <a:pt x="424309" y="466130"/>
                  <a:pt x="441127" y="453926"/>
                  <a:pt x="459879" y="455116"/>
                </a:cubicBezTo>
                <a:lnTo>
                  <a:pt x="522238" y="459135"/>
                </a:lnTo>
                <a:cubicBezTo>
                  <a:pt x="531614" y="447080"/>
                  <a:pt x="542479" y="435918"/>
                  <a:pt x="554831" y="426393"/>
                </a:cubicBezTo>
                <a:lnTo>
                  <a:pt x="550813" y="364182"/>
                </a:lnTo>
                <a:cubicBezTo>
                  <a:pt x="549622" y="345430"/>
                  <a:pt x="561826" y="328464"/>
                  <a:pt x="579834" y="323701"/>
                </a:cubicBezTo>
                <a:lnTo>
                  <a:pt x="618827" y="313283"/>
                </a:lnTo>
                <a:close/>
                <a:moveTo>
                  <a:pt x="667345" y="506016"/>
                </a:moveTo>
                <a:cubicBezTo>
                  <a:pt x="631204" y="506057"/>
                  <a:pt x="601894" y="535433"/>
                  <a:pt x="601935" y="571574"/>
                </a:cubicBezTo>
                <a:cubicBezTo>
                  <a:pt x="601976" y="607716"/>
                  <a:pt x="631352" y="637025"/>
                  <a:pt x="667494" y="636984"/>
                </a:cubicBezTo>
                <a:cubicBezTo>
                  <a:pt x="703636" y="636943"/>
                  <a:pt x="732945" y="607567"/>
                  <a:pt x="732904" y="571426"/>
                </a:cubicBezTo>
                <a:cubicBezTo>
                  <a:pt x="732863" y="535284"/>
                  <a:pt x="703487" y="505975"/>
                  <a:pt x="667345" y="506016"/>
                </a:cubicBezTo>
                <a:close/>
                <a:moveTo>
                  <a:pt x="334714" y="-67717"/>
                </a:moveTo>
                <a:lnTo>
                  <a:pt x="373707" y="-57299"/>
                </a:lnTo>
                <a:cubicBezTo>
                  <a:pt x="391716" y="-52388"/>
                  <a:pt x="403920" y="-35421"/>
                  <a:pt x="402729" y="-16818"/>
                </a:cubicBezTo>
                <a:lnTo>
                  <a:pt x="398711" y="45393"/>
                </a:lnTo>
                <a:cubicBezTo>
                  <a:pt x="411063" y="54918"/>
                  <a:pt x="421928" y="65931"/>
                  <a:pt x="431304" y="78135"/>
                </a:cubicBezTo>
                <a:lnTo>
                  <a:pt x="493812" y="74116"/>
                </a:lnTo>
                <a:cubicBezTo>
                  <a:pt x="512415" y="72926"/>
                  <a:pt x="529382" y="85130"/>
                  <a:pt x="534293" y="103138"/>
                </a:cubicBezTo>
                <a:lnTo>
                  <a:pt x="544711" y="142131"/>
                </a:lnTo>
                <a:cubicBezTo>
                  <a:pt x="549473" y="160139"/>
                  <a:pt x="540990" y="179189"/>
                  <a:pt x="524173" y="187523"/>
                </a:cubicBezTo>
                <a:lnTo>
                  <a:pt x="468064" y="215205"/>
                </a:lnTo>
                <a:cubicBezTo>
                  <a:pt x="467023" y="222796"/>
                  <a:pt x="465534" y="230386"/>
                  <a:pt x="463600" y="237827"/>
                </a:cubicBezTo>
                <a:cubicBezTo>
                  <a:pt x="461665" y="245269"/>
                  <a:pt x="458986" y="252710"/>
                  <a:pt x="456158" y="259705"/>
                </a:cubicBezTo>
                <a:lnTo>
                  <a:pt x="490835" y="311795"/>
                </a:lnTo>
                <a:cubicBezTo>
                  <a:pt x="501253" y="327422"/>
                  <a:pt x="499170" y="348109"/>
                  <a:pt x="485924" y="361355"/>
                </a:cubicBezTo>
                <a:lnTo>
                  <a:pt x="457349" y="389930"/>
                </a:lnTo>
                <a:cubicBezTo>
                  <a:pt x="444103" y="403175"/>
                  <a:pt x="423416" y="405259"/>
                  <a:pt x="407789" y="394841"/>
                </a:cubicBezTo>
                <a:lnTo>
                  <a:pt x="355699" y="360164"/>
                </a:lnTo>
                <a:cubicBezTo>
                  <a:pt x="341561" y="365968"/>
                  <a:pt x="326529" y="370136"/>
                  <a:pt x="311200" y="372219"/>
                </a:cubicBezTo>
                <a:lnTo>
                  <a:pt x="283518" y="428179"/>
                </a:lnTo>
                <a:cubicBezTo>
                  <a:pt x="275183" y="444996"/>
                  <a:pt x="256133" y="453479"/>
                  <a:pt x="238125" y="448717"/>
                </a:cubicBezTo>
                <a:lnTo>
                  <a:pt x="199132" y="438299"/>
                </a:lnTo>
                <a:cubicBezTo>
                  <a:pt x="180975" y="433388"/>
                  <a:pt x="168920" y="416421"/>
                  <a:pt x="170111" y="397818"/>
                </a:cubicBezTo>
                <a:lnTo>
                  <a:pt x="174129" y="335459"/>
                </a:lnTo>
                <a:cubicBezTo>
                  <a:pt x="161776" y="325934"/>
                  <a:pt x="150912" y="314920"/>
                  <a:pt x="141536" y="302716"/>
                </a:cubicBezTo>
                <a:lnTo>
                  <a:pt x="79028" y="306735"/>
                </a:lnTo>
                <a:cubicBezTo>
                  <a:pt x="60424" y="307925"/>
                  <a:pt x="43458" y="295721"/>
                  <a:pt x="38546" y="277713"/>
                </a:cubicBezTo>
                <a:lnTo>
                  <a:pt x="28129" y="238720"/>
                </a:lnTo>
                <a:cubicBezTo>
                  <a:pt x="23366" y="220712"/>
                  <a:pt x="31849" y="201662"/>
                  <a:pt x="48667" y="193328"/>
                </a:cubicBezTo>
                <a:lnTo>
                  <a:pt x="104775" y="165646"/>
                </a:lnTo>
                <a:cubicBezTo>
                  <a:pt x="105817" y="158055"/>
                  <a:pt x="107305" y="150614"/>
                  <a:pt x="109240" y="143024"/>
                </a:cubicBezTo>
                <a:cubicBezTo>
                  <a:pt x="111323" y="135434"/>
                  <a:pt x="113705" y="128141"/>
                  <a:pt x="116681" y="121146"/>
                </a:cubicBezTo>
                <a:lnTo>
                  <a:pt x="82004" y="69205"/>
                </a:lnTo>
                <a:cubicBezTo>
                  <a:pt x="71586" y="53578"/>
                  <a:pt x="73670" y="32891"/>
                  <a:pt x="86916" y="19645"/>
                </a:cubicBezTo>
                <a:lnTo>
                  <a:pt x="115491" y="-8930"/>
                </a:lnTo>
                <a:cubicBezTo>
                  <a:pt x="128736" y="-22175"/>
                  <a:pt x="149423" y="-24259"/>
                  <a:pt x="165050" y="-13841"/>
                </a:cubicBezTo>
                <a:lnTo>
                  <a:pt x="217140" y="20836"/>
                </a:lnTo>
                <a:cubicBezTo>
                  <a:pt x="231279" y="15032"/>
                  <a:pt x="246311" y="10864"/>
                  <a:pt x="261640" y="8781"/>
                </a:cubicBezTo>
                <a:lnTo>
                  <a:pt x="289322" y="-47179"/>
                </a:lnTo>
                <a:cubicBezTo>
                  <a:pt x="297656" y="-63996"/>
                  <a:pt x="316557" y="-72479"/>
                  <a:pt x="334714" y="-67717"/>
                </a:cubicBezTo>
                <a:close/>
                <a:moveTo>
                  <a:pt x="286345" y="125016"/>
                </a:moveTo>
                <a:cubicBezTo>
                  <a:pt x="250204" y="125016"/>
                  <a:pt x="220861" y="154358"/>
                  <a:pt x="220861" y="190500"/>
                </a:cubicBezTo>
                <a:cubicBezTo>
                  <a:pt x="220861" y="226642"/>
                  <a:pt x="250204" y="255984"/>
                  <a:pt x="286345" y="255984"/>
                </a:cubicBezTo>
                <a:cubicBezTo>
                  <a:pt x="322487" y="255984"/>
                  <a:pt x="351830" y="226642"/>
                  <a:pt x="351830" y="190500"/>
                </a:cubicBezTo>
                <a:cubicBezTo>
                  <a:pt x="351830" y="154358"/>
                  <a:pt x="322487" y="125016"/>
                  <a:pt x="286345" y="1250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3"/>
          <p:cNvSpPr/>
          <p:nvPr/>
        </p:nvSpPr>
        <p:spPr>
          <a:xfrm>
            <a:off x="7921625" y="3733800"/>
            <a:ext cx="2552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12x MG996R Servos</a:t>
            </a:r>
            <a:endParaRPr b="0" i="0" sz="1600" u="none" cap="none" strike="noStrike"/>
          </a:p>
        </p:txBody>
      </p:sp>
      <p:sp>
        <p:nvSpPr>
          <p:cNvPr id="154" name="Google Shape;154;p13"/>
          <p:cNvSpPr/>
          <p:nvPr/>
        </p:nvSpPr>
        <p:spPr>
          <a:xfrm>
            <a:off x="7921625" y="4038600"/>
            <a:ext cx="25527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Coordinated Motion</a:t>
            </a:r>
            <a:endParaRPr b="0" i="0" sz="1600" u="none" cap="none" strike="noStrike"/>
          </a:p>
        </p:txBody>
      </p:sp>
      <p:sp>
        <p:nvSpPr>
          <p:cNvPr id="155" name="Google Shape;155;p13"/>
          <p:cNvSpPr/>
          <p:nvPr/>
        </p:nvSpPr>
        <p:spPr>
          <a:xfrm>
            <a:off x="254000" y="4699000"/>
            <a:ext cx="1168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0" i="0" lang="en-US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PCA9685</a:t>
            </a: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provides 16 channels of 12-bit PWM control, enabling precise and synchronized servo movements without overloading the main processor.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>
            <a:gsLst>
              <a:gs pos="0">
                <a:srgbClr val="F6F8FD"/>
              </a:gs>
              <a:gs pos="100000">
                <a:srgbClr val="BEBEBE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4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pic>
        <p:nvPicPr>
          <p:cNvPr descr="https://kimi-img.moonshot.cn/pub/slides/slides_tmpl/image/25-08-27-19:57:52-d2nf5g18bjvh7rlivt90.png" id="163" name="Google Shape;163;p14"/>
          <p:cNvPicPr preferRelativeResize="0"/>
          <p:nvPr/>
        </p:nvPicPr>
        <p:blipFill rotWithShape="1">
          <a:blip r:embed="rId3">
            <a:alphaModFix/>
          </a:blip>
          <a:srcRect b="0" l="20534" r="0" t="0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4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4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166" name="Google Shape;166;p1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Sensor Suite</a:t>
            </a:r>
            <a:endParaRPr b="0" i="0" sz="1600" u="none" cap="none" strike="noStrike"/>
          </a:p>
        </p:txBody>
      </p:sp>
      <p:sp>
        <p:nvSpPr>
          <p:cNvPr id="167" name="Google Shape;167;p14"/>
          <p:cNvSpPr/>
          <p:nvPr/>
        </p:nvSpPr>
        <p:spPr>
          <a:xfrm>
            <a:off x="7765415" y="1823085"/>
            <a:ext cx="1781810" cy="133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600" u="none" cap="none" strike="noStrike"/>
          </a:p>
        </p:txBody>
      </p:sp>
      <p:pic>
        <p:nvPicPr>
          <p:cNvPr descr="Fichier:Aperture Science Logo.svg — Wikipédia" id="168" name="Google Shape;168;p14"/>
          <p:cNvPicPr preferRelativeResize="0"/>
          <p:nvPr/>
        </p:nvPicPr>
        <p:blipFill rotWithShape="1">
          <a:blip r:embed="rId4">
            <a:alphaModFix/>
          </a:blip>
          <a:srcRect b="777" l="0" r="0" t="787"/>
          <a:stretch/>
        </p:blipFill>
        <p:spPr>
          <a:xfrm>
            <a:off x="1328420" y="2077085"/>
            <a:ext cx="2712719" cy="26701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kimi-img.moonshot.cn/pub/slides/slides_tmpl/image/25-08-27-19:57:52-d2nf5g18bjvh7rlivt9g.png" id="169" name="Google Shape;16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46590" y="2077085"/>
            <a:ext cx="920750" cy="335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"/>
          <p:cNvSpPr/>
          <p:nvPr/>
        </p:nvSpPr>
        <p:spPr>
          <a:xfrm>
            <a:off x="254000" y="154940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Depth &amp; Vision Sensors</a:t>
            </a:r>
            <a:endParaRPr b="0" i="0" sz="1600" u="none" cap="none" strike="noStrike"/>
          </a:p>
        </p:txBody>
      </p:sp>
      <p:sp>
        <p:nvSpPr>
          <p:cNvPr id="176" name="Google Shape;176;p15"/>
          <p:cNvSpPr/>
          <p:nvPr/>
        </p:nvSpPr>
        <p:spPr>
          <a:xfrm>
            <a:off x="254000" y="2108200"/>
            <a:ext cx="12192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Enabling intelligent perception with stereo vision.</a:t>
            </a:r>
            <a:endParaRPr b="0" i="0" sz="1600" u="none" cap="none" strike="noStrike"/>
          </a:p>
        </p:txBody>
      </p:sp>
      <p:sp>
        <p:nvSpPr>
          <p:cNvPr id="177" name="Google Shape;177;p15"/>
          <p:cNvSpPr/>
          <p:nvPr/>
        </p:nvSpPr>
        <p:spPr>
          <a:xfrm>
            <a:off x="254000" y="2768600"/>
            <a:ext cx="5689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 pair of </a:t>
            </a:r>
            <a:r>
              <a:rPr b="0" i="0" lang="en-US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OV9655 camera modules</a:t>
            </a: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provide the foundation for the robot's vision, enabling depth perception and Simultaneous Localization and Mapping (SLAM).</a:t>
            </a:r>
            <a:endParaRPr b="0" i="0" sz="1600" u="none" cap="none" strike="noStrike"/>
          </a:p>
        </p:txBody>
      </p:sp>
      <p:sp>
        <p:nvSpPr>
          <p:cNvPr id="178" name="Google Shape;178;p15"/>
          <p:cNvSpPr/>
          <p:nvPr/>
        </p:nvSpPr>
        <p:spPr>
          <a:xfrm>
            <a:off x="304800" y="4241800"/>
            <a:ext cx="203200" cy="203200"/>
          </a:xfrm>
          <a:custGeom>
            <a:rect b="b" l="l" r="r" t="t"/>
            <a:pathLst>
              <a:path extrusionOk="0" h="203200" w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5"/>
          <p:cNvSpPr/>
          <p:nvPr/>
        </p:nvSpPr>
        <p:spPr>
          <a:xfrm>
            <a:off x="660400" y="41910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Obstacle detection and avoidance</a:t>
            </a:r>
            <a:endParaRPr b="0" i="0" sz="1600" u="none" cap="none" strike="noStrike"/>
          </a:p>
        </p:txBody>
      </p:sp>
      <p:sp>
        <p:nvSpPr>
          <p:cNvPr id="180" name="Google Shape;180;p15"/>
          <p:cNvSpPr/>
          <p:nvPr/>
        </p:nvSpPr>
        <p:spPr>
          <a:xfrm>
            <a:off x="304800" y="4648200"/>
            <a:ext cx="203200" cy="203200"/>
          </a:xfrm>
          <a:custGeom>
            <a:rect b="b" l="l" r="r" t="t"/>
            <a:pathLst>
              <a:path extrusionOk="0" h="203200" w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5"/>
          <p:cNvSpPr/>
          <p:nvPr/>
        </p:nvSpPr>
        <p:spPr>
          <a:xfrm>
            <a:off x="660400" y="4597400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Environment mapping and navigation</a:t>
            </a:r>
            <a:endParaRPr b="0" i="0" sz="1600" u="none" cap="none" strike="noStrike"/>
          </a:p>
        </p:txBody>
      </p:sp>
      <p:sp>
        <p:nvSpPr>
          <p:cNvPr id="182" name="Google Shape;182;p15"/>
          <p:cNvSpPr/>
          <p:nvPr/>
        </p:nvSpPr>
        <p:spPr>
          <a:xfrm>
            <a:off x="304800" y="5054600"/>
            <a:ext cx="203200" cy="203200"/>
          </a:xfrm>
          <a:custGeom>
            <a:rect b="b" l="l" r="r" t="t"/>
            <a:pathLst>
              <a:path extrusionOk="0" h="203200" w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5"/>
          <p:cNvSpPr/>
          <p:nvPr/>
        </p:nvSpPr>
        <p:spPr>
          <a:xfrm>
            <a:off x="660400" y="5003800"/>
            <a:ext cx="3619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Visual feedback for PC-based AI</a:t>
            </a:r>
            <a:endParaRPr b="0" i="0" sz="1600" u="none" cap="none" strike="noStrike"/>
          </a:p>
        </p:txBody>
      </p:sp>
      <p:pic>
        <p:nvPicPr>
          <p:cNvPr descr="https://kimi-web-img.moonshot.cn/img/www.waveshare.net/1f819e858d835de81ac46635d6c6a90b83492461.jpg" id="184" name="Google Shape;184;p15"/>
          <p:cNvPicPr preferRelativeResize="0"/>
          <p:nvPr/>
        </p:nvPicPr>
        <p:blipFill rotWithShape="1">
          <a:blip r:embed="rId3">
            <a:alphaModFix/>
          </a:blip>
          <a:srcRect b="20237" l="0" r="0" t="20238"/>
          <a:stretch/>
        </p:blipFill>
        <p:spPr>
          <a:xfrm>
            <a:off x="6248400" y="2768600"/>
            <a:ext cx="5689600" cy="25400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6"/>
          <p:cNvSpPr/>
          <p:nvPr/>
        </p:nvSpPr>
        <p:spPr>
          <a:xfrm>
            <a:off x="0" y="1793239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Motion &amp; Sound Detection</a:t>
            </a:r>
            <a:endParaRPr b="0" i="0" sz="1600" u="none" cap="none" strike="noStrike"/>
          </a:p>
        </p:txBody>
      </p:sp>
      <p:sp>
        <p:nvSpPr>
          <p:cNvPr id="191" name="Google Shape;191;p16"/>
          <p:cNvSpPr/>
          <p:nvPr/>
        </p:nvSpPr>
        <p:spPr>
          <a:xfrm>
            <a:off x="0" y="2352042"/>
            <a:ext cx="12192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A suite of sensors for reactive and interactive behaviors.</a:t>
            </a:r>
            <a:endParaRPr b="0" i="0" sz="1600" u="none" cap="none" strike="noStrike"/>
          </a:p>
        </p:txBody>
      </p:sp>
      <p:sp>
        <p:nvSpPr>
          <p:cNvPr id="192" name="Google Shape;192;p16"/>
          <p:cNvSpPr/>
          <p:nvPr/>
        </p:nvSpPr>
        <p:spPr>
          <a:xfrm>
            <a:off x="254000" y="3114042"/>
            <a:ext cx="3695700" cy="1955800"/>
          </a:xfrm>
          <a:custGeom>
            <a:rect b="b" l="l" r="r" t="t"/>
            <a:pathLst>
              <a:path extrusionOk="0" h="1955800" w="3695700">
                <a:moveTo>
                  <a:pt x="101604" y="0"/>
                </a:moveTo>
                <a:lnTo>
                  <a:pt x="3594096" y="0"/>
                </a:lnTo>
                <a:cubicBezTo>
                  <a:pt x="3650210" y="0"/>
                  <a:pt x="3695700" y="45490"/>
                  <a:pt x="3695700" y="101604"/>
                </a:cubicBezTo>
                <a:lnTo>
                  <a:pt x="3695700" y="1854196"/>
                </a:lnTo>
                <a:cubicBezTo>
                  <a:pt x="3695700" y="1910310"/>
                  <a:pt x="3650210" y="1955800"/>
                  <a:pt x="3594096" y="1955800"/>
                </a:cubicBezTo>
                <a:lnTo>
                  <a:pt x="101604" y="1955800"/>
                </a:lnTo>
                <a:cubicBezTo>
                  <a:pt x="45490" y="1955800"/>
                  <a:pt x="0" y="1910310"/>
                  <a:pt x="0" y="1854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262626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6"/>
          <p:cNvSpPr/>
          <p:nvPr/>
        </p:nvSpPr>
        <p:spPr>
          <a:xfrm>
            <a:off x="1928177" y="3317242"/>
            <a:ext cx="342900" cy="457200"/>
          </a:xfrm>
          <a:custGeom>
            <a:rect b="b" l="l" r="r" t="t"/>
            <a:pathLst>
              <a:path extrusionOk="0" h="457200" w="342900">
                <a:moveTo>
                  <a:pt x="171450" y="71438"/>
                </a:moveTo>
                <a:cubicBezTo>
                  <a:pt x="199049" y="71438"/>
                  <a:pt x="221456" y="49030"/>
                  <a:pt x="221456" y="21431"/>
                </a:cubicBezTo>
                <a:cubicBezTo>
                  <a:pt x="221456" y="-6168"/>
                  <a:pt x="199049" y="-28575"/>
                  <a:pt x="171450" y="-28575"/>
                </a:cubicBezTo>
                <a:cubicBezTo>
                  <a:pt x="143851" y="-28575"/>
                  <a:pt x="121444" y="-6168"/>
                  <a:pt x="121444" y="21431"/>
                </a:cubicBezTo>
                <a:cubicBezTo>
                  <a:pt x="121444" y="49030"/>
                  <a:pt x="143851" y="71438"/>
                  <a:pt x="171450" y="71438"/>
                </a:cubicBezTo>
                <a:close/>
                <a:moveTo>
                  <a:pt x="94119" y="203508"/>
                </a:moveTo>
                <a:lnTo>
                  <a:pt x="114300" y="183326"/>
                </a:lnTo>
                <a:lnTo>
                  <a:pt x="114300" y="245209"/>
                </a:lnTo>
                <a:cubicBezTo>
                  <a:pt x="114300" y="270212"/>
                  <a:pt x="125194" y="294055"/>
                  <a:pt x="144214" y="310307"/>
                </a:cubicBezTo>
                <a:lnTo>
                  <a:pt x="207972" y="364956"/>
                </a:lnTo>
                <a:cubicBezTo>
                  <a:pt x="213241" y="369510"/>
                  <a:pt x="216724" y="375761"/>
                  <a:pt x="217706" y="382637"/>
                </a:cubicBezTo>
                <a:lnTo>
                  <a:pt x="228957" y="461308"/>
                </a:lnTo>
                <a:cubicBezTo>
                  <a:pt x="231190" y="476935"/>
                  <a:pt x="245656" y="487829"/>
                  <a:pt x="261283" y="485596"/>
                </a:cubicBezTo>
                <a:cubicBezTo>
                  <a:pt x="276910" y="483364"/>
                  <a:pt x="287804" y="468898"/>
                  <a:pt x="285571" y="453271"/>
                </a:cubicBezTo>
                <a:lnTo>
                  <a:pt x="274320" y="374600"/>
                </a:lnTo>
                <a:cubicBezTo>
                  <a:pt x="271373" y="353973"/>
                  <a:pt x="261015" y="335220"/>
                  <a:pt x="245209" y="321647"/>
                </a:cubicBezTo>
                <a:lnTo>
                  <a:pt x="214402" y="295215"/>
                </a:lnTo>
                <a:lnTo>
                  <a:pt x="214402" y="192345"/>
                </a:lnTo>
                <a:lnTo>
                  <a:pt x="217795" y="196542"/>
                </a:lnTo>
                <a:cubicBezTo>
                  <a:pt x="234047" y="216902"/>
                  <a:pt x="258693" y="228689"/>
                  <a:pt x="284768" y="228689"/>
                </a:cubicBezTo>
                <a:lnTo>
                  <a:pt x="314414" y="228689"/>
                </a:lnTo>
                <a:cubicBezTo>
                  <a:pt x="330220" y="228689"/>
                  <a:pt x="342989" y="215920"/>
                  <a:pt x="342989" y="200114"/>
                </a:cubicBezTo>
                <a:cubicBezTo>
                  <a:pt x="342989" y="184309"/>
                  <a:pt x="330220" y="171539"/>
                  <a:pt x="314414" y="171539"/>
                </a:cubicBezTo>
                <a:lnTo>
                  <a:pt x="284768" y="171539"/>
                </a:lnTo>
                <a:cubicBezTo>
                  <a:pt x="276106" y="171539"/>
                  <a:pt x="267891" y="167610"/>
                  <a:pt x="262444" y="160824"/>
                </a:cubicBezTo>
                <a:lnTo>
                  <a:pt x="246459" y="140821"/>
                </a:lnTo>
                <a:cubicBezTo>
                  <a:pt x="225921" y="115104"/>
                  <a:pt x="194756" y="100102"/>
                  <a:pt x="161806" y="100102"/>
                </a:cubicBezTo>
                <a:cubicBezTo>
                  <a:pt x="133052" y="100102"/>
                  <a:pt x="105460" y="111532"/>
                  <a:pt x="85189" y="131891"/>
                </a:cubicBezTo>
                <a:lnTo>
                  <a:pt x="53667" y="163056"/>
                </a:lnTo>
                <a:cubicBezTo>
                  <a:pt x="37594" y="179130"/>
                  <a:pt x="28575" y="200918"/>
                  <a:pt x="28575" y="223689"/>
                </a:cubicBezTo>
                <a:lnTo>
                  <a:pt x="28575" y="257175"/>
                </a:lnTo>
                <a:cubicBezTo>
                  <a:pt x="28575" y="272981"/>
                  <a:pt x="41344" y="285750"/>
                  <a:pt x="57150" y="285750"/>
                </a:cubicBezTo>
                <a:cubicBezTo>
                  <a:pt x="72956" y="285750"/>
                  <a:pt x="85725" y="272981"/>
                  <a:pt x="85725" y="257175"/>
                </a:cubicBezTo>
                <a:lnTo>
                  <a:pt x="85725" y="223689"/>
                </a:lnTo>
                <a:cubicBezTo>
                  <a:pt x="85725" y="216098"/>
                  <a:pt x="88761" y="208865"/>
                  <a:pt x="94119" y="203508"/>
                </a:cubicBezTo>
                <a:close/>
                <a:moveTo>
                  <a:pt x="105192" y="363706"/>
                </a:moveTo>
                <a:cubicBezTo>
                  <a:pt x="103852" y="368350"/>
                  <a:pt x="101352" y="372636"/>
                  <a:pt x="97959" y="376029"/>
                </a:cubicBezTo>
                <a:lnTo>
                  <a:pt x="36969" y="437019"/>
                </a:lnTo>
                <a:cubicBezTo>
                  <a:pt x="25807" y="448181"/>
                  <a:pt x="25807" y="466308"/>
                  <a:pt x="36969" y="477470"/>
                </a:cubicBezTo>
                <a:cubicBezTo>
                  <a:pt x="48131" y="488632"/>
                  <a:pt x="66258" y="488632"/>
                  <a:pt x="77420" y="477470"/>
                </a:cubicBezTo>
                <a:lnTo>
                  <a:pt x="138410" y="416481"/>
                </a:lnTo>
                <a:cubicBezTo>
                  <a:pt x="148679" y="406211"/>
                  <a:pt x="156180" y="393442"/>
                  <a:pt x="160199" y="379422"/>
                </a:cubicBezTo>
                <a:lnTo>
                  <a:pt x="162163" y="372636"/>
                </a:lnTo>
                <a:lnTo>
                  <a:pt x="121087" y="337453"/>
                </a:lnTo>
                <a:cubicBezTo>
                  <a:pt x="118854" y="335488"/>
                  <a:pt x="116622" y="333524"/>
                  <a:pt x="114479" y="331381"/>
                </a:cubicBezTo>
                <a:lnTo>
                  <a:pt x="105192" y="363706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6"/>
          <p:cNvSpPr/>
          <p:nvPr/>
        </p:nvSpPr>
        <p:spPr>
          <a:xfrm>
            <a:off x="203200" y="3926842"/>
            <a:ext cx="37973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PIR Motion</a:t>
            </a:r>
            <a:endParaRPr b="0" i="0" sz="1600" u="none" cap="none" strike="noStrike"/>
          </a:p>
        </p:txBody>
      </p:sp>
      <p:sp>
        <p:nvSpPr>
          <p:cNvPr id="195" name="Google Shape;195;p16"/>
          <p:cNvSpPr/>
          <p:nvPr/>
        </p:nvSpPr>
        <p:spPr>
          <a:xfrm>
            <a:off x="457200" y="4333242"/>
            <a:ext cx="32893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HC-SR501 for person/object following.</a:t>
            </a:r>
            <a:endParaRPr b="0" i="0" sz="1600" u="none" cap="none" strike="noStrike"/>
          </a:p>
        </p:txBody>
      </p:sp>
      <p:sp>
        <p:nvSpPr>
          <p:cNvPr id="196" name="Google Shape;196;p16"/>
          <p:cNvSpPr/>
          <p:nvPr/>
        </p:nvSpPr>
        <p:spPr>
          <a:xfrm>
            <a:off x="4250214" y="3114042"/>
            <a:ext cx="3695700" cy="1955800"/>
          </a:xfrm>
          <a:custGeom>
            <a:rect b="b" l="l" r="r" t="t"/>
            <a:pathLst>
              <a:path extrusionOk="0" h="1955800" w="3695700">
                <a:moveTo>
                  <a:pt x="101604" y="0"/>
                </a:moveTo>
                <a:lnTo>
                  <a:pt x="3594096" y="0"/>
                </a:lnTo>
                <a:cubicBezTo>
                  <a:pt x="3650210" y="0"/>
                  <a:pt x="3695700" y="45490"/>
                  <a:pt x="3695700" y="101604"/>
                </a:cubicBezTo>
                <a:lnTo>
                  <a:pt x="3695700" y="1854196"/>
                </a:lnTo>
                <a:cubicBezTo>
                  <a:pt x="3695700" y="1910310"/>
                  <a:pt x="3650210" y="1955800"/>
                  <a:pt x="3594096" y="1955800"/>
                </a:cubicBezTo>
                <a:lnTo>
                  <a:pt x="101604" y="1955800"/>
                </a:lnTo>
                <a:cubicBezTo>
                  <a:pt x="45490" y="1955800"/>
                  <a:pt x="0" y="1910310"/>
                  <a:pt x="0" y="1854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8C8C8C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6"/>
          <p:cNvSpPr/>
          <p:nvPr/>
        </p:nvSpPr>
        <p:spPr>
          <a:xfrm>
            <a:off x="5838666" y="3317242"/>
            <a:ext cx="514350" cy="457200"/>
          </a:xfrm>
          <a:custGeom>
            <a:rect b="b" l="l" r="r" t="t"/>
            <a:pathLst>
              <a:path extrusionOk="0" h="457200" w="514350">
                <a:moveTo>
                  <a:pt x="42863" y="342900"/>
                </a:moveTo>
                <a:cubicBezTo>
                  <a:pt x="19199" y="342900"/>
                  <a:pt x="0" y="323701"/>
                  <a:pt x="0" y="300038"/>
                </a:cubicBezTo>
                <a:lnTo>
                  <a:pt x="0" y="157163"/>
                </a:lnTo>
                <a:cubicBezTo>
                  <a:pt x="0" y="133499"/>
                  <a:pt x="19199" y="114300"/>
                  <a:pt x="42863" y="114300"/>
                </a:cubicBezTo>
                <a:lnTo>
                  <a:pt x="64294" y="114300"/>
                </a:lnTo>
                <a:lnTo>
                  <a:pt x="64294" y="207169"/>
                </a:lnTo>
                <a:cubicBezTo>
                  <a:pt x="64294" y="219045"/>
                  <a:pt x="73849" y="228600"/>
                  <a:pt x="85725" y="228600"/>
                </a:cubicBezTo>
                <a:cubicBezTo>
                  <a:pt x="97601" y="228600"/>
                  <a:pt x="107156" y="219045"/>
                  <a:pt x="107156" y="207169"/>
                </a:cubicBezTo>
                <a:lnTo>
                  <a:pt x="107156" y="114300"/>
                </a:lnTo>
                <a:lnTo>
                  <a:pt x="150019" y="114300"/>
                </a:lnTo>
                <a:lnTo>
                  <a:pt x="150019" y="178594"/>
                </a:lnTo>
                <a:cubicBezTo>
                  <a:pt x="150019" y="190470"/>
                  <a:pt x="159574" y="200025"/>
                  <a:pt x="171450" y="200025"/>
                </a:cubicBezTo>
                <a:cubicBezTo>
                  <a:pt x="183326" y="200025"/>
                  <a:pt x="192881" y="190470"/>
                  <a:pt x="192881" y="178594"/>
                </a:cubicBezTo>
                <a:lnTo>
                  <a:pt x="192881" y="114300"/>
                </a:lnTo>
                <a:lnTo>
                  <a:pt x="235744" y="114300"/>
                </a:lnTo>
                <a:lnTo>
                  <a:pt x="235744" y="207169"/>
                </a:lnTo>
                <a:cubicBezTo>
                  <a:pt x="235744" y="219045"/>
                  <a:pt x="245299" y="228600"/>
                  <a:pt x="257175" y="228600"/>
                </a:cubicBezTo>
                <a:cubicBezTo>
                  <a:pt x="269051" y="228600"/>
                  <a:pt x="278606" y="219045"/>
                  <a:pt x="278606" y="207169"/>
                </a:cubicBezTo>
                <a:lnTo>
                  <a:pt x="278606" y="114300"/>
                </a:lnTo>
                <a:lnTo>
                  <a:pt x="321469" y="114300"/>
                </a:lnTo>
                <a:lnTo>
                  <a:pt x="321469" y="178594"/>
                </a:lnTo>
                <a:cubicBezTo>
                  <a:pt x="321469" y="190470"/>
                  <a:pt x="331024" y="200025"/>
                  <a:pt x="342900" y="200025"/>
                </a:cubicBezTo>
                <a:cubicBezTo>
                  <a:pt x="354776" y="200025"/>
                  <a:pt x="364331" y="190470"/>
                  <a:pt x="364331" y="178594"/>
                </a:cubicBezTo>
                <a:lnTo>
                  <a:pt x="364331" y="114300"/>
                </a:lnTo>
                <a:lnTo>
                  <a:pt x="407194" y="114300"/>
                </a:lnTo>
                <a:lnTo>
                  <a:pt x="407194" y="207169"/>
                </a:lnTo>
                <a:cubicBezTo>
                  <a:pt x="407194" y="219045"/>
                  <a:pt x="416749" y="228600"/>
                  <a:pt x="428625" y="228600"/>
                </a:cubicBezTo>
                <a:cubicBezTo>
                  <a:pt x="440501" y="228600"/>
                  <a:pt x="450056" y="219045"/>
                  <a:pt x="450056" y="207169"/>
                </a:cubicBezTo>
                <a:lnTo>
                  <a:pt x="450056" y="114300"/>
                </a:lnTo>
                <a:lnTo>
                  <a:pt x="471488" y="114300"/>
                </a:lnTo>
                <a:cubicBezTo>
                  <a:pt x="495151" y="114300"/>
                  <a:pt x="514350" y="133499"/>
                  <a:pt x="514350" y="157163"/>
                </a:cubicBezTo>
                <a:lnTo>
                  <a:pt x="514350" y="300038"/>
                </a:lnTo>
                <a:cubicBezTo>
                  <a:pt x="514350" y="323701"/>
                  <a:pt x="495151" y="342900"/>
                  <a:pt x="471488" y="342900"/>
                </a:cubicBezTo>
                <a:lnTo>
                  <a:pt x="42863" y="342900"/>
                </a:lnTo>
                <a:close/>
              </a:path>
            </a:pathLst>
          </a:custGeom>
          <a:solidFill>
            <a:srgbClr val="8C8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6"/>
          <p:cNvSpPr/>
          <p:nvPr/>
        </p:nvSpPr>
        <p:spPr>
          <a:xfrm>
            <a:off x="4199414" y="3926842"/>
            <a:ext cx="37973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Ultrasonic Distance</a:t>
            </a:r>
            <a:endParaRPr b="0" i="0" sz="1600" u="none" cap="none" strike="noStrike"/>
          </a:p>
        </p:txBody>
      </p:sp>
      <p:sp>
        <p:nvSpPr>
          <p:cNvPr id="199" name="Google Shape;199;p16"/>
          <p:cNvSpPr/>
          <p:nvPr/>
        </p:nvSpPr>
        <p:spPr>
          <a:xfrm>
            <a:off x="4199414" y="4333242"/>
            <a:ext cx="37973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HC-SR04 for precise obstacle ranging.</a:t>
            </a:r>
            <a:endParaRPr b="0" i="0" sz="1600" u="none" cap="none" strike="noStrike"/>
          </a:p>
        </p:txBody>
      </p:sp>
      <p:sp>
        <p:nvSpPr>
          <p:cNvPr id="200" name="Google Shape;200;p16"/>
          <p:cNvSpPr/>
          <p:nvPr/>
        </p:nvSpPr>
        <p:spPr>
          <a:xfrm>
            <a:off x="8246428" y="3114042"/>
            <a:ext cx="3670300" cy="1930400"/>
          </a:xfrm>
          <a:custGeom>
            <a:rect b="b" l="l" r="r" t="t"/>
            <a:pathLst>
              <a:path extrusionOk="0" h="1930400" w="3670300">
                <a:moveTo>
                  <a:pt x="101597" y="0"/>
                </a:moveTo>
                <a:lnTo>
                  <a:pt x="3568703" y="0"/>
                </a:lnTo>
                <a:cubicBezTo>
                  <a:pt x="3624813" y="0"/>
                  <a:pt x="3670300" y="45487"/>
                  <a:pt x="3670300" y="101597"/>
                </a:cubicBezTo>
                <a:lnTo>
                  <a:pt x="3670300" y="1828803"/>
                </a:lnTo>
                <a:cubicBezTo>
                  <a:pt x="3670300" y="1884913"/>
                  <a:pt x="3624813" y="1930400"/>
                  <a:pt x="3568703" y="1930400"/>
                </a:cubicBezTo>
                <a:lnTo>
                  <a:pt x="101597" y="1930400"/>
                </a:lnTo>
                <a:cubicBezTo>
                  <a:pt x="45487" y="1930400"/>
                  <a:pt x="0" y="1884913"/>
                  <a:pt x="0" y="18288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FFFFFF">
              <a:alpha val="9803"/>
            </a:srgbClr>
          </a:solidFill>
          <a:ln cap="flat" cmpd="sng" w="10150">
            <a:solidFill>
              <a:srgbClr val="FFFFFF">
                <a:alpha val="4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6"/>
          <p:cNvSpPr/>
          <p:nvPr/>
        </p:nvSpPr>
        <p:spPr>
          <a:xfrm>
            <a:off x="9920764" y="3327400"/>
            <a:ext cx="342900" cy="457200"/>
          </a:xfrm>
          <a:custGeom>
            <a:rect b="b" l="l" r="r" t="t"/>
            <a:pathLst>
              <a:path extrusionOk="0" h="457200" w="342900">
                <a:moveTo>
                  <a:pt x="85725" y="85725"/>
                </a:moveTo>
                <a:cubicBezTo>
                  <a:pt x="85725" y="38398"/>
                  <a:pt x="124123" y="0"/>
                  <a:pt x="171450" y="0"/>
                </a:cubicBezTo>
                <a:cubicBezTo>
                  <a:pt x="216366" y="0"/>
                  <a:pt x="253246" y="34558"/>
                  <a:pt x="256907" y="78581"/>
                </a:cubicBezTo>
                <a:lnTo>
                  <a:pt x="207169" y="78581"/>
                </a:lnTo>
                <a:cubicBezTo>
                  <a:pt x="195292" y="78581"/>
                  <a:pt x="185738" y="88136"/>
                  <a:pt x="185738" y="100013"/>
                </a:cubicBezTo>
                <a:cubicBezTo>
                  <a:pt x="185738" y="111889"/>
                  <a:pt x="195292" y="121444"/>
                  <a:pt x="207169" y="121444"/>
                </a:cubicBezTo>
                <a:lnTo>
                  <a:pt x="257175" y="121444"/>
                </a:lnTo>
                <a:lnTo>
                  <a:pt x="257175" y="164306"/>
                </a:lnTo>
                <a:lnTo>
                  <a:pt x="207169" y="164306"/>
                </a:lnTo>
                <a:cubicBezTo>
                  <a:pt x="195292" y="164306"/>
                  <a:pt x="185738" y="173861"/>
                  <a:pt x="185738" y="185738"/>
                </a:cubicBezTo>
                <a:cubicBezTo>
                  <a:pt x="185738" y="197614"/>
                  <a:pt x="195292" y="207169"/>
                  <a:pt x="207169" y="207169"/>
                </a:cubicBezTo>
                <a:lnTo>
                  <a:pt x="256907" y="207169"/>
                </a:lnTo>
                <a:cubicBezTo>
                  <a:pt x="253246" y="251192"/>
                  <a:pt x="216456" y="285750"/>
                  <a:pt x="171450" y="285750"/>
                </a:cubicBezTo>
                <a:cubicBezTo>
                  <a:pt x="124123" y="285750"/>
                  <a:pt x="85725" y="247352"/>
                  <a:pt x="85725" y="200025"/>
                </a:cubicBezTo>
                <a:lnTo>
                  <a:pt x="85725" y="85725"/>
                </a:lnTo>
                <a:close/>
                <a:moveTo>
                  <a:pt x="21431" y="142875"/>
                </a:moveTo>
                <a:cubicBezTo>
                  <a:pt x="33308" y="142875"/>
                  <a:pt x="42863" y="152430"/>
                  <a:pt x="42863" y="164306"/>
                </a:cubicBezTo>
                <a:lnTo>
                  <a:pt x="42863" y="200025"/>
                </a:lnTo>
                <a:cubicBezTo>
                  <a:pt x="42863" y="271016"/>
                  <a:pt x="100459" y="328613"/>
                  <a:pt x="171450" y="328613"/>
                </a:cubicBezTo>
                <a:cubicBezTo>
                  <a:pt x="242441" y="328613"/>
                  <a:pt x="300038" y="271016"/>
                  <a:pt x="300038" y="200025"/>
                </a:cubicBezTo>
                <a:lnTo>
                  <a:pt x="300038" y="164306"/>
                </a:lnTo>
                <a:cubicBezTo>
                  <a:pt x="300038" y="152430"/>
                  <a:pt x="309592" y="142875"/>
                  <a:pt x="321469" y="142875"/>
                </a:cubicBezTo>
                <a:cubicBezTo>
                  <a:pt x="333345" y="142875"/>
                  <a:pt x="342900" y="152430"/>
                  <a:pt x="342900" y="164306"/>
                </a:cubicBezTo>
                <a:lnTo>
                  <a:pt x="342900" y="200025"/>
                </a:lnTo>
                <a:cubicBezTo>
                  <a:pt x="342900" y="287447"/>
                  <a:pt x="277445" y="359599"/>
                  <a:pt x="192881" y="370136"/>
                </a:cubicBezTo>
                <a:lnTo>
                  <a:pt x="192881" y="414338"/>
                </a:lnTo>
                <a:lnTo>
                  <a:pt x="235744" y="414338"/>
                </a:lnTo>
                <a:cubicBezTo>
                  <a:pt x="247620" y="414338"/>
                  <a:pt x="257175" y="423892"/>
                  <a:pt x="257175" y="435769"/>
                </a:cubicBezTo>
                <a:cubicBezTo>
                  <a:pt x="257175" y="447645"/>
                  <a:pt x="247620" y="457200"/>
                  <a:pt x="235744" y="457200"/>
                </a:cubicBezTo>
                <a:lnTo>
                  <a:pt x="107156" y="457200"/>
                </a:lnTo>
                <a:cubicBezTo>
                  <a:pt x="95280" y="457200"/>
                  <a:pt x="85725" y="447645"/>
                  <a:pt x="85725" y="435769"/>
                </a:cubicBezTo>
                <a:cubicBezTo>
                  <a:pt x="85725" y="423892"/>
                  <a:pt x="95280" y="414338"/>
                  <a:pt x="107156" y="414338"/>
                </a:cubicBezTo>
                <a:lnTo>
                  <a:pt x="150019" y="414338"/>
                </a:lnTo>
                <a:lnTo>
                  <a:pt x="150019" y="370136"/>
                </a:lnTo>
                <a:cubicBezTo>
                  <a:pt x="65455" y="359599"/>
                  <a:pt x="0" y="287447"/>
                  <a:pt x="0" y="200025"/>
                </a:cubicBezTo>
                <a:lnTo>
                  <a:pt x="0" y="164306"/>
                </a:lnTo>
                <a:cubicBezTo>
                  <a:pt x="0" y="152430"/>
                  <a:pt x="9555" y="142875"/>
                  <a:pt x="21431" y="142875"/>
                </a:cubicBez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6"/>
          <p:cNvSpPr/>
          <p:nvPr/>
        </p:nvSpPr>
        <p:spPr>
          <a:xfrm>
            <a:off x="8205788" y="3937000"/>
            <a:ext cx="3771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Acoustic Localization</a:t>
            </a:r>
            <a:endParaRPr b="0" i="0" sz="1600" u="none" cap="none" strike="noStrike"/>
          </a:p>
        </p:txBody>
      </p:sp>
      <p:sp>
        <p:nvSpPr>
          <p:cNvPr id="203" name="Google Shape;203;p16"/>
          <p:cNvSpPr/>
          <p:nvPr/>
        </p:nvSpPr>
        <p:spPr>
          <a:xfrm>
            <a:off x="8459788" y="4343400"/>
            <a:ext cx="32639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MAX4466 mics for sound source tracking via TDOA.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7"/>
          <p:cNvSpPr/>
          <p:nvPr/>
        </p:nvSpPr>
        <p:spPr>
          <a:xfrm>
            <a:off x="254000" y="254000"/>
            <a:ext cx="5638800" cy="6350000"/>
          </a:xfrm>
          <a:custGeom>
            <a:rect b="b" l="l" r="r" t="t"/>
            <a:pathLst>
              <a:path extrusionOk="0" h="6350000" w="5638800">
                <a:moveTo>
                  <a:pt x="101611" y="0"/>
                </a:moveTo>
                <a:lnTo>
                  <a:pt x="5537189" y="0"/>
                </a:lnTo>
                <a:cubicBezTo>
                  <a:pt x="5593307" y="0"/>
                  <a:pt x="5638800" y="45493"/>
                  <a:pt x="5638800" y="101611"/>
                </a:cubicBezTo>
                <a:lnTo>
                  <a:pt x="5638800" y="6248389"/>
                </a:lnTo>
                <a:cubicBezTo>
                  <a:pt x="5638800" y="6304507"/>
                  <a:pt x="5593307" y="6350000"/>
                  <a:pt x="5537189" y="6350000"/>
                </a:cubicBezTo>
                <a:lnTo>
                  <a:pt x="101611" y="6350000"/>
                </a:lnTo>
                <a:cubicBezTo>
                  <a:pt x="45493" y="6350000"/>
                  <a:pt x="0" y="6304507"/>
                  <a:pt x="0" y="62483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solidFill>
            <a:srgbClr val="262626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7"/>
          <p:cNvSpPr/>
          <p:nvPr/>
        </p:nvSpPr>
        <p:spPr>
          <a:xfrm>
            <a:off x="2692400" y="2159000"/>
            <a:ext cx="762000" cy="609600"/>
          </a:xfrm>
          <a:custGeom>
            <a:rect b="b" l="l" r="r" t="t"/>
            <a:pathLst>
              <a:path extrusionOk="0" h="609600" w="762000">
                <a:moveTo>
                  <a:pt x="685800" y="57150"/>
                </a:moveTo>
                <a:cubicBezTo>
                  <a:pt x="685800" y="43934"/>
                  <a:pt x="679013" y="31671"/>
                  <a:pt x="667702" y="24765"/>
                </a:cubicBezTo>
                <a:cubicBezTo>
                  <a:pt x="656392" y="17859"/>
                  <a:pt x="642461" y="17145"/>
                  <a:pt x="630674" y="23098"/>
                </a:cubicBezTo>
                <a:lnTo>
                  <a:pt x="492323" y="92273"/>
                </a:lnTo>
                <a:lnTo>
                  <a:pt x="278725" y="20955"/>
                </a:lnTo>
                <a:cubicBezTo>
                  <a:pt x="269081" y="17740"/>
                  <a:pt x="258723" y="18455"/>
                  <a:pt x="249674" y="22979"/>
                </a:cubicBezTo>
                <a:lnTo>
                  <a:pt x="97274" y="99179"/>
                </a:lnTo>
                <a:cubicBezTo>
                  <a:pt x="84296" y="105728"/>
                  <a:pt x="76200" y="118943"/>
                  <a:pt x="76200" y="133350"/>
                </a:cubicBezTo>
                <a:lnTo>
                  <a:pt x="76200" y="552450"/>
                </a:lnTo>
                <a:cubicBezTo>
                  <a:pt x="76200" y="565666"/>
                  <a:pt x="82987" y="577929"/>
                  <a:pt x="94298" y="584835"/>
                </a:cubicBezTo>
                <a:cubicBezTo>
                  <a:pt x="105608" y="591741"/>
                  <a:pt x="119539" y="592455"/>
                  <a:pt x="131326" y="586502"/>
                </a:cubicBezTo>
                <a:lnTo>
                  <a:pt x="269558" y="517327"/>
                </a:lnTo>
                <a:lnTo>
                  <a:pt x="475893" y="586145"/>
                </a:lnTo>
                <a:cubicBezTo>
                  <a:pt x="470773" y="578525"/>
                  <a:pt x="465773" y="570548"/>
                  <a:pt x="460891" y="562451"/>
                </a:cubicBezTo>
                <a:cubicBezTo>
                  <a:pt x="447794" y="540663"/>
                  <a:pt x="434816" y="515660"/>
                  <a:pt x="425172" y="488871"/>
                </a:cubicBezTo>
                <a:lnTo>
                  <a:pt x="304681" y="448747"/>
                </a:lnTo>
                <a:lnTo>
                  <a:pt x="304681" y="110014"/>
                </a:lnTo>
                <a:lnTo>
                  <a:pt x="457081" y="160853"/>
                </a:lnTo>
                <a:lnTo>
                  <a:pt x="457081" y="279083"/>
                </a:lnTo>
                <a:cubicBezTo>
                  <a:pt x="493990" y="236458"/>
                  <a:pt x="548759" y="209550"/>
                  <a:pt x="609481" y="209550"/>
                </a:cubicBezTo>
                <a:cubicBezTo>
                  <a:pt x="636389" y="209550"/>
                  <a:pt x="662107" y="214789"/>
                  <a:pt x="685681" y="224433"/>
                </a:cubicBezTo>
                <a:lnTo>
                  <a:pt x="685800" y="57150"/>
                </a:lnTo>
                <a:close/>
                <a:moveTo>
                  <a:pt x="609600" y="266700"/>
                </a:moveTo>
                <a:cubicBezTo>
                  <a:pt x="530662" y="266700"/>
                  <a:pt x="466725" y="329565"/>
                  <a:pt x="466725" y="407075"/>
                </a:cubicBezTo>
                <a:cubicBezTo>
                  <a:pt x="466725" y="489109"/>
                  <a:pt x="543044" y="586145"/>
                  <a:pt x="584121" y="632460"/>
                </a:cubicBezTo>
                <a:cubicBezTo>
                  <a:pt x="597932" y="647938"/>
                  <a:pt x="621387" y="647938"/>
                  <a:pt x="635198" y="632460"/>
                </a:cubicBezTo>
                <a:cubicBezTo>
                  <a:pt x="676275" y="586145"/>
                  <a:pt x="752594" y="489109"/>
                  <a:pt x="752594" y="407075"/>
                </a:cubicBezTo>
                <a:cubicBezTo>
                  <a:pt x="752594" y="329565"/>
                  <a:pt x="688658" y="266700"/>
                  <a:pt x="609719" y="266700"/>
                </a:cubicBezTo>
                <a:close/>
                <a:moveTo>
                  <a:pt x="561975" y="409575"/>
                </a:moveTo>
                <a:cubicBezTo>
                  <a:pt x="561975" y="383290"/>
                  <a:pt x="583315" y="361950"/>
                  <a:pt x="609600" y="361950"/>
                </a:cubicBezTo>
                <a:cubicBezTo>
                  <a:pt x="635885" y="361950"/>
                  <a:pt x="657225" y="383290"/>
                  <a:pt x="657225" y="409575"/>
                </a:cubicBezTo>
                <a:cubicBezTo>
                  <a:pt x="657225" y="435860"/>
                  <a:pt x="635885" y="457200"/>
                  <a:pt x="609600" y="457200"/>
                </a:cubicBezTo>
                <a:cubicBezTo>
                  <a:pt x="583315" y="457200"/>
                  <a:pt x="561975" y="435860"/>
                  <a:pt x="561975" y="409575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7"/>
          <p:cNvSpPr/>
          <p:nvPr/>
        </p:nvSpPr>
        <p:spPr>
          <a:xfrm>
            <a:off x="304800" y="2971800"/>
            <a:ext cx="55372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Global Positioning</a:t>
            </a:r>
            <a:endParaRPr b="0" i="0" sz="1600" u="none" cap="none" strike="noStrike"/>
          </a:p>
        </p:txBody>
      </p:sp>
      <p:sp>
        <p:nvSpPr>
          <p:cNvPr id="212" name="Google Shape;212;p17"/>
          <p:cNvSpPr/>
          <p:nvPr/>
        </p:nvSpPr>
        <p:spPr>
          <a:xfrm>
            <a:off x="558800" y="3479645"/>
            <a:ext cx="50292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The NEO-6M GPS module provides essential outdoor localization, enabling autonomous navigation over larger areas and geo-fenced operations.</a:t>
            </a:r>
            <a:endParaRPr b="0" i="0" sz="1600" u="none" cap="none" strike="noStrike"/>
          </a:p>
        </p:txBody>
      </p:sp>
      <p:sp>
        <p:nvSpPr>
          <p:cNvPr id="213" name="Google Shape;213;p17"/>
          <p:cNvSpPr/>
          <p:nvPr/>
        </p:nvSpPr>
        <p:spPr>
          <a:xfrm>
            <a:off x="6299200" y="254000"/>
            <a:ext cx="5638800" cy="6350000"/>
          </a:xfrm>
          <a:custGeom>
            <a:rect b="b" l="l" r="r" t="t"/>
            <a:pathLst>
              <a:path extrusionOk="0" h="6350000" w="5638800">
                <a:moveTo>
                  <a:pt x="101611" y="0"/>
                </a:moveTo>
                <a:lnTo>
                  <a:pt x="5537189" y="0"/>
                </a:lnTo>
                <a:cubicBezTo>
                  <a:pt x="5593307" y="0"/>
                  <a:pt x="5638800" y="45493"/>
                  <a:pt x="5638800" y="101611"/>
                </a:cubicBezTo>
                <a:lnTo>
                  <a:pt x="5638800" y="6248389"/>
                </a:lnTo>
                <a:cubicBezTo>
                  <a:pt x="5638800" y="6304507"/>
                  <a:pt x="5593307" y="6350000"/>
                  <a:pt x="5537189" y="6350000"/>
                </a:cubicBezTo>
                <a:lnTo>
                  <a:pt x="101611" y="6350000"/>
                </a:lnTo>
                <a:cubicBezTo>
                  <a:pt x="45493" y="6350000"/>
                  <a:pt x="0" y="6304507"/>
                  <a:pt x="0" y="62483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solidFill>
            <a:srgbClr val="8C8C8C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7"/>
          <p:cNvSpPr/>
          <p:nvPr/>
        </p:nvSpPr>
        <p:spPr>
          <a:xfrm>
            <a:off x="8737600" y="2311400"/>
            <a:ext cx="762000" cy="609600"/>
          </a:xfrm>
          <a:custGeom>
            <a:rect b="b" l="l" r="r" t="t"/>
            <a:pathLst>
              <a:path extrusionOk="0" h="609600" w="762000">
                <a:moveTo>
                  <a:pt x="635318" y="38695"/>
                </a:moveTo>
                <a:cubicBezTo>
                  <a:pt x="623054" y="28694"/>
                  <a:pt x="605076" y="30599"/>
                  <a:pt x="595074" y="42863"/>
                </a:cubicBezTo>
                <a:cubicBezTo>
                  <a:pt x="585073" y="55126"/>
                  <a:pt x="586978" y="73104"/>
                  <a:pt x="599242" y="83106"/>
                </a:cubicBezTo>
                <a:cubicBezTo>
                  <a:pt x="663773" y="135493"/>
                  <a:pt x="704850" y="215265"/>
                  <a:pt x="704850" y="304800"/>
                </a:cubicBezTo>
                <a:cubicBezTo>
                  <a:pt x="704850" y="394335"/>
                  <a:pt x="663773" y="474107"/>
                  <a:pt x="599242" y="526613"/>
                </a:cubicBezTo>
                <a:cubicBezTo>
                  <a:pt x="586978" y="536615"/>
                  <a:pt x="585192" y="554593"/>
                  <a:pt x="595074" y="566857"/>
                </a:cubicBezTo>
                <a:cubicBezTo>
                  <a:pt x="604957" y="579120"/>
                  <a:pt x="623054" y="580906"/>
                  <a:pt x="635318" y="571024"/>
                </a:cubicBezTo>
                <a:cubicBezTo>
                  <a:pt x="712589" y="508040"/>
                  <a:pt x="762000" y="412194"/>
                  <a:pt x="762000" y="304800"/>
                </a:cubicBezTo>
                <a:cubicBezTo>
                  <a:pt x="762000" y="197406"/>
                  <a:pt x="712589" y="101441"/>
                  <a:pt x="635318" y="38695"/>
                </a:cubicBezTo>
                <a:close/>
                <a:moveTo>
                  <a:pt x="563285" y="127397"/>
                </a:moveTo>
                <a:cubicBezTo>
                  <a:pt x="551021" y="117396"/>
                  <a:pt x="533043" y="119301"/>
                  <a:pt x="523042" y="131564"/>
                </a:cubicBezTo>
                <a:cubicBezTo>
                  <a:pt x="513040" y="143828"/>
                  <a:pt x="514945" y="161806"/>
                  <a:pt x="527209" y="171807"/>
                </a:cubicBezTo>
                <a:cubicBezTo>
                  <a:pt x="565904" y="203240"/>
                  <a:pt x="590550" y="251103"/>
                  <a:pt x="590550" y="304800"/>
                </a:cubicBezTo>
                <a:cubicBezTo>
                  <a:pt x="590550" y="358497"/>
                  <a:pt x="565904" y="406360"/>
                  <a:pt x="527209" y="437912"/>
                </a:cubicBezTo>
                <a:cubicBezTo>
                  <a:pt x="514945" y="447913"/>
                  <a:pt x="513159" y="465892"/>
                  <a:pt x="523042" y="478155"/>
                </a:cubicBezTo>
                <a:cubicBezTo>
                  <a:pt x="532924" y="490418"/>
                  <a:pt x="551021" y="492204"/>
                  <a:pt x="563285" y="482322"/>
                </a:cubicBezTo>
                <a:cubicBezTo>
                  <a:pt x="614720" y="440412"/>
                  <a:pt x="647700" y="376476"/>
                  <a:pt x="647700" y="304919"/>
                </a:cubicBezTo>
                <a:cubicBezTo>
                  <a:pt x="647700" y="233363"/>
                  <a:pt x="614720" y="169426"/>
                  <a:pt x="563285" y="127516"/>
                </a:cubicBezTo>
                <a:close/>
                <a:moveTo>
                  <a:pt x="491252" y="216098"/>
                </a:moveTo>
                <a:cubicBezTo>
                  <a:pt x="478988" y="206097"/>
                  <a:pt x="461010" y="208002"/>
                  <a:pt x="451009" y="220266"/>
                </a:cubicBezTo>
                <a:cubicBezTo>
                  <a:pt x="441007" y="232529"/>
                  <a:pt x="442913" y="250508"/>
                  <a:pt x="455176" y="260509"/>
                </a:cubicBezTo>
                <a:cubicBezTo>
                  <a:pt x="468035" y="270986"/>
                  <a:pt x="476250" y="286941"/>
                  <a:pt x="476250" y="304800"/>
                </a:cubicBezTo>
                <a:cubicBezTo>
                  <a:pt x="476250" y="322659"/>
                  <a:pt x="468035" y="338614"/>
                  <a:pt x="455176" y="349210"/>
                </a:cubicBezTo>
                <a:cubicBezTo>
                  <a:pt x="442913" y="359212"/>
                  <a:pt x="441127" y="377190"/>
                  <a:pt x="451009" y="389453"/>
                </a:cubicBezTo>
                <a:cubicBezTo>
                  <a:pt x="460891" y="401717"/>
                  <a:pt x="478988" y="403503"/>
                  <a:pt x="491252" y="393621"/>
                </a:cubicBezTo>
                <a:cubicBezTo>
                  <a:pt x="516850" y="372547"/>
                  <a:pt x="533400" y="340638"/>
                  <a:pt x="533400" y="304800"/>
                </a:cubicBezTo>
                <a:cubicBezTo>
                  <a:pt x="533400" y="268962"/>
                  <a:pt x="516850" y="237053"/>
                  <a:pt x="491252" y="216098"/>
                </a:cubicBezTo>
                <a:close/>
                <a:moveTo>
                  <a:pt x="95250" y="419100"/>
                </a:moveTo>
                <a:lnTo>
                  <a:pt x="152400" y="419100"/>
                </a:lnTo>
                <a:lnTo>
                  <a:pt x="312063" y="561023"/>
                </a:lnTo>
                <a:cubicBezTo>
                  <a:pt x="319683" y="567809"/>
                  <a:pt x="329446" y="571500"/>
                  <a:pt x="339566" y="571500"/>
                </a:cubicBezTo>
                <a:cubicBezTo>
                  <a:pt x="362426" y="571500"/>
                  <a:pt x="381000" y="552926"/>
                  <a:pt x="381000" y="530066"/>
                </a:cubicBezTo>
                <a:lnTo>
                  <a:pt x="381000" y="79534"/>
                </a:lnTo>
                <a:cubicBezTo>
                  <a:pt x="381000" y="56674"/>
                  <a:pt x="362426" y="38100"/>
                  <a:pt x="339566" y="38100"/>
                </a:cubicBezTo>
                <a:cubicBezTo>
                  <a:pt x="329446" y="38100"/>
                  <a:pt x="319683" y="41791"/>
                  <a:pt x="312063" y="48578"/>
                </a:cubicBezTo>
                <a:lnTo>
                  <a:pt x="152400" y="190500"/>
                </a:lnTo>
                <a:lnTo>
                  <a:pt x="95250" y="190500"/>
                </a:lnTo>
                <a:cubicBezTo>
                  <a:pt x="63698" y="190500"/>
                  <a:pt x="38100" y="216098"/>
                  <a:pt x="38100" y="247650"/>
                </a:cubicBezTo>
                <a:lnTo>
                  <a:pt x="38100" y="361950"/>
                </a:lnTo>
                <a:cubicBezTo>
                  <a:pt x="38100" y="393502"/>
                  <a:pt x="63698" y="419100"/>
                  <a:pt x="95250" y="419100"/>
                </a:cubicBezTo>
                <a:close/>
              </a:path>
            </a:pathLst>
          </a:custGeom>
          <a:solidFill>
            <a:srgbClr val="8C8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7"/>
          <p:cNvSpPr/>
          <p:nvPr/>
        </p:nvSpPr>
        <p:spPr>
          <a:xfrm>
            <a:off x="6350000" y="3124200"/>
            <a:ext cx="55372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Voice Interaction</a:t>
            </a:r>
            <a:endParaRPr b="0" i="0" sz="1600" u="none" cap="none" strike="noStrike"/>
          </a:p>
        </p:txBody>
      </p:sp>
      <p:sp>
        <p:nvSpPr>
          <p:cNvPr id="216" name="Google Shape;216;p17"/>
          <p:cNvSpPr/>
          <p:nvPr/>
        </p:nvSpPr>
        <p:spPr>
          <a:xfrm>
            <a:off x="6604000" y="3632045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 PAM8403 audio amplifier and speaker allow the robot to provide audible feedback and responses, creating a more natural human-robot interaction.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8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>
            <a:gsLst>
              <a:gs pos="0">
                <a:srgbClr val="F6F8FD"/>
              </a:gs>
              <a:gs pos="100000">
                <a:srgbClr val="BEBEBE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8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pic>
        <p:nvPicPr>
          <p:cNvPr descr="https://kimi-img.moonshot.cn/pub/slides/slides_tmpl/image/25-08-27-19:57:52-d2nf5g18bjvh7rlivt90.png" id="224" name="Google Shape;224;p18"/>
          <p:cNvPicPr preferRelativeResize="0"/>
          <p:nvPr/>
        </p:nvPicPr>
        <p:blipFill rotWithShape="1">
          <a:blip r:embed="rId3">
            <a:alphaModFix/>
          </a:blip>
          <a:srcRect b="0" l="20534" r="0" t="0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8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8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227" name="Google Shape;227;p18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&amp; Autonomy</a:t>
            </a:r>
            <a:endParaRPr b="0" i="0" sz="1600" u="none" cap="none" strike="noStrike"/>
          </a:p>
        </p:txBody>
      </p:sp>
      <p:sp>
        <p:nvSpPr>
          <p:cNvPr id="228" name="Google Shape;228;p18"/>
          <p:cNvSpPr/>
          <p:nvPr/>
        </p:nvSpPr>
        <p:spPr>
          <a:xfrm>
            <a:off x="7765415" y="1823085"/>
            <a:ext cx="1781810" cy="133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600" u="none" cap="none" strike="noStrike"/>
          </a:p>
        </p:txBody>
      </p:sp>
      <p:pic>
        <p:nvPicPr>
          <p:cNvPr descr="Fichier:Aperture Science Logo.svg — Wikipédia" id="229" name="Google Shape;229;p18"/>
          <p:cNvPicPr preferRelativeResize="0"/>
          <p:nvPr/>
        </p:nvPicPr>
        <p:blipFill rotWithShape="1">
          <a:blip r:embed="rId4">
            <a:alphaModFix/>
          </a:blip>
          <a:srcRect b="777" l="0" r="0" t="787"/>
          <a:stretch/>
        </p:blipFill>
        <p:spPr>
          <a:xfrm>
            <a:off x="1328420" y="2077085"/>
            <a:ext cx="2712719" cy="26701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kimi-img.moonshot.cn/pub/slides/slides_tmpl/image/25-08-27-19:57:52-d2nf5g18bjvh7rlivt9g.png" id="230" name="Google Shape;23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46590" y="2077085"/>
            <a:ext cx="920750" cy="335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9"/>
          <p:cNvSpPr/>
          <p:nvPr/>
        </p:nvSpPr>
        <p:spPr>
          <a:xfrm>
            <a:off x="254000" y="1844042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Onboard AI: Real-Time Tasks</a:t>
            </a:r>
            <a:endParaRPr b="0" i="0" sz="1600" u="none" cap="none" strike="noStrike"/>
          </a:p>
        </p:txBody>
      </p:sp>
      <p:sp>
        <p:nvSpPr>
          <p:cNvPr id="237" name="Google Shape;237;p19"/>
          <p:cNvSpPr/>
          <p:nvPr/>
        </p:nvSpPr>
        <p:spPr>
          <a:xfrm>
            <a:off x="254000" y="2402842"/>
            <a:ext cx="12192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Lightweight intelligence running on the RP2040 microcontroller.</a:t>
            </a:r>
            <a:endParaRPr b="0" i="0" sz="1600" u="none" cap="none" strike="noStrike"/>
          </a:p>
        </p:txBody>
      </p:sp>
      <p:sp>
        <p:nvSpPr>
          <p:cNvPr id="238" name="Google Shape;238;p19"/>
          <p:cNvSpPr/>
          <p:nvPr/>
        </p:nvSpPr>
        <p:spPr>
          <a:xfrm>
            <a:off x="254000" y="3063242"/>
            <a:ext cx="3695700" cy="1955800"/>
          </a:xfrm>
          <a:custGeom>
            <a:rect b="b" l="l" r="r" t="t"/>
            <a:pathLst>
              <a:path extrusionOk="0" h="1955800" w="3695700">
                <a:moveTo>
                  <a:pt x="101604" y="0"/>
                </a:moveTo>
                <a:lnTo>
                  <a:pt x="3594096" y="0"/>
                </a:lnTo>
                <a:cubicBezTo>
                  <a:pt x="3650210" y="0"/>
                  <a:pt x="3695700" y="45490"/>
                  <a:pt x="3695700" y="101604"/>
                </a:cubicBezTo>
                <a:lnTo>
                  <a:pt x="3695700" y="1854196"/>
                </a:lnTo>
                <a:cubicBezTo>
                  <a:pt x="3695700" y="1910310"/>
                  <a:pt x="3650210" y="1955800"/>
                  <a:pt x="3594096" y="1955800"/>
                </a:cubicBezTo>
                <a:lnTo>
                  <a:pt x="101604" y="1955800"/>
                </a:lnTo>
                <a:cubicBezTo>
                  <a:pt x="45490" y="1955800"/>
                  <a:pt x="0" y="1910310"/>
                  <a:pt x="0" y="1854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262626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9"/>
          <p:cNvSpPr/>
          <p:nvPr/>
        </p:nvSpPr>
        <p:spPr>
          <a:xfrm>
            <a:off x="1871027" y="3266442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428625"/>
                </a:moveTo>
                <a:cubicBezTo>
                  <a:pt x="354866" y="428625"/>
                  <a:pt x="457200" y="332631"/>
                  <a:pt x="457200" y="214313"/>
                </a:cubicBezTo>
                <a:cubicBezTo>
                  <a:pt x="457200" y="95994"/>
                  <a:pt x="354866" y="0"/>
                  <a:pt x="228600" y="0"/>
                </a:cubicBezTo>
                <a:cubicBezTo>
                  <a:pt x="102334" y="0"/>
                  <a:pt x="0" y="95994"/>
                  <a:pt x="0" y="214313"/>
                </a:cubicBezTo>
                <a:cubicBezTo>
                  <a:pt x="0" y="262801"/>
                  <a:pt x="17145" y="307449"/>
                  <a:pt x="46077" y="343346"/>
                </a:cubicBezTo>
                <a:lnTo>
                  <a:pt x="2500" y="425768"/>
                </a:lnTo>
                <a:cubicBezTo>
                  <a:pt x="-1786" y="433804"/>
                  <a:pt x="-446" y="443627"/>
                  <a:pt x="5715" y="450324"/>
                </a:cubicBezTo>
                <a:cubicBezTo>
                  <a:pt x="11876" y="457021"/>
                  <a:pt x="21610" y="459075"/>
                  <a:pt x="29914" y="455503"/>
                </a:cubicBezTo>
                <a:lnTo>
                  <a:pt x="135642" y="410230"/>
                </a:lnTo>
                <a:cubicBezTo>
                  <a:pt x="164038" y="422017"/>
                  <a:pt x="195471" y="428625"/>
                  <a:pt x="228600" y="428625"/>
                </a:cubicBezTo>
                <a:close/>
                <a:moveTo>
                  <a:pt x="114300" y="185738"/>
                </a:moveTo>
                <a:cubicBezTo>
                  <a:pt x="130071" y="185738"/>
                  <a:pt x="142875" y="198542"/>
                  <a:pt x="142875" y="214313"/>
                </a:cubicBezTo>
                <a:cubicBezTo>
                  <a:pt x="142875" y="230083"/>
                  <a:pt x="130071" y="242888"/>
                  <a:pt x="114300" y="242888"/>
                </a:cubicBezTo>
                <a:cubicBezTo>
                  <a:pt x="98529" y="242888"/>
                  <a:pt x="85725" y="230083"/>
                  <a:pt x="85725" y="214313"/>
                </a:cubicBezTo>
                <a:cubicBezTo>
                  <a:pt x="85725" y="198542"/>
                  <a:pt x="98529" y="185738"/>
                  <a:pt x="114300" y="185738"/>
                </a:cubicBezTo>
                <a:close/>
                <a:moveTo>
                  <a:pt x="228600" y="185738"/>
                </a:moveTo>
                <a:cubicBezTo>
                  <a:pt x="244371" y="185738"/>
                  <a:pt x="257175" y="198542"/>
                  <a:pt x="257175" y="214313"/>
                </a:cubicBezTo>
                <a:cubicBezTo>
                  <a:pt x="257175" y="230083"/>
                  <a:pt x="244371" y="242888"/>
                  <a:pt x="228600" y="242888"/>
                </a:cubicBezTo>
                <a:cubicBezTo>
                  <a:pt x="212829" y="242888"/>
                  <a:pt x="200025" y="230083"/>
                  <a:pt x="200025" y="214313"/>
                </a:cubicBezTo>
                <a:cubicBezTo>
                  <a:pt x="200025" y="198542"/>
                  <a:pt x="212829" y="185738"/>
                  <a:pt x="228600" y="185738"/>
                </a:cubicBezTo>
                <a:close/>
                <a:moveTo>
                  <a:pt x="314325" y="214313"/>
                </a:moveTo>
                <a:cubicBezTo>
                  <a:pt x="314325" y="198542"/>
                  <a:pt x="327129" y="185738"/>
                  <a:pt x="342900" y="185738"/>
                </a:cubicBezTo>
                <a:cubicBezTo>
                  <a:pt x="358671" y="185738"/>
                  <a:pt x="371475" y="198542"/>
                  <a:pt x="371475" y="214313"/>
                </a:cubicBezTo>
                <a:cubicBezTo>
                  <a:pt x="371475" y="230083"/>
                  <a:pt x="358671" y="242888"/>
                  <a:pt x="342900" y="242888"/>
                </a:cubicBezTo>
                <a:cubicBezTo>
                  <a:pt x="327129" y="242888"/>
                  <a:pt x="314325" y="230083"/>
                  <a:pt x="314325" y="214313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9"/>
          <p:cNvSpPr/>
          <p:nvPr/>
        </p:nvSpPr>
        <p:spPr>
          <a:xfrm>
            <a:off x="571024" y="3876042"/>
            <a:ext cx="30607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Wake Word Detection</a:t>
            </a:r>
            <a:endParaRPr b="0" i="0" sz="1600" u="none" cap="none" strike="noStrike"/>
          </a:p>
        </p:txBody>
      </p:sp>
      <p:sp>
        <p:nvSpPr>
          <p:cNvPr id="241" name="Google Shape;241;p19"/>
          <p:cNvSpPr/>
          <p:nvPr/>
        </p:nvSpPr>
        <p:spPr>
          <a:xfrm>
            <a:off x="457200" y="4282442"/>
            <a:ext cx="32893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Using OpenWakeWord for always-listening activation.</a:t>
            </a:r>
            <a:endParaRPr b="0" i="0" sz="1600" u="none" cap="none" strike="noStrike"/>
          </a:p>
        </p:txBody>
      </p:sp>
      <p:sp>
        <p:nvSpPr>
          <p:cNvPr id="242" name="Google Shape;242;p19"/>
          <p:cNvSpPr/>
          <p:nvPr/>
        </p:nvSpPr>
        <p:spPr>
          <a:xfrm>
            <a:off x="4250214" y="3063242"/>
            <a:ext cx="3695700" cy="1955800"/>
          </a:xfrm>
          <a:custGeom>
            <a:rect b="b" l="l" r="r" t="t"/>
            <a:pathLst>
              <a:path extrusionOk="0" h="1955800" w="3695700">
                <a:moveTo>
                  <a:pt x="101604" y="0"/>
                </a:moveTo>
                <a:lnTo>
                  <a:pt x="3594096" y="0"/>
                </a:lnTo>
                <a:cubicBezTo>
                  <a:pt x="3650210" y="0"/>
                  <a:pt x="3695700" y="45490"/>
                  <a:pt x="3695700" y="101604"/>
                </a:cubicBezTo>
                <a:lnTo>
                  <a:pt x="3695700" y="1854196"/>
                </a:lnTo>
                <a:cubicBezTo>
                  <a:pt x="3695700" y="1910310"/>
                  <a:pt x="3650210" y="1955800"/>
                  <a:pt x="3594096" y="1955800"/>
                </a:cubicBezTo>
                <a:lnTo>
                  <a:pt x="101604" y="1955800"/>
                </a:lnTo>
                <a:cubicBezTo>
                  <a:pt x="45490" y="1955800"/>
                  <a:pt x="0" y="1910310"/>
                  <a:pt x="0" y="1854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8C8C8C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9"/>
          <p:cNvSpPr/>
          <p:nvPr/>
        </p:nvSpPr>
        <p:spPr>
          <a:xfrm>
            <a:off x="5867241" y="3266442"/>
            <a:ext cx="457200" cy="457200"/>
          </a:xfrm>
          <a:custGeom>
            <a:rect b="b" l="l" r="r" t="t"/>
            <a:pathLst>
              <a:path extrusionOk="0" h="457200" w="457200">
                <a:moveTo>
                  <a:pt x="257175" y="28575"/>
                </a:moveTo>
                <a:cubicBezTo>
                  <a:pt x="257175" y="12769"/>
                  <a:pt x="244406" y="0"/>
                  <a:pt x="228600" y="0"/>
                </a:cubicBezTo>
                <a:cubicBezTo>
                  <a:pt x="212794" y="0"/>
                  <a:pt x="200025" y="12769"/>
                  <a:pt x="200025" y="28575"/>
                </a:cubicBezTo>
                <a:lnTo>
                  <a:pt x="200025" y="214313"/>
                </a:lnTo>
                <a:cubicBezTo>
                  <a:pt x="200025" y="222171"/>
                  <a:pt x="193596" y="228600"/>
                  <a:pt x="185738" y="228600"/>
                </a:cubicBezTo>
                <a:cubicBezTo>
                  <a:pt x="177879" y="228600"/>
                  <a:pt x="171450" y="222171"/>
                  <a:pt x="171450" y="214313"/>
                </a:cubicBezTo>
                <a:lnTo>
                  <a:pt x="171450" y="57150"/>
                </a:lnTo>
                <a:cubicBezTo>
                  <a:pt x="171450" y="41344"/>
                  <a:pt x="158681" y="28575"/>
                  <a:pt x="142875" y="28575"/>
                </a:cubicBezTo>
                <a:cubicBezTo>
                  <a:pt x="127069" y="28575"/>
                  <a:pt x="114300" y="41344"/>
                  <a:pt x="114300" y="57150"/>
                </a:cubicBezTo>
                <a:lnTo>
                  <a:pt x="114300" y="300038"/>
                </a:lnTo>
                <a:cubicBezTo>
                  <a:pt x="114300" y="301377"/>
                  <a:pt x="114300" y="302806"/>
                  <a:pt x="114389" y="304145"/>
                </a:cubicBezTo>
                <a:lnTo>
                  <a:pt x="60365" y="252710"/>
                </a:lnTo>
                <a:cubicBezTo>
                  <a:pt x="46077" y="239137"/>
                  <a:pt x="23485" y="239673"/>
                  <a:pt x="9823" y="253960"/>
                </a:cubicBezTo>
                <a:cubicBezTo>
                  <a:pt x="-3840" y="268248"/>
                  <a:pt x="-3215" y="290840"/>
                  <a:pt x="11073" y="304502"/>
                </a:cubicBezTo>
                <a:lnTo>
                  <a:pt x="111443" y="400050"/>
                </a:lnTo>
                <a:cubicBezTo>
                  <a:pt x="149929" y="436751"/>
                  <a:pt x="201097" y="457200"/>
                  <a:pt x="254318" y="457200"/>
                </a:cubicBezTo>
                <a:lnTo>
                  <a:pt x="271463" y="457200"/>
                </a:lnTo>
                <a:cubicBezTo>
                  <a:pt x="358259" y="457200"/>
                  <a:pt x="428625" y="386834"/>
                  <a:pt x="428625" y="300038"/>
                </a:cubicBezTo>
                <a:lnTo>
                  <a:pt x="428625" y="114300"/>
                </a:lnTo>
                <a:cubicBezTo>
                  <a:pt x="428625" y="98494"/>
                  <a:pt x="415856" y="85725"/>
                  <a:pt x="400050" y="85725"/>
                </a:cubicBezTo>
                <a:cubicBezTo>
                  <a:pt x="384244" y="85725"/>
                  <a:pt x="371475" y="98494"/>
                  <a:pt x="371475" y="114300"/>
                </a:cubicBezTo>
                <a:lnTo>
                  <a:pt x="371475" y="214313"/>
                </a:lnTo>
                <a:cubicBezTo>
                  <a:pt x="371475" y="222171"/>
                  <a:pt x="365046" y="228600"/>
                  <a:pt x="357188" y="228600"/>
                </a:cubicBezTo>
                <a:cubicBezTo>
                  <a:pt x="349329" y="228600"/>
                  <a:pt x="342900" y="222171"/>
                  <a:pt x="342900" y="214313"/>
                </a:cubicBezTo>
                <a:lnTo>
                  <a:pt x="342900" y="57150"/>
                </a:lnTo>
                <a:cubicBezTo>
                  <a:pt x="342900" y="41344"/>
                  <a:pt x="330131" y="28575"/>
                  <a:pt x="314325" y="28575"/>
                </a:cubicBezTo>
                <a:cubicBezTo>
                  <a:pt x="298519" y="28575"/>
                  <a:pt x="285750" y="41344"/>
                  <a:pt x="285750" y="57150"/>
                </a:cubicBezTo>
                <a:lnTo>
                  <a:pt x="285750" y="214313"/>
                </a:lnTo>
                <a:cubicBezTo>
                  <a:pt x="285750" y="222171"/>
                  <a:pt x="279321" y="228600"/>
                  <a:pt x="271463" y="228600"/>
                </a:cubicBezTo>
                <a:cubicBezTo>
                  <a:pt x="263604" y="228600"/>
                  <a:pt x="257175" y="222171"/>
                  <a:pt x="257175" y="214313"/>
                </a:cubicBezTo>
                <a:lnTo>
                  <a:pt x="257175" y="28575"/>
                </a:lnTo>
                <a:close/>
              </a:path>
            </a:pathLst>
          </a:custGeom>
          <a:solidFill>
            <a:srgbClr val="8C8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9"/>
          <p:cNvSpPr/>
          <p:nvPr/>
        </p:nvSpPr>
        <p:spPr>
          <a:xfrm>
            <a:off x="4322445" y="3876042"/>
            <a:ext cx="35433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Hand Gesture Recognition</a:t>
            </a:r>
            <a:endParaRPr b="0" i="0" sz="1600" u="none" cap="none" strike="noStrike"/>
          </a:p>
        </p:txBody>
      </p:sp>
      <p:sp>
        <p:nvSpPr>
          <p:cNvPr id="245" name="Google Shape;245;p19"/>
          <p:cNvSpPr/>
          <p:nvPr/>
        </p:nvSpPr>
        <p:spPr>
          <a:xfrm>
            <a:off x="4453414" y="4282442"/>
            <a:ext cx="32893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Using MediaPipe for basic commands.</a:t>
            </a:r>
            <a:endParaRPr b="0" i="0" sz="1600" u="none" cap="none" strike="noStrike"/>
          </a:p>
        </p:txBody>
      </p:sp>
      <p:sp>
        <p:nvSpPr>
          <p:cNvPr id="246" name="Google Shape;246;p19"/>
          <p:cNvSpPr/>
          <p:nvPr/>
        </p:nvSpPr>
        <p:spPr>
          <a:xfrm>
            <a:off x="8246428" y="3063242"/>
            <a:ext cx="3670300" cy="1930400"/>
          </a:xfrm>
          <a:custGeom>
            <a:rect b="b" l="l" r="r" t="t"/>
            <a:pathLst>
              <a:path extrusionOk="0" h="1930400" w="3670300">
                <a:moveTo>
                  <a:pt x="101597" y="0"/>
                </a:moveTo>
                <a:lnTo>
                  <a:pt x="3568703" y="0"/>
                </a:lnTo>
                <a:cubicBezTo>
                  <a:pt x="3624813" y="0"/>
                  <a:pt x="3670300" y="45487"/>
                  <a:pt x="3670300" y="101597"/>
                </a:cubicBezTo>
                <a:lnTo>
                  <a:pt x="3670300" y="1828803"/>
                </a:lnTo>
                <a:cubicBezTo>
                  <a:pt x="3670300" y="1884913"/>
                  <a:pt x="3624813" y="1930400"/>
                  <a:pt x="3568703" y="1930400"/>
                </a:cubicBezTo>
                <a:lnTo>
                  <a:pt x="101597" y="1930400"/>
                </a:lnTo>
                <a:cubicBezTo>
                  <a:pt x="45487" y="1930400"/>
                  <a:pt x="0" y="1884913"/>
                  <a:pt x="0" y="18288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FFFFFF">
              <a:alpha val="9803"/>
            </a:srgbClr>
          </a:solidFill>
          <a:ln cap="flat" cmpd="sng" w="10150">
            <a:solidFill>
              <a:srgbClr val="FFFFFF">
                <a:alpha val="4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9"/>
          <p:cNvSpPr/>
          <p:nvPr/>
        </p:nvSpPr>
        <p:spPr>
          <a:xfrm>
            <a:off x="9806464" y="3276600"/>
            <a:ext cx="571500" cy="457200"/>
          </a:xfrm>
          <a:custGeom>
            <a:rect b="b" l="l" r="r" t="t"/>
            <a:pathLst>
              <a:path extrusionOk="0" h="457200" w="571500">
                <a:moveTo>
                  <a:pt x="342900" y="28575"/>
                </a:moveTo>
                <a:lnTo>
                  <a:pt x="457200" y="28575"/>
                </a:lnTo>
                <a:cubicBezTo>
                  <a:pt x="473006" y="28575"/>
                  <a:pt x="485775" y="41344"/>
                  <a:pt x="485775" y="57150"/>
                </a:cubicBezTo>
                <a:cubicBezTo>
                  <a:pt x="485775" y="72956"/>
                  <a:pt x="473006" y="85725"/>
                  <a:pt x="457200" y="85725"/>
                </a:cubicBezTo>
                <a:lnTo>
                  <a:pt x="355759" y="85725"/>
                </a:lnTo>
                <a:cubicBezTo>
                  <a:pt x="351115" y="108764"/>
                  <a:pt x="335310" y="127784"/>
                  <a:pt x="314325" y="136892"/>
                </a:cubicBezTo>
                <a:lnTo>
                  <a:pt x="314325" y="400050"/>
                </a:lnTo>
                <a:lnTo>
                  <a:pt x="457200" y="400050"/>
                </a:lnTo>
                <a:cubicBezTo>
                  <a:pt x="473006" y="400050"/>
                  <a:pt x="485775" y="412819"/>
                  <a:pt x="485775" y="428625"/>
                </a:cubicBezTo>
                <a:cubicBezTo>
                  <a:pt x="485775" y="444431"/>
                  <a:pt x="473006" y="457200"/>
                  <a:pt x="457200" y="457200"/>
                </a:cubicBezTo>
                <a:lnTo>
                  <a:pt x="114300" y="457200"/>
                </a:lnTo>
                <a:cubicBezTo>
                  <a:pt x="98494" y="457200"/>
                  <a:pt x="85725" y="444431"/>
                  <a:pt x="85725" y="428625"/>
                </a:cubicBezTo>
                <a:cubicBezTo>
                  <a:pt x="85725" y="412819"/>
                  <a:pt x="98494" y="400050"/>
                  <a:pt x="114300" y="400050"/>
                </a:cubicBezTo>
                <a:lnTo>
                  <a:pt x="257175" y="400050"/>
                </a:lnTo>
                <a:lnTo>
                  <a:pt x="257175" y="136892"/>
                </a:lnTo>
                <a:cubicBezTo>
                  <a:pt x="236190" y="127695"/>
                  <a:pt x="220385" y="108674"/>
                  <a:pt x="215741" y="85725"/>
                </a:cubicBezTo>
                <a:lnTo>
                  <a:pt x="114300" y="85725"/>
                </a:lnTo>
                <a:cubicBezTo>
                  <a:pt x="98494" y="85725"/>
                  <a:pt x="85725" y="72956"/>
                  <a:pt x="85725" y="57150"/>
                </a:cubicBezTo>
                <a:cubicBezTo>
                  <a:pt x="85725" y="41344"/>
                  <a:pt x="98494" y="28575"/>
                  <a:pt x="114300" y="28575"/>
                </a:cubicBezTo>
                <a:lnTo>
                  <a:pt x="228600" y="28575"/>
                </a:lnTo>
                <a:cubicBezTo>
                  <a:pt x="241637" y="11251"/>
                  <a:pt x="262354" y="0"/>
                  <a:pt x="285750" y="0"/>
                </a:cubicBezTo>
                <a:cubicBezTo>
                  <a:pt x="309146" y="0"/>
                  <a:pt x="329863" y="11251"/>
                  <a:pt x="342900" y="28575"/>
                </a:cubicBezTo>
                <a:close/>
                <a:moveTo>
                  <a:pt x="392549" y="285750"/>
                </a:moveTo>
                <a:lnTo>
                  <a:pt x="521851" y="285750"/>
                </a:lnTo>
                <a:lnTo>
                  <a:pt x="457200" y="174843"/>
                </a:lnTo>
                <a:lnTo>
                  <a:pt x="392549" y="285750"/>
                </a:lnTo>
                <a:close/>
                <a:moveTo>
                  <a:pt x="457200" y="371475"/>
                </a:moveTo>
                <a:cubicBezTo>
                  <a:pt x="401032" y="371475"/>
                  <a:pt x="354330" y="341114"/>
                  <a:pt x="344686" y="301020"/>
                </a:cubicBezTo>
                <a:cubicBezTo>
                  <a:pt x="342364" y="291197"/>
                  <a:pt x="345579" y="281107"/>
                  <a:pt x="350669" y="272355"/>
                </a:cubicBezTo>
                <a:lnTo>
                  <a:pt x="435679" y="126623"/>
                </a:lnTo>
                <a:cubicBezTo>
                  <a:pt x="440144" y="118943"/>
                  <a:pt x="448360" y="114300"/>
                  <a:pt x="457200" y="114300"/>
                </a:cubicBezTo>
                <a:cubicBezTo>
                  <a:pt x="466040" y="114300"/>
                  <a:pt x="474256" y="119033"/>
                  <a:pt x="478721" y="126623"/>
                </a:cubicBezTo>
                <a:lnTo>
                  <a:pt x="563731" y="272355"/>
                </a:lnTo>
                <a:cubicBezTo>
                  <a:pt x="568821" y="281107"/>
                  <a:pt x="572036" y="291197"/>
                  <a:pt x="569714" y="301020"/>
                </a:cubicBezTo>
                <a:cubicBezTo>
                  <a:pt x="560070" y="341025"/>
                  <a:pt x="513368" y="371475"/>
                  <a:pt x="457200" y="371475"/>
                </a:cubicBezTo>
                <a:close/>
                <a:moveTo>
                  <a:pt x="113228" y="174843"/>
                </a:moveTo>
                <a:lnTo>
                  <a:pt x="48578" y="285750"/>
                </a:lnTo>
                <a:lnTo>
                  <a:pt x="177969" y="285750"/>
                </a:lnTo>
                <a:lnTo>
                  <a:pt x="113228" y="174843"/>
                </a:lnTo>
                <a:close/>
                <a:moveTo>
                  <a:pt x="804" y="301020"/>
                </a:moveTo>
                <a:cubicBezTo>
                  <a:pt x="-1518" y="291197"/>
                  <a:pt x="1697" y="281107"/>
                  <a:pt x="6787" y="272355"/>
                </a:cubicBezTo>
                <a:lnTo>
                  <a:pt x="91797" y="126623"/>
                </a:lnTo>
                <a:cubicBezTo>
                  <a:pt x="96262" y="118943"/>
                  <a:pt x="104477" y="114300"/>
                  <a:pt x="113318" y="114300"/>
                </a:cubicBezTo>
                <a:cubicBezTo>
                  <a:pt x="122158" y="114300"/>
                  <a:pt x="130373" y="119033"/>
                  <a:pt x="134838" y="126623"/>
                </a:cubicBezTo>
                <a:lnTo>
                  <a:pt x="219849" y="272355"/>
                </a:lnTo>
                <a:cubicBezTo>
                  <a:pt x="224939" y="281107"/>
                  <a:pt x="228154" y="291197"/>
                  <a:pt x="225832" y="301020"/>
                </a:cubicBezTo>
                <a:cubicBezTo>
                  <a:pt x="216188" y="341025"/>
                  <a:pt x="169485" y="371475"/>
                  <a:pt x="113318" y="371475"/>
                </a:cubicBezTo>
                <a:cubicBezTo>
                  <a:pt x="57150" y="371475"/>
                  <a:pt x="10448" y="341114"/>
                  <a:pt x="804" y="301020"/>
                </a:cubicBez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9"/>
          <p:cNvSpPr/>
          <p:nvPr/>
        </p:nvSpPr>
        <p:spPr>
          <a:xfrm>
            <a:off x="8791416" y="3886200"/>
            <a:ext cx="26035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Balance &amp; Control</a:t>
            </a:r>
            <a:endParaRPr b="0" i="0" sz="1600" u="none" cap="none" strike="noStrike"/>
          </a:p>
        </p:txBody>
      </p:sp>
      <p:sp>
        <p:nvSpPr>
          <p:cNvPr id="249" name="Google Shape;249;p19"/>
          <p:cNvSpPr/>
          <p:nvPr/>
        </p:nvSpPr>
        <p:spPr>
          <a:xfrm>
            <a:off x="8459788" y="4292600"/>
            <a:ext cx="32639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Real-time IMU processing under FreeRTOS.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"/>
          <p:cNvSpPr/>
          <p:nvPr/>
        </p:nvSpPr>
        <p:spPr>
          <a:xfrm>
            <a:off x="254000" y="185420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PC-Based AI: Heavy Lifting</a:t>
            </a:r>
            <a:endParaRPr b="0" i="0" sz="1600" u="none" cap="none" strike="noStrike"/>
          </a:p>
        </p:txBody>
      </p:sp>
      <p:sp>
        <p:nvSpPr>
          <p:cNvPr id="256" name="Google Shape;256;p20"/>
          <p:cNvSpPr/>
          <p:nvPr/>
        </p:nvSpPr>
        <p:spPr>
          <a:xfrm>
            <a:off x="254000" y="2413000"/>
            <a:ext cx="12192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High-performance AI processing for advanced autonomy.</a:t>
            </a:r>
            <a:endParaRPr b="0" i="0" sz="1600" u="none" cap="none" strike="noStrike"/>
          </a:p>
        </p:txBody>
      </p:sp>
      <p:sp>
        <p:nvSpPr>
          <p:cNvPr id="257" name="Google Shape;257;p20"/>
          <p:cNvSpPr/>
          <p:nvPr/>
        </p:nvSpPr>
        <p:spPr>
          <a:xfrm>
            <a:off x="254000" y="3073400"/>
            <a:ext cx="5740400" cy="863600"/>
          </a:xfrm>
          <a:custGeom>
            <a:rect b="b" l="l" r="r" t="t"/>
            <a:pathLst>
              <a:path extrusionOk="0" h="863600" w="5740400">
                <a:moveTo>
                  <a:pt x="101603" y="0"/>
                </a:moveTo>
                <a:lnTo>
                  <a:pt x="5638797" y="0"/>
                </a:lnTo>
                <a:cubicBezTo>
                  <a:pt x="5694911" y="0"/>
                  <a:pt x="5740400" y="45489"/>
                  <a:pt x="5740400" y="101603"/>
                </a:cubicBezTo>
                <a:lnTo>
                  <a:pt x="5740400" y="761997"/>
                </a:lnTo>
                <a:cubicBezTo>
                  <a:pt x="5740400" y="818111"/>
                  <a:pt x="5694911" y="863600"/>
                  <a:pt x="56387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262626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0"/>
          <p:cNvSpPr/>
          <p:nvPr/>
        </p:nvSpPr>
        <p:spPr>
          <a:xfrm>
            <a:off x="571500" y="3314700"/>
            <a:ext cx="285750" cy="381000"/>
          </a:xfrm>
          <a:custGeom>
            <a:rect b="b" l="l" r="r" t="t"/>
            <a:pathLst>
              <a:path extrusionOk="0" h="381000" w="285750">
                <a:moveTo>
                  <a:pt x="71438" y="71438"/>
                </a:moveTo>
                <a:cubicBezTo>
                  <a:pt x="71438" y="31998"/>
                  <a:pt x="103436" y="0"/>
                  <a:pt x="142875" y="0"/>
                </a:cubicBezTo>
                <a:cubicBezTo>
                  <a:pt x="180305" y="0"/>
                  <a:pt x="211038" y="28798"/>
                  <a:pt x="214089" y="65484"/>
                </a:cubicBezTo>
                <a:lnTo>
                  <a:pt x="172641" y="65484"/>
                </a:lnTo>
                <a:cubicBezTo>
                  <a:pt x="162744" y="65484"/>
                  <a:pt x="154781" y="73447"/>
                  <a:pt x="154781" y="83344"/>
                </a:cubicBezTo>
                <a:cubicBezTo>
                  <a:pt x="154781" y="93241"/>
                  <a:pt x="162744" y="101203"/>
                  <a:pt x="172641" y="101203"/>
                </a:cubicBezTo>
                <a:lnTo>
                  <a:pt x="214313" y="101203"/>
                </a:lnTo>
                <a:lnTo>
                  <a:pt x="214313" y="136922"/>
                </a:lnTo>
                <a:lnTo>
                  <a:pt x="172641" y="136922"/>
                </a:lnTo>
                <a:cubicBezTo>
                  <a:pt x="162744" y="136922"/>
                  <a:pt x="154781" y="144884"/>
                  <a:pt x="154781" y="154781"/>
                </a:cubicBezTo>
                <a:cubicBezTo>
                  <a:pt x="154781" y="164678"/>
                  <a:pt x="162744" y="172641"/>
                  <a:pt x="172641" y="172641"/>
                </a:cubicBezTo>
                <a:lnTo>
                  <a:pt x="214089" y="172641"/>
                </a:lnTo>
                <a:cubicBezTo>
                  <a:pt x="211038" y="209327"/>
                  <a:pt x="180380" y="238125"/>
                  <a:pt x="142875" y="238125"/>
                </a:cubicBezTo>
                <a:cubicBezTo>
                  <a:pt x="103436" y="238125"/>
                  <a:pt x="71438" y="206127"/>
                  <a:pt x="71438" y="166688"/>
                </a:cubicBezTo>
                <a:lnTo>
                  <a:pt x="71438" y="71438"/>
                </a:lnTo>
                <a:close/>
                <a:moveTo>
                  <a:pt x="17859" y="119063"/>
                </a:moveTo>
                <a:cubicBezTo>
                  <a:pt x="27756" y="119063"/>
                  <a:pt x="35719" y="127025"/>
                  <a:pt x="35719" y="136922"/>
                </a:cubicBezTo>
                <a:lnTo>
                  <a:pt x="35719" y="166688"/>
                </a:lnTo>
                <a:cubicBezTo>
                  <a:pt x="35719" y="225847"/>
                  <a:pt x="83716" y="273844"/>
                  <a:pt x="142875" y="273844"/>
                </a:cubicBezTo>
                <a:cubicBezTo>
                  <a:pt x="202034" y="273844"/>
                  <a:pt x="250031" y="225847"/>
                  <a:pt x="250031" y="166688"/>
                </a:cubicBezTo>
                <a:lnTo>
                  <a:pt x="250031" y="136922"/>
                </a:lnTo>
                <a:cubicBezTo>
                  <a:pt x="250031" y="127025"/>
                  <a:pt x="257994" y="119063"/>
                  <a:pt x="267891" y="119063"/>
                </a:cubicBezTo>
                <a:cubicBezTo>
                  <a:pt x="277788" y="119063"/>
                  <a:pt x="285750" y="127025"/>
                  <a:pt x="285750" y="136922"/>
                </a:cubicBezTo>
                <a:lnTo>
                  <a:pt x="285750" y="166688"/>
                </a:lnTo>
                <a:cubicBezTo>
                  <a:pt x="285750" y="239539"/>
                  <a:pt x="231204" y="299665"/>
                  <a:pt x="160734" y="308446"/>
                </a:cubicBezTo>
                <a:lnTo>
                  <a:pt x="160734" y="345281"/>
                </a:lnTo>
                <a:lnTo>
                  <a:pt x="196453" y="345281"/>
                </a:lnTo>
                <a:cubicBezTo>
                  <a:pt x="206350" y="345281"/>
                  <a:pt x="214313" y="353244"/>
                  <a:pt x="214313" y="363141"/>
                </a:cubicBezTo>
                <a:cubicBezTo>
                  <a:pt x="214313" y="373038"/>
                  <a:pt x="206350" y="381000"/>
                  <a:pt x="196453" y="381000"/>
                </a:cubicBezTo>
                <a:lnTo>
                  <a:pt x="89297" y="381000"/>
                </a:lnTo>
                <a:cubicBezTo>
                  <a:pt x="79400" y="381000"/>
                  <a:pt x="71438" y="373038"/>
                  <a:pt x="71438" y="363141"/>
                </a:cubicBezTo>
                <a:cubicBezTo>
                  <a:pt x="71438" y="353244"/>
                  <a:pt x="79400" y="345281"/>
                  <a:pt x="89297" y="345281"/>
                </a:cubicBezTo>
                <a:lnTo>
                  <a:pt x="125016" y="345281"/>
                </a:lnTo>
                <a:lnTo>
                  <a:pt x="125016" y="308446"/>
                </a:lnTo>
                <a:cubicBezTo>
                  <a:pt x="54546" y="299665"/>
                  <a:pt x="0" y="239539"/>
                  <a:pt x="0" y="166688"/>
                </a:cubicBezTo>
                <a:lnTo>
                  <a:pt x="0" y="136922"/>
                </a:lnTo>
                <a:cubicBezTo>
                  <a:pt x="0" y="127025"/>
                  <a:pt x="7962" y="119063"/>
                  <a:pt x="17859" y="119063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0"/>
          <p:cNvSpPr/>
          <p:nvPr/>
        </p:nvSpPr>
        <p:spPr>
          <a:xfrm>
            <a:off x="1168400" y="3225800"/>
            <a:ext cx="3733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Speech Recognition (Vosk ASR)</a:t>
            </a:r>
            <a:endParaRPr b="0" i="0" sz="1600" u="none" cap="none" strike="noStrike"/>
          </a:p>
        </p:txBody>
      </p:sp>
      <p:sp>
        <p:nvSpPr>
          <p:cNvPr id="260" name="Google Shape;260;p20"/>
          <p:cNvSpPr/>
          <p:nvPr/>
        </p:nvSpPr>
        <p:spPr>
          <a:xfrm>
            <a:off x="1168400" y="3530600"/>
            <a:ext cx="37338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For complex command parsing.</a:t>
            </a:r>
            <a:endParaRPr b="0" i="0" sz="1600" u="none" cap="none" strike="noStrike"/>
          </a:p>
        </p:txBody>
      </p:sp>
      <p:sp>
        <p:nvSpPr>
          <p:cNvPr id="261" name="Google Shape;261;p20"/>
          <p:cNvSpPr/>
          <p:nvPr/>
        </p:nvSpPr>
        <p:spPr>
          <a:xfrm>
            <a:off x="6197600" y="3073400"/>
            <a:ext cx="5740400" cy="863600"/>
          </a:xfrm>
          <a:custGeom>
            <a:rect b="b" l="l" r="r" t="t"/>
            <a:pathLst>
              <a:path extrusionOk="0" h="863600" w="5740400">
                <a:moveTo>
                  <a:pt x="101603" y="0"/>
                </a:moveTo>
                <a:lnTo>
                  <a:pt x="5638797" y="0"/>
                </a:lnTo>
                <a:cubicBezTo>
                  <a:pt x="5694911" y="0"/>
                  <a:pt x="5740400" y="45489"/>
                  <a:pt x="5740400" y="101603"/>
                </a:cubicBezTo>
                <a:lnTo>
                  <a:pt x="5740400" y="761997"/>
                </a:lnTo>
                <a:cubicBezTo>
                  <a:pt x="5740400" y="818111"/>
                  <a:pt x="5694911" y="863600"/>
                  <a:pt x="56387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8C8C8C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0"/>
          <p:cNvSpPr/>
          <p:nvPr/>
        </p:nvSpPr>
        <p:spPr>
          <a:xfrm>
            <a:off x="6443663" y="3314700"/>
            <a:ext cx="428625" cy="381000"/>
          </a:xfrm>
          <a:custGeom>
            <a:rect b="b" l="l" r="r" t="t"/>
            <a:pathLst>
              <a:path extrusionOk="0" h="381000" w="428625">
                <a:moveTo>
                  <a:pt x="214313" y="23812"/>
                </a:moveTo>
                <a:cubicBezTo>
                  <a:pt x="154186" y="23812"/>
                  <a:pt x="106040" y="51197"/>
                  <a:pt x="70991" y="83790"/>
                </a:cubicBezTo>
                <a:cubicBezTo>
                  <a:pt x="36165" y="116160"/>
                  <a:pt x="12874" y="154781"/>
                  <a:pt x="1786" y="181347"/>
                </a:cubicBezTo>
                <a:cubicBezTo>
                  <a:pt x="-670" y="187226"/>
                  <a:pt x="-670" y="193774"/>
                  <a:pt x="1786" y="199653"/>
                </a:cubicBezTo>
                <a:cubicBezTo>
                  <a:pt x="12874" y="226219"/>
                  <a:pt x="36165" y="264914"/>
                  <a:pt x="70991" y="297210"/>
                </a:cubicBezTo>
                <a:cubicBezTo>
                  <a:pt x="106040" y="329729"/>
                  <a:pt x="154186" y="357188"/>
                  <a:pt x="214313" y="357188"/>
                </a:cubicBezTo>
                <a:cubicBezTo>
                  <a:pt x="274439" y="357188"/>
                  <a:pt x="322585" y="329803"/>
                  <a:pt x="357634" y="297210"/>
                </a:cubicBezTo>
                <a:cubicBezTo>
                  <a:pt x="392460" y="264840"/>
                  <a:pt x="415751" y="226219"/>
                  <a:pt x="426839" y="199653"/>
                </a:cubicBezTo>
                <a:cubicBezTo>
                  <a:pt x="429295" y="193774"/>
                  <a:pt x="429295" y="187226"/>
                  <a:pt x="426839" y="181347"/>
                </a:cubicBezTo>
                <a:cubicBezTo>
                  <a:pt x="415751" y="154781"/>
                  <a:pt x="392460" y="116086"/>
                  <a:pt x="357634" y="83790"/>
                </a:cubicBezTo>
                <a:cubicBezTo>
                  <a:pt x="322585" y="51271"/>
                  <a:pt x="274439" y="23812"/>
                  <a:pt x="214313" y="23812"/>
                </a:cubicBezTo>
                <a:close/>
                <a:moveTo>
                  <a:pt x="107156" y="190500"/>
                </a:moveTo>
                <a:cubicBezTo>
                  <a:pt x="107156" y="131359"/>
                  <a:pt x="155171" y="83344"/>
                  <a:pt x="214313" y="83344"/>
                </a:cubicBezTo>
                <a:cubicBezTo>
                  <a:pt x="273454" y="83344"/>
                  <a:pt x="321469" y="131359"/>
                  <a:pt x="321469" y="190500"/>
                </a:cubicBezTo>
                <a:cubicBezTo>
                  <a:pt x="321469" y="249641"/>
                  <a:pt x="273454" y="297656"/>
                  <a:pt x="214313" y="297656"/>
                </a:cubicBezTo>
                <a:cubicBezTo>
                  <a:pt x="155171" y="297656"/>
                  <a:pt x="107156" y="249641"/>
                  <a:pt x="107156" y="190500"/>
                </a:cubicBezTo>
                <a:close/>
                <a:moveTo>
                  <a:pt x="214313" y="142875"/>
                </a:moveTo>
                <a:cubicBezTo>
                  <a:pt x="214313" y="169143"/>
                  <a:pt x="192956" y="190500"/>
                  <a:pt x="166688" y="190500"/>
                </a:cubicBezTo>
                <a:cubicBezTo>
                  <a:pt x="158130" y="190500"/>
                  <a:pt x="150093" y="188268"/>
                  <a:pt x="143098" y="184249"/>
                </a:cubicBezTo>
                <a:cubicBezTo>
                  <a:pt x="142354" y="192360"/>
                  <a:pt x="143024" y="200695"/>
                  <a:pt x="145256" y="208955"/>
                </a:cubicBezTo>
                <a:cubicBezTo>
                  <a:pt x="155451" y="247055"/>
                  <a:pt x="194667" y="269677"/>
                  <a:pt x="232767" y="259482"/>
                </a:cubicBezTo>
                <a:cubicBezTo>
                  <a:pt x="270867" y="249287"/>
                  <a:pt x="293489" y="210071"/>
                  <a:pt x="283294" y="171971"/>
                </a:cubicBezTo>
                <a:cubicBezTo>
                  <a:pt x="274216" y="137964"/>
                  <a:pt x="241995" y="116309"/>
                  <a:pt x="208062" y="119286"/>
                </a:cubicBezTo>
                <a:cubicBezTo>
                  <a:pt x="212006" y="126206"/>
                  <a:pt x="214313" y="134243"/>
                  <a:pt x="214313" y="142875"/>
                </a:cubicBezTo>
                <a:close/>
              </a:path>
            </a:pathLst>
          </a:custGeom>
          <a:solidFill>
            <a:srgbClr val="8C8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0"/>
          <p:cNvSpPr/>
          <p:nvPr/>
        </p:nvSpPr>
        <p:spPr>
          <a:xfrm>
            <a:off x="7112000" y="3225800"/>
            <a:ext cx="3276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Computer Vision (OpenCV)</a:t>
            </a:r>
            <a:endParaRPr b="0" i="0" sz="1600" u="none" cap="none" strike="noStrike"/>
          </a:p>
        </p:txBody>
      </p:sp>
      <p:sp>
        <p:nvSpPr>
          <p:cNvPr id="264" name="Google Shape;264;p20"/>
          <p:cNvSpPr/>
          <p:nvPr/>
        </p:nvSpPr>
        <p:spPr>
          <a:xfrm>
            <a:off x="7112000" y="3530600"/>
            <a:ext cx="32766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For object detection &amp; SLAM.</a:t>
            </a:r>
            <a:endParaRPr b="0" i="0" sz="1600" u="none" cap="none" strike="noStrike"/>
          </a:p>
        </p:txBody>
      </p:sp>
      <p:sp>
        <p:nvSpPr>
          <p:cNvPr id="265" name="Google Shape;265;p20"/>
          <p:cNvSpPr/>
          <p:nvPr/>
        </p:nvSpPr>
        <p:spPr>
          <a:xfrm>
            <a:off x="254000" y="4140200"/>
            <a:ext cx="5740400" cy="863600"/>
          </a:xfrm>
          <a:custGeom>
            <a:rect b="b" l="l" r="r" t="t"/>
            <a:pathLst>
              <a:path extrusionOk="0" h="863600" w="5740400">
                <a:moveTo>
                  <a:pt x="101603" y="0"/>
                </a:moveTo>
                <a:lnTo>
                  <a:pt x="5638797" y="0"/>
                </a:lnTo>
                <a:cubicBezTo>
                  <a:pt x="5694911" y="0"/>
                  <a:pt x="5740400" y="45489"/>
                  <a:pt x="5740400" y="101603"/>
                </a:cubicBezTo>
                <a:lnTo>
                  <a:pt x="5740400" y="761997"/>
                </a:lnTo>
                <a:cubicBezTo>
                  <a:pt x="5740400" y="818111"/>
                  <a:pt x="5694911" y="863600"/>
                  <a:pt x="56387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8C8C8C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0"/>
          <p:cNvSpPr/>
          <p:nvPr/>
        </p:nvSpPr>
        <p:spPr>
          <a:xfrm>
            <a:off x="500063" y="4381500"/>
            <a:ext cx="428625" cy="381000"/>
          </a:xfrm>
          <a:custGeom>
            <a:rect b="b" l="l" r="r" t="t"/>
            <a:pathLst>
              <a:path extrusionOk="0" h="381000" w="428625">
                <a:moveTo>
                  <a:pt x="285750" y="107156"/>
                </a:moveTo>
                <a:cubicBezTo>
                  <a:pt x="285750" y="179487"/>
                  <a:pt x="221754" y="238125"/>
                  <a:pt x="142875" y="238125"/>
                </a:cubicBezTo>
                <a:cubicBezTo>
                  <a:pt x="123006" y="238125"/>
                  <a:pt x="104105" y="234404"/>
                  <a:pt x="86916" y="227707"/>
                </a:cubicBezTo>
                <a:lnTo>
                  <a:pt x="26194" y="259854"/>
                </a:lnTo>
                <a:cubicBezTo>
                  <a:pt x="19273" y="263500"/>
                  <a:pt x="10790" y="262235"/>
                  <a:pt x="5209" y="256729"/>
                </a:cubicBezTo>
                <a:cubicBezTo>
                  <a:pt x="-372" y="251222"/>
                  <a:pt x="-1637" y="242664"/>
                  <a:pt x="2084" y="235744"/>
                </a:cubicBezTo>
                <a:lnTo>
                  <a:pt x="28575" y="185738"/>
                </a:lnTo>
                <a:cubicBezTo>
                  <a:pt x="10641" y="163860"/>
                  <a:pt x="0" y="136624"/>
                  <a:pt x="0" y="107156"/>
                </a:cubicBezTo>
                <a:cubicBezTo>
                  <a:pt x="0" y="34826"/>
                  <a:pt x="63996" y="-23812"/>
                  <a:pt x="142875" y="-23812"/>
                </a:cubicBezTo>
                <a:cubicBezTo>
                  <a:pt x="221754" y="-23812"/>
                  <a:pt x="285750" y="34826"/>
                  <a:pt x="285750" y="107156"/>
                </a:cubicBezTo>
                <a:close/>
                <a:moveTo>
                  <a:pt x="285750" y="381000"/>
                </a:moveTo>
                <a:cubicBezTo>
                  <a:pt x="215726" y="381000"/>
                  <a:pt x="157460" y="334789"/>
                  <a:pt x="145256" y="273844"/>
                </a:cubicBezTo>
                <a:cubicBezTo>
                  <a:pt x="234553" y="272728"/>
                  <a:pt x="312167" y="209178"/>
                  <a:pt x="320725" y="123006"/>
                </a:cubicBezTo>
                <a:cubicBezTo>
                  <a:pt x="382712" y="137294"/>
                  <a:pt x="428625" y="188714"/>
                  <a:pt x="428625" y="250031"/>
                </a:cubicBezTo>
                <a:cubicBezTo>
                  <a:pt x="428625" y="279499"/>
                  <a:pt x="417984" y="306735"/>
                  <a:pt x="400050" y="328613"/>
                </a:cubicBezTo>
                <a:lnTo>
                  <a:pt x="426541" y="378619"/>
                </a:lnTo>
                <a:cubicBezTo>
                  <a:pt x="430188" y="385539"/>
                  <a:pt x="428923" y="394022"/>
                  <a:pt x="423416" y="399604"/>
                </a:cubicBezTo>
                <a:cubicBezTo>
                  <a:pt x="417909" y="405185"/>
                  <a:pt x="409352" y="406450"/>
                  <a:pt x="402431" y="402729"/>
                </a:cubicBezTo>
                <a:lnTo>
                  <a:pt x="341709" y="370582"/>
                </a:lnTo>
                <a:cubicBezTo>
                  <a:pt x="324520" y="377279"/>
                  <a:pt x="305619" y="381000"/>
                  <a:pt x="285750" y="381000"/>
                </a:cubicBezTo>
                <a:close/>
              </a:path>
            </a:pathLst>
          </a:custGeom>
          <a:solidFill>
            <a:srgbClr val="8C8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0"/>
          <p:cNvSpPr/>
          <p:nvPr/>
        </p:nvSpPr>
        <p:spPr>
          <a:xfrm>
            <a:off x="1168400" y="4292600"/>
            <a:ext cx="3035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Conversational AI (LLM)</a:t>
            </a:r>
            <a:endParaRPr b="0" i="0" sz="1600" u="none" cap="none" strike="noStrike"/>
          </a:p>
        </p:txBody>
      </p:sp>
      <p:sp>
        <p:nvSpPr>
          <p:cNvPr id="268" name="Google Shape;268;p20"/>
          <p:cNvSpPr/>
          <p:nvPr/>
        </p:nvSpPr>
        <p:spPr>
          <a:xfrm>
            <a:off x="1168400" y="4597400"/>
            <a:ext cx="25273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Using Llama 3.2 for dialogue.</a:t>
            </a:r>
            <a:endParaRPr b="0" i="0" sz="1600" u="none" cap="none" strike="noStrike"/>
          </a:p>
        </p:txBody>
      </p:sp>
      <p:sp>
        <p:nvSpPr>
          <p:cNvPr id="269" name="Google Shape;269;p20"/>
          <p:cNvSpPr/>
          <p:nvPr/>
        </p:nvSpPr>
        <p:spPr>
          <a:xfrm>
            <a:off x="6197600" y="4140200"/>
            <a:ext cx="5740400" cy="863600"/>
          </a:xfrm>
          <a:custGeom>
            <a:rect b="b" l="l" r="r" t="t"/>
            <a:pathLst>
              <a:path extrusionOk="0" h="863600" w="5740400">
                <a:moveTo>
                  <a:pt x="101603" y="0"/>
                </a:moveTo>
                <a:lnTo>
                  <a:pt x="5638797" y="0"/>
                </a:lnTo>
                <a:cubicBezTo>
                  <a:pt x="5694911" y="0"/>
                  <a:pt x="5740400" y="45489"/>
                  <a:pt x="5740400" y="101603"/>
                </a:cubicBezTo>
                <a:lnTo>
                  <a:pt x="5740400" y="761997"/>
                </a:lnTo>
                <a:cubicBezTo>
                  <a:pt x="5740400" y="818111"/>
                  <a:pt x="5694911" y="863600"/>
                  <a:pt x="56387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262626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0"/>
          <p:cNvSpPr/>
          <p:nvPr/>
        </p:nvSpPr>
        <p:spPr>
          <a:xfrm>
            <a:off x="6467475" y="4381500"/>
            <a:ext cx="381000" cy="381000"/>
          </a:xfrm>
          <a:custGeom>
            <a:rect b="b" l="l" r="r" t="t"/>
            <a:pathLst>
              <a:path extrusionOk="0" h="381000" w="381000">
                <a:moveTo>
                  <a:pt x="381000" y="71438"/>
                </a:moveTo>
                <a:cubicBezTo>
                  <a:pt x="381000" y="108793"/>
                  <a:pt x="337021" y="164529"/>
                  <a:pt x="318046" y="186779"/>
                </a:cubicBezTo>
                <a:cubicBezTo>
                  <a:pt x="315218" y="190054"/>
                  <a:pt x="311051" y="191319"/>
                  <a:pt x="307256" y="190500"/>
                </a:cubicBezTo>
                <a:lnTo>
                  <a:pt x="238125" y="190500"/>
                </a:lnTo>
                <a:cubicBezTo>
                  <a:pt x="224954" y="190500"/>
                  <a:pt x="214313" y="201141"/>
                  <a:pt x="214313" y="214313"/>
                </a:cubicBezTo>
                <a:cubicBezTo>
                  <a:pt x="214313" y="227484"/>
                  <a:pt x="224954" y="238125"/>
                  <a:pt x="238125" y="238125"/>
                </a:cubicBezTo>
                <a:lnTo>
                  <a:pt x="309563" y="238125"/>
                </a:lnTo>
                <a:cubicBezTo>
                  <a:pt x="349002" y="238125"/>
                  <a:pt x="381000" y="270123"/>
                  <a:pt x="381000" y="309563"/>
                </a:cubicBezTo>
                <a:cubicBezTo>
                  <a:pt x="381000" y="349002"/>
                  <a:pt x="349002" y="381000"/>
                  <a:pt x="309563" y="381000"/>
                </a:cubicBezTo>
                <a:lnTo>
                  <a:pt x="103882" y="381000"/>
                </a:lnTo>
                <a:cubicBezTo>
                  <a:pt x="110356" y="373633"/>
                  <a:pt x="118244" y="364182"/>
                  <a:pt x="126206" y="353616"/>
                </a:cubicBezTo>
                <a:cubicBezTo>
                  <a:pt x="130894" y="347365"/>
                  <a:pt x="135731" y="340519"/>
                  <a:pt x="140345" y="333375"/>
                </a:cubicBezTo>
                <a:lnTo>
                  <a:pt x="309563" y="333375"/>
                </a:lnTo>
                <a:cubicBezTo>
                  <a:pt x="322734" y="333375"/>
                  <a:pt x="333375" y="322734"/>
                  <a:pt x="333375" y="309563"/>
                </a:cubicBezTo>
                <a:cubicBezTo>
                  <a:pt x="333375" y="296391"/>
                  <a:pt x="322734" y="285750"/>
                  <a:pt x="309563" y="285750"/>
                </a:cubicBezTo>
                <a:lnTo>
                  <a:pt x="238125" y="285750"/>
                </a:lnTo>
                <a:cubicBezTo>
                  <a:pt x="198686" y="285750"/>
                  <a:pt x="166688" y="253752"/>
                  <a:pt x="166688" y="214313"/>
                </a:cubicBezTo>
                <a:cubicBezTo>
                  <a:pt x="166688" y="174873"/>
                  <a:pt x="198686" y="142875"/>
                  <a:pt x="238125" y="142875"/>
                </a:cubicBezTo>
                <a:lnTo>
                  <a:pt x="267742" y="142875"/>
                </a:lnTo>
                <a:cubicBezTo>
                  <a:pt x="252115" y="119435"/>
                  <a:pt x="238125" y="92497"/>
                  <a:pt x="238125" y="71438"/>
                </a:cubicBezTo>
                <a:cubicBezTo>
                  <a:pt x="238125" y="31998"/>
                  <a:pt x="270123" y="0"/>
                  <a:pt x="309563" y="0"/>
                </a:cubicBezTo>
                <a:cubicBezTo>
                  <a:pt x="349002" y="0"/>
                  <a:pt x="381000" y="31998"/>
                  <a:pt x="381000" y="71438"/>
                </a:cubicBezTo>
                <a:close/>
                <a:moveTo>
                  <a:pt x="87139" y="363959"/>
                </a:moveTo>
                <a:cubicBezTo>
                  <a:pt x="84311" y="367159"/>
                  <a:pt x="81781" y="369987"/>
                  <a:pt x="79623" y="372368"/>
                </a:cubicBezTo>
                <a:lnTo>
                  <a:pt x="78284" y="373856"/>
                </a:lnTo>
                <a:lnTo>
                  <a:pt x="78135" y="373707"/>
                </a:lnTo>
                <a:cubicBezTo>
                  <a:pt x="73670" y="377130"/>
                  <a:pt x="67270" y="376684"/>
                  <a:pt x="63252" y="372368"/>
                </a:cubicBezTo>
                <a:cubicBezTo>
                  <a:pt x="44500" y="351979"/>
                  <a:pt x="0" y="299517"/>
                  <a:pt x="0" y="261938"/>
                </a:cubicBezTo>
                <a:cubicBezTo>
                  <a:pt x="0" y="222498"/>
                  <a:pt x="31998" y="190500"/>
                  <a:pt x="71438" y="190500"/>
                </a:cubicBezTo>
                <a:cubicBezTo>
                  <a:pt x="110877" y="190500"/>
                  <a:pt x="142875" y="222498"/>
                  <a:pt x="142875" y="261938"/>
                </a:cubicBezTo>
                <a:cubicBezTo>
                  <a:pt x="142875" y="284262"/>
                  <a:pt x="127174" y="311795"/>
                  <a:pt x="110505" y="334789"/>
                </a:cubicBezTo>
                <a:cubicBezTo>
                  <a:pt x="102543" y="345728"/>
                  <a:pt x="94357" y="355625"/>
                  <a:pt x="87585" y="363438"/>
                </a:cubicBezTo>
                <a:lnTo>
                  <a:pt x="87139" y="363959"/>
                </a:lnTo>
                <a:close/>
                <a:moveTo>
                  <a:pt x="95250" y="261938"/>
                </a:moveTo>
                <a:cubicBezTo>
                  <a:pt x="95250" y="248795"/>
                  <a:pt x="84580" y="238125"/>
                  <a:pt x="71438" y="238125"/>
                </a:cubicBezTo>
                <a:cubicBezTo>
                  <a:pt x="58295" y="238125"/>
                  <a:pt x="47625" y="248795"/>
                  <a:pt x="47625" y="261938"/>
                </a:cubicBezTo>
                <a:cubicBezTo>
                  <a:pt x="47625" y="275080"/>
                  <a:pt x="58295" y="285750"/>
                  <a:pt x="71438" y="285750"/>
                </a:cubicBezTo>
                <a:cubicBezTo>
                  <a:pt x="84580" y="285750"/>
                  <a:pt x="95250" y="275080"/>
                  <a:pt x="95250" y="261938"/>
                </a:cubicBezTo>
                <a:close/>
                <a:moveTo>
                  <a:pt x="309563" y="95250"/>
                </a:moveTo>
                <a:cubicBezTo>
                  <a:pt x="322705" y="95250"/>
                  <a:pt x="333375" y="84580"/>
                  <a:pt x="333375" y="71438"/>
                </a:cubicBezTo>
                <a:cubicBezTo>
                  <a:pt x="333375" y="58295"/>
                  <a:pt x="322705" y="47625"/>
                  <a:pt x="309563" y="47625"/>
                </a:cubicBezTo>
                <a:cubicBezTo>
                  <a:pt x="296420" y="47625"/>
                  <a:pt x="285750" y="58295"/>
                  <a:pt x="285750" y="71438"/>
                </a:cubicBezTo>
                <a:cubicBezTo>
                  <a:pt x="285750" y="84580"/>
                  <a:pt x="296420" y="95250"/>
                  <a:pt x="309563" y="95250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0"/>
          <p:cNvSpPr/>
          <p:nvPr/>
        </p:nvSpPr>
        <p:spPr>
          <a:xfrm>
            <a:off x="7112000" y="4292600"/>
            <a:ext cx="3200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Path Planning (A*/D* Lite)</a:t>
            </a:r>
            <a:endParaRPr b="0" i="0" sz="1600" u="none" cap="none" strike="noStrike"/>
          </a:p>
        </p:txBody>
      </p:sp>
      <p:sp>
        <p:nvSpPr>
          <p:cNvPr id="272" name="Google Shape;272;p20"/>
          <p:cNvSpPr/>
          <p:nvPr/>
        </p:nvSpPr>
        <p:spPr>
          <a:xfrm>
            <a:off x="7112000" y="4597400"/>
            <a:ext cx="32004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For intelligent navigation.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1"/>
          <p:cNvSpPr/>
          <p:nvPr/>
        </p:nvSpPr>
        <p:spPr>
          <a:xfrm>
            <a:off x="254000" y="1488442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Path Planning &amp; SLAM</a:t>
            </a:r>
            <a:endParaRPr b="0" i="0" sz="1600" u="none" cap="none" strike="noStrike"/>
          </a:p>
        </p:txBody>
      </p:sp>
      <p:sp>
        <p:nvSpPr>
          <p:cNvPr id="279" name="Google Shape;279;p21"/>
          <p:cNvSpPr/>
          <p:nvPr/>
        </p:nvSpPr>
        <p:spPr>
          <a:xfrm>
            <a:off x="254000" y="2047242"/>
            <a:ext cx="12192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Fusing data for intelligent navigation and mapping.</a:t>
            </a:r>
            <a:endParaRPr b="0" i="0" sz="1600" u="none" cap="none" strike="noStrike"/>
          </a:p>
        </p:txBody>
      </p:sp>
      <p:sp>
        <p:nvSpPr>
          <p:cNvPr id="280" name="Google Shape;280;p21"/>
          <p:cNvSpPr/>
          <p:nvPr/>
        </p:nvSpPr>
        <p:spPr>
          <a:xfrm>
            <a:off x="926941" y="2921000"/>
            <a:ext cx="609600" cy="609600"/>
          </a:xfrm>
          <a:custGeom>
            <a:rect b="b" l="l" r="r" t="t"/>
            <a:pathLst>
              <a:path extrusionOk="0" h="609600" w="609600">
                <a:moveTo>
                  <a:pt x="0" y="495300"/>
                </a:moveTo>
                <a:lnTo>
                  <a:pt x="0" y="247650"/>
                </a:lnTo>
                <a:lnTo>
                  <a:pt x="162163" y="247650"/>
                </a:lnTo>
                <a:cubicBezTo>
                  <a:pt x="178237" y="223599"/>
                  <a:pt x="200263" y="203835"/>
                  <a:pt x="226100" y="190500"/>
                </a:cubicBezTo>
                <a:lnTo>
                  <a:pt x="0" y="190500"/>
                </a:lnTo>
                <a:lnTo>
                  <a:pt x="0" y="149662"/>
                </a:lnTo>
                <a:cubicBezTo>
                  <a:pt x="0" y="107633"/>
                  <a:pt x="34171" y="73462"/>
                  <a:pt x="76200" y="73462"/>
                </a:cubicBezTo>
                <a:lnTo>
                  <a:pt x="76319" y="73462"/>
                </a:lnTo>
                <a:cubicBezTo>
                  <a:pt x="77748" y="53697"/>
                  <a:pt x="94178" y="38100"/>
                  <a:pt x="114300" y="38100"/>
                </a:cubicBezTo>
                <a:lnTo>
                  <a:pt x="152400" y="38100"/>
                </a:lnTo>
                <a:cubicBezTo>
                  <a:pt x="172522" y="38100"/>
                  <a:pt x="188952" y="53697"/>
                  <a:pt x="190381" y="73462"/>
                </a:cubicBezTo>
                <a:lnTo>
                  <a:pt x="228600" y="73462"/>
                </a:lnTo>
                <a:lnTo>
                  <a:pt x="289560" y="45125"/>
                </a:lnTo>
                <a:cubicBezTo>
                  <a:pt x="299561" y="40481"/>
                  <a:pt x="310515" y="37981"/>
                  <a:pt x="321588" y="37981"/>
                </a:cubicBezTo>
                <a:lnTo>
                  <a:pt x="533400" y="38100"/>
                </a:lnTo>
                <a:cubicBezTo>
                  <a:pt x="575429" y="38100"/>
                  <a:pt x="609600" y="72271"/>
                  <a:pt x="609600" y="114300"/>
                </a:cubicBezTo>
                <a:lnTo>
                  <a:pt x="609600" y="190500"/>
                </a:lnTo>
                <a:lnTo>
                  <a:pt x="383381" y="190500"/>
                </a:lnTo>
                <a:cubicBezTo>
                  <a:pt x="409218" y="203835"/>
                  <a:pt x="431244" y="223599"/>
                  <a:pt x="447318" y="247650"/>
                </a:cubicBezTo>
                <a:lnTo>
                  <a:pt x="609481" y="247650"/>
                </a:lnTo>
                <a:lnTo>
                  <a:pt x="609481" y="495300"/>
                </a:lnTo>
                <a:cubicBezTo>
                  <a:pt x="609481" y="537329"/>
                  <a:pt x="575310" y="571500"/>
                  <a:pt x="533281" y="571500"/>
                </a:cubicBezTo>
                <a:lnTo>
                  <a:pt x="76200" y="571500"/>
                </a:lnTo>
                <a:cubicBezTo>
                  <a:pt x="34171" y="571500"/>
                  <a:pt x="0" y="537329"/>
                  <a:pt x="0" y="495300"/>
                </a:cubicBezTo>
                <a:close/>
                <a:moveTo>
                  <a:pt x="304800" y="228600"/>
                </a:moveTo>
                <a:cubicBezTo>
                  <a:pt x="263063" y="227253"/>
                  <a:pt x="223907" y="248751"/>
                  <a:pt x="202641" y="284688"/>
                </a:cubicBezTo>
                <a:cubicBezTo>
                  <a:pt x="181374" y="320625"/>
                  <a:pt x="181374" y="365294"/>
                  <a:pt x="202641" y="401231"/>
                </a:cubicBezTo>
                <a:cubicBezTo>
                  <a:pt x="223907" y="437168"/>
                  <a:pt x="263063" y="458666"/>
                  <a:pt x="304800" y="457319"/>
                </a:cubicBezTo>
                <a:cubicBezTo>
                  <a:pt x="346537" y="458666"/>
                  <a:pt x="385693" y="437168"/>
                  <a:pt x="406959" y="401231"/>
                </a:cubicBezTo>
                <a:cubicBezTo>
                  <a:pt x="428226" y="365294"/>
                  <a:pt x="428226" y="320625"/>
                  <a:pt x="406959" y="284688"/>
                </a:cubicBezTo>
                <a:cubicBezTo>
                  <a:pt x="385693" y="248751"/>
                  <a:pt x="346537" y="227253"/>
                  <a:pt x="304800" y="228600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1"/>
          <p:cNvSpPr/>
          <p:nvPr/>
        </p:nvSpPr>
        <p:spPr>
          <a:xfrm>
            <a:off x="300672" y="3632200"/>
            <a:ext cx="1866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Stereo Vision</a:t>
            </a:r>
            <a:endParaRPr b="0" i="0" sz="1600" u="none" cap="none" strike="noStrike"/>
          </a:p>
        </p:txBody>
      </p:sp>
      <p:sp>
        <p:nvSpPr>
          <p:cNvPr id="282" name="Google Shape;282;p21"/>
          <p:cNvSpPr/>
          <p:nvPr/>
        </p:nvSpPr>
        <p:spPr>
          <a:xfrm>
            <a:off x="2584926" y="3238500"/>
            <a:ext cx="333375" cy="381000"/>
          </a:xfrm>
          <a:custGeom>
            <a:rect b="b" l="l" r="r" t="t"/>
            <a:pathLst>
              <a:path extrusionOk="0" h="381000" w="333375">
                <a:moveTo>
                  <a:pt x="190500" y="47625"/>
                </a:moveTo>
                <a:cubicBezTo>
                  <a:pt x="190500" y="34454"/>
                  <a:pt x="179859" y="23812"/>
                  <a:pt x="166688" y="23812"/>
                </a:cubicBezTo>
                <a:cubicBezTo>
                  <a:pt x="153516" y="23812"/>
                  <a:pt x="142875" y="34454"/>
                  <a:pt x="142875" y="47625"/>
                </a:cubicBezTo>
                <a:lnTo>
                  <a:pt x="142875" y="166688"/>
                </a:lnTo>
                <a:lnTo>
                  <a:pt x="23812" y="166688"/>
                </a:lnTo>
                <a:cubicBezTo>
                  <a:pt x="10641" y="166688"/>
                  <a:pt x="0" y="177329"/>
                  <a:pt x="0" y="190500"/>
                </a:cubicBezTo>
                <a:cubicBezTo>
                  <a:pt x="0" y="203671"/>
                  <a:pt x="10641" y="214313"/>
                  <a:pt x="23812" y="214313"/>
                </a:cubicBezTo>
                <a:lnTo>
                  <a:pt x="142875" y="214313"/>
                </a:lnTo>
                <a:lnTo>
                  <a:pt x="142875" y="333375"/>
                </a:lnTo>
                <a:cubicBezTo>
                  <a:pt x="142875" y="346546"/>
                  <a:pt x="153516" y="357188"/>
                  <a:pt x="166688" y="357188"/>
                </a:cubicBezTo>
                <a:cubicBezTo>
                  <a:pt x="179859" y="357188"/>
                  <a:pt x="190500" y="346546"/>
                  <a:pt x="190500" y="333375"/>
                </a:cubicBezTo>
                <a:lnTo>
                  <a:pt x="190500" y="214313"/>
                </a:lnTo>
                <a:lnTo>
                  <a:pt x="309563" y="214313"/>
                </a:lnTo>
                <a:cubicBezTo>
                  <a:pt x="322734" y="214313"/>
                  <a:pt x="333375" y="203671"/>
                  <a:pt x="333375" y="190500"/>
                </a:cubicBezTo>
                <a:cubicBezTo>
                  <a:pt x="333375" y="177329"/>
                  <a:pt x="322734" y="166688"/>
                  <a:pt x="309563" y="166688"/>
                </a:cubicBezTo>
                <a:lnTo>
                  <a:pt x="190500" y="166688"/>
                </a:lnTo>
                <a:lnTo>
                  <a:pt x="190500" y="47625"/>
                </a:lnTo>
                <a:close/>
              </a:path>
            </a:pathLst>
          </a:custGeom>
          <a:solidFill>
            <a:srgbClr val="8C8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1"/>
          <p:cNvSpPr/>
          <p:nvPr/>
        </p:nvSpPr>
        <p:spPr>
          <a:xfrm>
            <a:off x="3814921" y="2921000"/>
            <a:ext cx="609600" cy="609600"/>
          </a:xfrm>
          <a:custGeom>
            <a:rect b="b" l="l" r="r" t="t"/>
            <a:pathLst>
              <a:path extrusionOk="0" h="609600" w="609600">
                <a:moveTo>
                  <a:pt x="276225" y="0"/>
                </a:moveTo>
                <a:cubicBezTo>
                  <a:pt x="460296" y="0"/>
                  <a:pt x="609600" y="149304"/>
                  <a:pt x="609600" y="333375"/>
                </a:cubicBezTo>
                <a:cubicBezTo>
                  <a:pt x="609600" y="349210"/>
                  <a:pt x="596860" y="361950"/>
                  <a:pt x="581025" y="361950"/>
                </a:cubicBezTo>
                <a:cubicBezTo>
                  <a:pt x="565190" y="361950"/>
                  <a:pt x="552450" y="349210"/>
                  <a:pt x="552450" y="333375"/>
                </a:cubicBezTo>
                <a:cubicBezTo>
                  <a:pt x="552450" y="180856"/>
                  <a:pt x="428744" y="57150"/>
                  <a:pt x="276225" y="57150"/>
                </a:cubicBezTo>
                <a:cubicBezTo>
                  <a:pt x="260390" y="57150"/>
                  <a:pt x="247650" y="44410"/>
                  <a:pt x="247650" y="28575"/>
                </a:cubicBezTo>
                <a:cubicBezTo>
                  <a:pt x="247650" y="12740"/>
                  <a:pt x="260390" y="0"/>
                  <a:pt x="276225" y="0"/>
                </a:cubicBezTo>
                <a:close/>
                <a:moveTo>
                  <a:pt x="247650" y="142875"/>
                </a:moveTo>
                <a:cubicBezTo>
                  <a:pt x="247650" y="127040"/>
                  <a:pt x="260390" y="114300"/>
                  <a:pt x="276225" y="114300"/>
                </a:cubicBezTo>
                <a:cubicBezTo>
                  <a:pt x="397193" y="114300"/>
                  <a:pt x="495300" y="212408"/>
                  <a:pt x="495300" y="333375"/>
                </a:cubicBezTo>
                <a:cubicBezTo>
                  <a:pt x="495300" y="349210"/>
                  <a:pt x="482560" y="361950"/>
                  <a:pt x="466725" y="361950"/>
                </a:cubicBezTo>
                <a:cubicBezTo>
                  <a:pt x="450890" y="361950"/>
                  <a:pt x="438150" y="349210"/>
                  <a:pt x="438150" y="333375"/>
                </a:cubicBezTo>
                <a:cubicBezTo>
                  <a:pt x="438150" y="243959"/>
                  <a:pt x="365641" y="171450"/>
                  <a:pt x="276225" y="171450"/>
                </a:cubicBezTo>
                <a:cubicBezTo>
                  <a:pt x="260390" y="171450"/>
                  <a:pt x="247650" y="158710"/>
                  <a:pt x="247650" y="142875"/>
                </a:cubicBezTo>
                <a:close/>
                <a:moveTo>
                  <a:pt x="31432" y="169902"/>
                </a:moveTo>
                <a:cubicBezTo>
                  <a:pt x="41910" y="148590"/>
                  <a:pt x="70009" y="146209"/>
                  <a:pt x="86797" y="162997"/>
                </a:cubicBezTo>
                <a:lnTo>
                  <a:pt x="239792" y="315992"/>
                </a:lnTo>
                <a:lnTo>
                  <a:pt x="277892" y="277892"/>
                </a:lnTo>
                <a:cubicBezTo>
                  <a:pt x="292775" y="263009"/>
                  <a:pt x="316944" y="263009"/>
                  <a:pt x="331827" y="277892"/>
                </a:cubicBezTo>
                <a:cubicBezTo>
                  <a:pt x="346710" y="292775"/>
                  <a:pt x="346710" y="316944"/>
                  <a:pt x="331827" y="331827"/>
                </a:cubicBezTo>
                <a:lnTo>
                  <a:pt x="293727" y="369927"/>
                </a:lnTo>
                <a:lnTo>
                  <a:pt x="446723" y="522922"/>
                </a:lnTo>
                <a:cubicBezTo>
                  <a:pt x="463510" y="539710"/>
                  <a:pt x="461010" y="567690"/>
                  <a:pt x="439817" y="578287"/>
                </a:cubicBezTo>
                <a:cubicBezTo>
                  <a:pt x="399097" y="598408"/>
                  <a:pt x="353377" y="609719"/>
                  <a:pt x="304919" y="609719"/>
                </a:cubicBezTo>
                <a:cubicBezTo>
                  <a:pt x="136565" y="609719"/>
                  <a:pt x="119" y="473273"/>
                  <a:pt x="119" y="304919"/>
                </a:cubicBezTo>
                <a:cubicBezTo>
                  <a:pt x="119" y="256461"/>
                  <a:pt x="11430" y="210622"/>
                  <a:pt x="31552" y="170021"/>
                </a:cubicBezTo>
                <a:close/>
              </a:path>
            </a:pathLst>
          </a:custGeom>
          <a:solidFill>
            <a:srgbClr val="8C8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1"/>
          <p:cNvSpPr/>
          <p:nvPr/>
        </p:nvSpPr>
        <p:spPr>
          <a:xfrm>
            <a:off x="3334067" y="3632200"/>
            <a:ext cx="157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GPS / IMU</a:t>
            </a:r>
            <a:endParaRPr b="0" i="0" sz="1600" u="none" cap="none" strike="noStrike"/>
          </a:p>
        </p:txBody>
      </p:sp>
      <p:sp>
        <p:nvSpPr>
          <p:cNvPr id="285" name="Google Shape;285;p21"/>
          <p:cNvSpPr/>
          <p:nvPr/>
        </p:nvSpPr>
        <p:spPr>
          <a:xfrm>
            <a:off x="5281454" y="3200400"/>
            <a:ext cx="514350" cy="457200"/>
          </a:xfrm>
          <a:custGeom>
            <a:rect b="b" l="l" r="r" t="t"/>
            <a:pathLst>
              <a:path extrusionOk="0" h="457200" w="514350">
                <a:moveTo>
                  <a:pt x="505956" y="248781"/>
                </a:moveTo>
                <a:cubicBezTo>
                  <a:pt x="517118" y="237619"/>
                  <a:pt x="517118" y="219492"/>
                  <a:pt x="505956" y="208330"/>
                </a:cubicBezTo>
                <a:lnTo>
                  <a:pt x="391656" y="94030"/>
                </a:lnTo>
                <a:cubicBezTo>
                  <a:pt x="380494" y="82868"/>
                  <a:pt x="362367" y="82868"/>
                  <a:pt x="351205" y="94030"/>
                </a:cubicBezTo>
                <a:cubicBezTo>
                  <a:pt x="340043" y="105192"/>
                  <a:pt x="340043" y="123319"/>
                  <a:pt x="351205" y="134481"/>
                </a:cubicBezTo>
                <a:lnTo>
                  <a:pt x="416749" y="200025"/>
                </a:lnTo>
                <a:lnTo>
                  <a:pt x="28575" y="200025"/>
                </a:lnTo>
                <a:cubicBezTo>
                  <a:pt x="12769" y="200025"/>
                  <a:pt x="0" y="212794"/>
                  <a:pt x="0" y="228600"/>
                </a:cubicBezTo>
                <a:cubicBezTo>
                  <a:pt x="0" y="244406"/>
                  <a:pt x="12769" y="257175"/>
                  <a:pt x="28575" y="257175"/>
                </a:cubicBezTo>
                <a:lnTo>
                  <a:pt x="416749" y="257175"/>
                </a:lnTo>
                <a:lnTo>
                  <a:pt x="351205" y="322719"/>
                </a:lnTo>
                <a:cubicBezTo>
                  <a:pt x="340042" y="333881"/>
                  <a:pt x="340042" y="352008"/>
                  <a:pt x="351205" y="363170"/>
                </a:cubicBezTo>
                <a:cubicBezTo>
                  <a:pt x="362367" y="374333"/>
                  <a:pt x="380494" y="374333"/>
                  <a:pt x="391656" y="363170"/>
                </a:cubicBezTo>
                <a:lnTo>
                  <a:pt x="505956" y="248870"/>
                </a:lnTo>
                <a:close/>
              </a:path>
            </a:pathLst>
          </a:custGeom>
          <a:solidFill>
            <a:srgbClr val="8C8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1"/>
          <p:cNvSpPr/>
          <p:nvPr/>
        </p:nvSpPr>
        <p:spPr>
          <a:xfrm>
            <a:off x="6425883" y="2707642"/>
            <a:ext cx="1841500" cy="1422400"/>
          </a:xfrm>
          <a:custGeom>
            <a:rect b="b" l="l" r="r" t="t"/>
            <a:pathLst>
              <a:path extrusionOk="0" h="1422400" w="1841500">
                <a:moveTo>
                  <a:pt x="101602" y="0"/>
                </a:moveTo>
                <a:lnTo>
                  <a:pt x="1739898" y="0"/>
                </a:lnTo>
                <a:cubicBezTo>
                  <a:pt x="1796011" y="0"/>
                  <a:pt x="1841500" y="45489"/>
                  <a:pt x="1841500" y="101602"/>
                </a:cubicBezTo>
                <a:lnTo>
                  <a:pt x="1841500" y="1320798"/>
                </a:lnTo>
                <a:cubicBezTo>
                  <a:pt x="1841500" y="1376911"/>
                  <a:pt x="1796011" y="1422400"/>
                  <a:pt x="1739898" y="1422400"/>
                </a:cubicBezTo>
                <a:lnTo>
                  <a:pt x="101602" y="1422400"/>
                </a:lnTo>
                <a:cubicBezTo>
                  <a:pt x="45489" y="1422400"/>
                  <a:pt x="0" y="1376911"/>
                  <a:pt x="0" y="13207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FFFF">
              <a:alpha val="9803"/>
            </a:srgbClr>
          </a:solidFill>
          <a:ln cap="flat" cmpd="sng" w="10150">
            <a:solidFill>
              <a:srgbClr val="FFFFFF">
                <a:alpha val="4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1"/>
          <p:cNvSpPr/>
          <p:nvPr/>
        </p:nvSpPr>
        <p:spPr>
          <a:xfrm>
            <a:off x="7048818" y="2921000"/>
            <a:ext cx="609600" cy="609600"/>
          </a:xfrm>
          <a:custGeom>
            <a:rect b="b" l="l" r="r" t="t"/>
            <a:pathLst>
              <a:path extrusionOk="0" h="609600" w="609600">
                <a:moveTo>
                  <a:pt x="142875" y="66675"/>
                </a:moveTo>
                <a:cubicBezTo>
                  <a:pt x="142875" y="29885"/>
                  <a:pt x="172760" y="0"/>
                  <a:pt x="209550" y="0"/>
                </a:cubicBezTo>
                <a:lnTo>
                  <a:pt x="238125" y="0"/>
                </a:lnTo>
                <a:cubicBezTo>
                  <a:pt x="259199" y="0"/>
                  <a:pt x="276225" y="17026"/>
                  <a:pt x="276225" y="38100"/>
                </a:cubicBezTo>
                <a:lnTo>
                  <a:pt x="276225" y="571500"/>
                </a:lnTo>
                <a:cubicBezTo>
                  <a:pt x="276225" y="592574"/>
                  <a:pt x="259199" y="609600"/>
                  <a:pt x="238125" y="609600"/>
                </a:cubicBezTo>
                <a:lnTo>
                  <a:pt x="200025" y="609600"/>
                </a:lnTo>
                <a:cubicBezTo>
                  <a:pt x="164544" y="609600"/>
                  <a:pt x="134660" y="585311"/>
                  <a:pt x="126206" y="552450"/>
                </a:cubicBezTo>
                <a:cubicBezTo>
                  <a:pt x="125373" y="552450"/>
                  <a:pt x="124658" y="552450"/>
                  <a:pt x="123825" y="552450"/>
                </a:cubicBezTo>
                <a:cubicBezTo>
                  <a:pt x="71199" y="552450"/>
                  <a:pt x="28575" y="509826"/>
                  <a:pt x="28575" y="457200"/>
                </a:cubicBezTo>
                <a:cubicBezTo>
                  <a:pt x="28575" y="435769"/>
                  <a:pt x="35719" y="416004"/>
                  <a:pt x="47625" y="400050"/>
                </a:cubicBezTo>
                <a:cubicBezTo>
                  <a:pt x="24527" y="382667"/>
                  <a:pt x="9525" y="355044"/>
                  <a:pt x="9525" y="323850"/>
                </a:cubicBezTo>
                <a:cubicBezTo>
                  <a:pt x="9525" y="287060"/>
                  <a:pt x="30480" y="255032"/>
                  <a:pt x="60960" y="239197"/>
                </a:cubicBezTo>
                <a:cubicBezTo>
                  <a:pt x="52507" y="224909"/>
                  <a:pt x="47625" y="208240"/>
                  <a:pt x="47625" y="190500"/>
                </a:cubicBezTo>
                <a:cubicBezTo>
                  <a:pt x="47625" y="137874"/>
                  <a:pt x="90249" y="95250"/>
                  <a:pt x="142875" y="95250"/>
                </a:cubicBezTo>
                <a:lnTo>
                  <a:pt x="142875" y="66675"/>
                </a:lnTo>
                <a:close/>
                <a:moveTo>
                  <a:pt x="466725" y="66675"/>
                </a:moveTo>
                <a:lnTo>
                  <a:pt x="466725" y="95250"/>
                </a:lnTo>
                <a:cubicBezTo>
                  <a:pt x="519351" y="95250"/>
                  <a:pt x="561975" y="137874"/>
                  <a:pt x="561975" y="190500"/>
                </a:cubicBezTo>
                <a:cubicBezTo>
                  <a:pt x="561975" y="208359"/>
                  <a:pt x="557093" y="225028"/>
                  <a:pt x="548640" y="239197"/>
                </a:cubicBezTo>
                <a:cubicBezTo>
                  <a:pt x="579239" y="255032"/>
                  <a:pt x="600075" y="286941"/>
                  <a:pt x="600075" y="323850"/>
                </a:cubicBezTo>
                <a:cubicBezTo>
                  <a:pt x="600075" y="355044"/>
                  <a:pt x="585073" y="382667"/>
                  <a:pt x="561975" y="400050"/>
                </a:cubicBezTo>
                <a:cubicBezTo>
                  <a:pt x="573881" y="416004"/>
                  <a:pt x="581025" y="435769"/>
                  <a:pt x="581025" y="457200"/>
                </a:cubicBezTo>
                <a:cubicBezTo>
                  <a:pt x="581025" y="509826"/>
                  <a:pt x="538401" y="552450"/>
                  <a:pt x="485775" y="552450"/>
                </a:cubicBezTo>
                <a:cubicBezTo>
                  <a:pt x="484942" y="552450"/>
                  <a:pt x="484227" y="552450"/>
                  <a:pt x="483394" y="552450"/>
                </a:cubicBezTo>
                <a:cubicBezTo>
                  <a:pt x="474940" y="585311"/>
                  <a:pt x="445056" y="609600"/>
                  <a:pt x="409575" y="609600"/>
                </a:cubicBezTo>
                <a:lnTo>
                  <a:pt x="371475" y="609600"/>
                </a:lnTo>
                <a:cubicBezTo>
                  <a:pt x="350401" y="609600"/>
                  <a:pt x="333375" y="592574"/>
                  <a:pt x="333375" y="571500"/>
                </a:cubicBezTo>
                <a:lnTo>
                  <a:pt x="333375" y="38100"/>
                </a:lnTo>
                <a:cubicBezTo>
                  <a:pt x="333375" y="17026"/>
                  <a:pt x="350401" y="0"/>
                  <a:pt x="371475" y="0"/>
                </a:cubicBezTo>
                <a:lnTo>
                  <a:pt x="400050" y="0"/>
                </a:lnTo>
                <a:cubicBezTo>
                  <a:pt x="436840" y="0"/>
                  <a:pt x="466725" y="29885"/>
                  <a:pt x="466725" y="66675"/>
                </a:cubicBez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1"/>
          <p:cNvSpPr/>
          <p:nvPr/>
        </p:nvSpPr>
        <p:spPr>
          <a:xfrm>
            <a:off x="6385243" y="3632200"/>
            <a:ext cx="1943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ES-EKF Fusion</a:t>
            </a:r>
            <a:endParaRPr b="0" i="0" sz="1600" u="none" cap="none" strike="noStrike"/>
          </a:p>
        </p:txBody>
      </p:sp>
      <p:sp>
        <p:nvSpPr>
          <p:cNvPr id="289" name="Google Shape;289;p21"/>
          <p:cNvSpPr/>
          <p:nvPr/>
        </p:nvSpPr>
        <p:spPr>
          <a:xfrm>
            <a:off x="8911431" y="3200400"/>
            <a:ext cx="514350" cy="457200"/>
          </a:xfrm>
          <a:custGeom>
            <a:rect b="b" l="l" r="r" t="t"/>
            <a:pathLst>
              <a:path extrusionOk="0" h="457200" w="514350">
                <a:moveTo>
                  <a:pt x="505956" y="248781"/>
                </a:moveTo>
                <a:cubicBezTo>
                  <a:pt x="517118" y="237619"/>
                  <a:pt x="517118" y="219492"/>
                  <a:pt x="505956" y="208330"/>
                </a:cubicBezTo>
                <a:lnTo>
                  <a:pt x="391656" y="94030"/>
                </a:lnTo>
                <a:cubicBezTo>
                  <a:pt x="380494" y="82868"/>
                  <a:pt x="362367" y="82868"/>
                  <a:pt x="351205" y="94030"/>
                </a:cubicBezTo>
                <a:cubicBezTo>
                  <a:pt x="340043" y="105192"/>
                  <a:pt x="340043" y="123319"/>
                  <a:pt x="351205" y="134481"/>
                </a:cubicBezTo>
                <a:lnTo>
                  <a:pt x="416749" y="200025"/>
                </a:lnTo>
                <a:lnTo>
                  <a:pt x="28575" y="200025"/>
                </a:lnTo>
                <a:cubicBezTo>
                  <a:pt x="12769" y="200025"/>
                  <a:pt x="0" y="212794"/>
                  <a:pt x="0" y="228600"/>
                </a:cubicBezTo>
                <a:cubicBezTo>
                  <a:pt x="0" y="244406"/>
                  <a:pt x="12769" y="257175"/>
                  <a:pt x="28575" y="257175"/>
                </a:cubicBezTo>
                <a:lnTo>
                  <a:pt x="416749" y="257175"/>
                </a:lnTo>
                <a:lnTo>
                  <a:pt x="351205" y="322719"/>
                </a:lnTo>
                <a:cubicBezTo>
                  <a:pt x="340042" y="333881"/>
                  <a:pt x="340042" y="352008"/>
                  <a:pt x="351205" y="363170"/>
                </a:cubicBezTo>
                <a:cubicBezTo>
                  <a:pt x="362367" y="374333"/>
                  <a:pt x="380494" y="374333"/>
                  <a:pt x="391656" y="363170"/>
                </a:cubicBezTo>
                <a:lnTo>
                  <a:pt x="505956" y="248870"/>
                </a:lnTo>
                <a:close/>
              </a:path>
            </a:pathLst>
          </a:custGeom>
          <a:solidFill>
            <a:srgbClr val="8C8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1"/>
          <p:cNvSpPr/>
          <p:nvPr/>
        </p:nvSpPr>
        <p:spPr>
          <a:xfrm>
            <a:off x="10465277" y="2921000"/>
            <a:ext cx="762000" cy="609600"/>
          </a:xfrm>
          <a:custGeom>
            <a:rect b="b" l="l" r="r" t="t"/>
            <a:pathLst>
              <a:path extrusionOk="0" h="609600" w="762000">
                <a:moveTo>
                  <a:pt x="685800" y="57150"/>
                </a:moveTo>
                <a:cubicBezTo>
                  <a:pt x="685800" y="43934"/>
                  <a:pt x="679013" y="31671"/>
                  <a:pt x="667702" y="24765"/>
                </a:cubicBezTo>
                <a:cubicBezTo>
                  <a:pt x="656392" y="17859"/>
                  <a:pt x="642461" y="17145"/>
                  <a:pt x="630674" y="23098"/>
                </a:cubicBezTo>
                <a:lnTo>
                  <a:pt x="492323" y="92273"/>
                </a:lnTo>
                <a:lnTo>
                  <a:pt x="278725" y="20955"/>
                </a:lnTo>
                <a:cubicBezTo>
                  <a:pt x="269081" y="17740"/>
                  <a:pt x="258723" y="18455"/>
                  <a:pt x="249674" y="22979"/>
                </a:cubicBezTo>
                <a:lnTo>
                  <a:pt x="97274" y="99179"/>
                </a:lnTo>
                <a:cubicBezTo>
                  <a:pt x="84296" y="105728"/>
                  <a:pt x="76200" y="118943"/>
                  <a:pt x="76200" y="133350"/>
                </a:cubicBezTo>
                <a:lnTo>
                  <a:pt x="76200" y="552450"/>
                </a:lnTo>
                <a:cubicBezTo>
                  <a:pt x="76200" y="565666"/>
                  <a:pt x="82987" y="577929"/>
                  <a:pt x="94298" y="584835"/>
                </a:cubicBezTo>
                <a:cubicBezTo>
                  <a:pt x="105608" y="591741"/>
                  <a:pt x="119539" y="592455"/>
                  <a:pt x="131326" y="586502"/>
                </a:cubicBezTo>
                <a:lnTo>
                  <a:pt x="269558" y="517327"/>
                </a:lnTo>
                <a:lnTo>
                  <a:pt x="475893" y="586145"/>
                </a:lnTo>
                <a:cubicBezTo>
                  <a:pt x="470773" y="578525"/>
                  <a:pt x="465773" y="570548"/>
                  <a:pt x="460891" y="562451"/>
                </a:cubicBezTo>
                <a:cubicBezTo>
                  <a:pt x="447794" y="540663"/>
                  <a:pt x="434816" y="515660"/>
                  <a:pt x="425172" y="488871"/>
                </a:cubicBezTo>
                <a:lnTo>
                  <a:pt x="304681" y="448747"/>
                </a:lnTo>
                <a:lnTo>
                  <a:pt x="304681" y="110014"/>
                </a:lnTo>
                <a:lnTo>
                  <a:pt x="457081" y="160853"/>
                </a:lnTo>
                <a:lnTo>
                  <a:pt x="457081" y="279083"/>
                </a:lnTo>
                <a:cubicBezTo>
                  <a:pt x="493990" y="236458"/>
                  <a:pt x="548759" y="209550"/>
                  <a:pt x="609481" y="209550"/>
                </a:cubicBezTo>
                <a:cubicBezTo>
                  <a:pt x="636389" y="209550"/>
                  <a:pt x="662107" y="214789"/>
                  <a:pt x="685681" y="224433"/>
                </a:cubicBezTo>
                <a:lnTo>
                  <a:pt x="685800" y="57150"/>
                </a:lnTo>
                <a:close/>
                <a:moveTo>
                  <a:pt x="609600" y="266700"/>
                </a:moveTo>
                <a:cubicBezTo>
                  <a:pt x="530662" y="266700"/>
                  <a:pt x="466725" y="329565"/>
                  <a:pt x="466725" y="407075"/>
                </a:cubicBezTo>
                <a:cubicBezTo>
                  <a:pt x="466725" y="489109"/>
                  <a:pt x="543044" y="586145"/>
                  <a:pt x="584121" y="632460"/>
                </a:cubicBezTo>
                <a:cubicBezTo>
                  <a:pt x="597932" y="647938"/>
                  <a:pt x="621387" y="647938"/>
                  <a:pt x="635198" y="632460"/>
                </a:cubicBezTo>
                <a:cubicBezTo>
                  <a:pt x="676275" y="586145"/>
                  <a:pt x="752594" y="489109"/>
                  <a:pt x="752594" y="407075"/>
                </a:cubicBezTo>
                <a:cubicBezTo>
                  <a:pt x="752594" y="329565"/>
                  <a:pt x="688658" y="266700"/>
                  <a:pt x="609719" y="266700"/>
                </a:cubicBezTo>
                <a:close/>
                <a:moveTo>
                  <a:pt x="561975" y="409575"/>
                </a:moveTo>
                <a:cubicBezTo>
                  <a:pt x="561975" y="383290"/>
                  <a:pt x="583315" y="361950"/>
                  <a:pt x="609600" y="361950"/>
                </a:cubicBezTo>
                <a:cubicBezTo>
                  <a:pt x="635885" y="361950"/>
                  <a:pt x="657225" y="383290"/>
                  <a:pt x="657225" y="409575"/>
                </a:cubicBezTo>
                <a:cubicBezTo>
                  <a:pt x="657225" y="435860"/>
                  <a:pt x="635885" y="457200"/>
                  <a:pt x="609600" y="457200"/>
                </a:cubicBezTo>
                <a:cubicBezTo>
                  <a:pt x="583315" y="457200"/>
                  <a:pt x="561975" y="435860"/>
                  <a:pt x="561975" y="409575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1"/>
          <p:cNvSpPr/>
          <p:nvPr/>
        </p:nvSpPr>
        <p:spPr>
          <a:xfrm>
            <a:off x="9801860" y="3632200"/>
            <a:ext cx="2082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2D Map &amp; Path</a:t>
            </a:r>
            <a:endParaRPr b="0" i="0" sz="1600" u="none" cap="none" strike="noStrike"/>
          </a:p>
        </p:txBody>
      </p:sp>
      <p:sp>
        <p:nvSpPr>
          <p:cNvPr id="292" name="Google Shape;292;p21"/>
          <p:cNvSpPr/>
          <p:nvPr/>
        </p:nvSpPr>
        <p:spPr>
          <a:xfrm>
            <a:off x="254000" y="4455164"/>
            <a:ext cx="1168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An Extended-State Extended Kalman Filter (ES-EKF) fuses data from multiple sources to create a robust understanding of the robot's state and environment, enabling it to build maps, avoid obstacles, and follow users effectively.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2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>
            <a:gsLst>
              <a:gs pos="0">
                <a:srgbClr val="F6F8FD"/>
              </a:gs>
              <a:gs pos="100000">
                <a:srgbClr val="BEBEBE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2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pic>
        <p:nvPicPr>
          <p:cNvPr descr="https://kimi-img.moonshot.cn/pub/slides/slides_tmpl/image/25-08-27-19:57:52-d2nf5g18bjvh7rlivt90.png" id="300" name="Google Shape;300;p22"/>
          <p:cNvPicPr preferRelativeResize="0"/>
          <p:nvPr/>
        </p:nvPicPr>
        <p:blipFill rotWithShape="1">
          <a:blip r:embed="rId3">
            <a:alphaModFix/>
          </a:blip>
          <a:srcRect b="0" l="20534" r="0" t="0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303" name="Google Shape;303;p22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Software Stack</a:t>
            </a:r>
            <a:endParaRPr b="0" i="0" sz="1600" u="none" cap="none" strike="noStrike"/>
          </a:p>
        </p:txBody>
      </p:sp>
      <p:sp>
        <p:nvSpPr>
          <p:cNvPr id="304" name="Google Shape;304;p22"/>
          <p:cNvSpPr/>
          <p:nvPr/>
        </p:nvSpPr>
        <p:spPr>
          <a:xfrm>
            <a:off x="7765415" y="1823085"/>
            <a:ext cx="1781810" cy="133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600" u="none" cap="none" strike="noStrike"/>
          </a:p>
        </p:txBody>
      </p:sp>
      <p:pic>
        <p:nvPicPr>
          <p:cNvPr descr="Fichier:Aperture Science Logo.svg — Wikipédia" id="305" name="Google Shape;305;p22"/>
          <p:cNvPicPr preferRelativeResize="0"/>
          <p:nvPr/>
        </p:nvPicPr>
        <p:blipFill rotWithShape="1">
          <a:blip r:embed="rId4">
            <a:alphaModFix/>
          </a:blip>
          <a:srcRect b="777" l="0" r="0" t="787"/>
          <a:stretch/>
        </p:blipFill>
        <p:spPr>
          <a:xfrm>
            <a:off x="1328420" y="2077085"/>
            <a:ext cx="2712719" cy="26701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kimi-img.moonshot.cn/pub/slides/slides_tmpl/image/25-08-27-19:57:52-d2nf5g18bjvh7rlivt9g.png" id="306" name="Google Shape;30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46590" y="2077085"/>
            <a:ext cx="920750" cy="335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3"/>
          <p:cNvSpPr/>
          <p:nvPr/>
        </p:nvSpPr>
        <p:spPr>
          <a:xfrm>
            <a:off x="254000" y="180340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Firmware &amp; RTOS Architecture</a:t>
            </a:r>
            <a:endParaRPr b="0" i="0" sz="1600" u="none" cap="none" strike="noStrike"/>
          </a:p>
        </p:txBody>
      </p:sp>
      <p:sp>
        <p:nvSpPr>
          <p:cNvPr id="313" name="Google Shape;313;p23"/>
          <p:cNvSpPr/>
          <p:nvPr/>
        </p:nvSpPr>
        <p:spPr>
          <a:xfrm>
            <a:off x="254000" y="2362200"/>
            <a:ext cx="12192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Reliable, real-time performance with FreeRTOS.</a:t>
            </a:r>
            <a:endParaRPr b="0" i="0" sz="1600" u="none" cap="none" strike="noStrike"/>
          </a:p>
        </p:txBody>
      </p:sp>
      <p:sp>
        <p:nvSpPr>
          <p:cNvPr id="314" name="Google Shape;314;p23"/>
          <p:cNvSpPr/>
          <p:nvPr/>
        </p:nvSpPr>
        <p:spPr>
          <a:xfrm>
            <a:off x="254000" y="3022600"/>
            <a:ext cx="5689600" cy="2032000"/>
          </a:xfrm>
          <a:custGeom>
            <a:rect b="b" l="l" r="r" t="t"/>
            <a:pathLst>
              <a:path extrusionOk="0" h="2032000" w="5689600">
                <a:moveTo>
                  <a:pt x="101600" y="0"/>
                </a:moveTo>
                <a:lnTo>
                  <a:pt x="5588000" y="0"/>
                </a:lnTo>
                <a:cubicBezTo>
                  <a:pt x="5644075" y="0"/>
                  <a:pt x="5689600" y="45525"/>
                  <a:pt x="5689600" y="101600"/>
                </a:cubicBezTo>
                <a:lnTo>
                  <a:pt x="5689600" y="1930400"/>
                </a:lnTo>
                <a:cubicBezTo>
                  <a:pt x="5689600" y="1986475"/>
                  <a:pt x="5644075" y="2032000"/>
                  <a:pt x="5588000" y="2032000"/>
                </a:cubicBezTo>
                <a:lnTo>
                  <a:pt x="101600" y="2032000"/>
                </a:lnTo>
                <a:cubicBezTo>
                  <a:pt x="45525" y="2032000"/>
                  <a:pt x="0" y="1986475"/>
                  <a:pt x="0" y="1930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262626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3"/>
          <p:cNvSpPr/>
          <p:nvPr/>
        </p:nvSpPr>
        <p:spPr>
          <a:xfrm>
            <a:off x="457200" y="3225800"/>
            <a:ext cx="5791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Real-Time Tasks (FreeRTOS)</a:t>
            </a:r>
            <a:endParaRPr b="0" i="0" sz="1600" u="none" cap="none" strike="noStrike"/>
          </a:p>
        </p:txBody>
      </p:sp>
      <p:sp>
        <p:nvSpPr>
          <p:cNvPr id="316" name="Google Shape;316;p23"/>
          <p:cNvSpPr/>
          <p:nvPr/>
        </p:nvSpPr>
        <p:spPr>
          <a:xfrm>
            <a:off x="482600" y="3723642"/>
            <a:ext cx="177800" cy="177800"/>
          </a:xfrm>
          <a:custGeom>
            <a:rect b="b" l="l" r="r" t="t"/>
            <a:pathLst>
              <a:path extrusionOk="0" h="177800" w="177800">
                <a:moveTo>
                  <a:pt x="46464" y="12606"/>
                </a:moveTo>
                <a:cubicBezTo>
                  <a:pt x="50249" y="15245"/>
                  <a:pt x="51152" y="20454"/>
                  <a:pt x="48513" y="24204"/>
                </a:cubicBezTo>
                <a:lnTo>
                  <a:pt x="29066" y="51986"/>
                </a:lnTo>
                <a:cubicBezTo>
                  <a:pt x="27642" y="54000"/>
                  <a:pt x="25420" y="55285"/>
                  <a:pt x="22954" y="55493"/>
                </a:cubicBezTo>
                <a:cubicBezTo>
                  <a:pt x="20489" y="55701"/>
                  <a:pt x="18058" y="54868"/>
                  <a:pt x="16321" y="53132"/>
                </a:cubicBezTo>
                <a:lnTo>
                  <a:pt x="2431" y="39241"/>
                </a:lnTo>
                <a:cubicBezTo>
                  <a:pt x="-799" y="35977"/>
                  <a:pt x="-799" y="30698"/>
                  <a:pt x="2431" y="27434"/>
                </a:cubicBezTo>
                <a:cubicBezTo>
                  <a:pt x="5660" y="24170"/>
                  <a:pt x="10974" y="24204"/>
                  <a:pt x="14238" y="27434"/>
                </a:cubicBezTo>
                <a:lnTo>
                  <a:pt x="21114" y="34310"/>
                </a:lnTo>
                <a:lnTo>
                  <a:pt x="34865" y="14655"/>
                </a:lnTo>
                <a:cubicBezTo>
                  <a:pt x="37505" y="10869"/>
                  <a:pt x="42714" y="9967"/>
                  <a:pt x="46464" y="12606"/>
                </a:cubicBezTo>
                <a:close/>
                <a:moveTo>
                  <a:pt x="46464" y="68168"/>
                </a:moveTo>
                <a:cubicBezTo>
                  <a:pt x="50249" y="70807"/>
                  <a:pt x="51152" y="76016"/>
                  <a:pt x="48513" y="79767"/>
                </a:cubicBezTo>
                <a:lnTo>
                  <a:pt x="29066" y="107548"/>
                </a:lnTo>
                <a:cubicBezTo>
                  <a:pt x="27642" y="109562"/>
                  <a:pt x="25420" y="110847"/>
                  <a:pt x="22954" y="111056"/>
                </a:cubicBezTo>
                <a:cubicBezTo>
                  <a:pt x="20489" y="111264"/>
                  <a:pt x="18058" y="110430"/>
                  <a:pt x="16321" y="108694"/>
                </a:cubicBezTo>
                <a:lnTo>
                  <a:pt x="2431" y="94804"/>
                </a:lnTo>
                <a:cubicBezTo>
                  <a:pt x="-833" y="91539"/>
                  <a:pt x="-833" y="86261"/>
                  <a:pt x="2431" y="83031"/>
                </a:cubicBezTo>
                <a:cubicBezTo>
                  <a:pt x="5695" y="79802"/>
                  <a:pt x="10974" y="79767"/>
                  <a:pt x="14203" y="83031"/>
                </a:cubicBezTo>
                <a:lnTo>
                  <a:pt x="21079" y="89907"/>
                </a:lnTo>
                <a:lnTo>
                  <a:pt x="34831" y="70252"/>
                </a:lnTo>
                <a:cubicBezTo>
                  <a:pt x="37470" y="66467"/>
                  <a:pt x="42679" y="65564"/>
                  <a:pt x="46429" y="68203"/>
                </a:cubicBezTo>
                <a:close/>
                <a:moveTo>
                  <a:pt x="77788" y="33337"/>
                </a:moveTo>
                <a:cubicBezTo>
                  <a:pt x="77788" y="27191"/>
                  <a:pt x="82753" y="22225"/>
                  <a:pt x="88900" y="22225"/>
                </a:cubicBezTo>
                <a:lnTo>
                  <a:pt x="166688" y="22225"/>
                </a:lnTo>
                <a:cubicBezTo>
                  <a:pt x="172834" y="22225"/>
                  <a:pt x="177800" y="27191"/>
                  <a:pt x="177800" y="33337"/>
                </a:cubicBezTo>
                <a:cubicBezTo>
                  <a:pt x="177800" y="39484"/>
                  <a:pt x="172834" y="44450"/>
                  <a:pt x="166688" y="44450"/>
                </a:cubicBezTo>
                <a:lnTo>
                  <a:pt x="88900" y="44450"/>
                </a:lnTo>
                <a:cubicBezTo>
                  <a:pt x="82753" y="44450"/>
                  <a:pt x="77788" y="39484"/>
                  <a:pt x="77788" y="33337"/>
                </a:cubicBezTo>
                <a:close/>
                <a:moveTo>
                  <a:pt x="77788" y="88900"/>
                </a:moveTo>
                <a:cubicBezTo>
                  <a:pt x="77788" y="82753"/>
                  <a:pt x="82753" y="77788"/>
                  <a:pt x="88900" y="77788"/>
                </a:cubicBezTo>
                <a:lnTo>
                  <a:pt x="166688" y="77788"/>
                </a:lnTo>
                <a:cubicBezTo>
                  <a:pt x="172834" y="77788"/>
                  <a:pt x="177800" y="82753"/>
                  <a:pt x="177800" y="88900"/>
                </a:cubicBezTo>
                <a:cubicBezTo>
                  <a:pt x="177800" y="95047"/>
                  <a:pt x="172834" y="100013"/>
                  <a:pt x="166688" y="100013"/>
                </a:cubicBezTo>
                <a:lnTo>
                  <a:pt x="88900" y="100013"/>
                </a:lnTo>
                <a:cubicBezTo>
                  <a:pt x="82753" y="100013"/>
                  <a:pt x="77788" y="95047"/>
                  <a:pt x="77788" y="88900"/>
                </a:cubicBezTo>
                <a:close/>
                <a:moveTo>
                  <a:pt x="55563" y="144463"/>
                </a:moveTo>
                <a:cubicBezTo>
                  <a:pt x="55563" y="138316"/>
                  <a:pt x="60528" y="133350"/>
                  <a:pt x="66675" y="133350"/>
                </a:cubicBezTo>
                <a:lnTo>
                  <a:pt x="166688" y="133350"/>
                </a:lnTo>
                <a:cubicBezTo>
                  <a:pt x="172834" y="133350"/>
                  <a:pt x="177800" y="138316"/>
                  <a:pt x="177800" y="144463"/>
                </a:cubicBezTo>
                <a:cubicBezTo>
                  <a:pt x="177800" y="150609"/>
                  <a:pt x="172834" y="155575"/>
                  <a:pt x="166688" y="155575"/>
                </a:cubicBezTo>
                <a:lnTo>
                  <a:pt x="66675" y="155575"/>
                </a:lnTo>
                <a:cubicBezTo>
                  <a:pt x="60528" y="155575"/>
                  <a:pt x="55563" y="150609"/>
                  <a:pt x="55563" y="144463"/>
                </a:cubicBezTo>
                <a:close/>
                <a:moveTo>
                  <a:pt x="22225" y="130572"/>
                </a:moveTo>
                <a:cubicBezTo>
                  <a:pt x="29891" y="130572"/>
                  <a:pt x="36116" y="136796"/>
                  <a:pt x="36116" y="144463"/>
                </a:cubicBezTo>
                <a:cubicBezTo>
                  <a:pt x="36116" y="152129"/>
                  <a:pt x="29891" y="158353"/>
                  <a:pt x="22225" y="158353"/>
                </a:cubicBezTo>
                <a:cubicBezTo>
                  <a:pt x="14559" y="158353"/>
                  <a:pt x="8334" y="152129"/>
                  <a:pt x="8334" y="144463"/>
                </a:cubicBezTo>
                <a:cubicBezTo>
                  <a:pt x="8334" y="136796"/>
                  <a:pt x="14559" y="130572"/>
                  <a:pt x="22225" y="130572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3"/>
          <p:cNvSpPr/>
          <p:nvPr/>
        </p:nvSpPr>
        <p:spPr>
          <a:xfrm>
            <a:off x="787400" y="3683000"/>
            <a:ext cx="4953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Sensor Data Collection</a:t>
            </a:r>
            <a:endParaRPr b="0" i="0" sz="1600" u="none" cap="none" strike="noStrike"/>
          </a:p>
        </p:txBody>
      </p:sp>
      <p:sp>
        <p:nvSpPr>
          <p:cNvPr id="318" name="Google Shape;318;p23"/>
          <p:cNvSpPr/>
          <p:nvPr/>
        </p:nvSpPr>
        <p:spPr>
          <a:xfrm>
            <a:off x="482600" y="4028442"/>
            <a:ext cx="177800" cy="177800"/>
          </a:xfrm>
          <a:custGeom>
            <a:rect b="b" l="l" r="r" t="t"/>
            <a:pathLst>
              <a:path extrusionOk="0" h="177800" w="177800">
                <a:moveTo>
                  <a:pt x="46464" y="12606"/>
                </a:moveTo>
                <a:cubicBezTo>
                  <a:pt x="50249" y="15245"/>
                  <a:pt x="51152" y="20454"/>
                  <a:pt x="48513" y="24204"/>
                </a:cubicBezTo>
                <a:lnTo>
                  <a:pt x="29066" y="51986"/>
                </a:lnTo>
                <a:cubicBezTo>
                  <a:pt x="27642" y="54000"/>
                  <a:pt x="25420" y="55285"/>
                  <a:pt x="22954" y="55493"/>
                </a:cubicBezTo>
                <a:cubicBezTo>
                  <a:pt x="20489" y="55701"/>
                  <a:pt x="18058" y="54868"/>
                  <a:pt x="16321" y="53132"/>
                </a:cubicBezTo>
                <a:lnTo>
                  <a:pt x="2431" y="39241"/>
                </a:lnTo>
                <a:cubicBezTo>
                  <a:pt x="-799" y="35977"/>
                  <a:pt x="-799" y="30698"/>
                  <a:pt x="2431" y="27434"/>
                </a:cubicBezTo>
                <a:cubicBezTo>
                  <a:pt x="5660" y="24170"/>
                  <a:pt x="10974" y="24204"/>
                  <a:pt x="14238" y="27434"/>
                </a:cubicBezTo>
                <a:lnTo>
                  <a:pt x="21114" y="34310"/>
                </a:lnTo>
                <a:lnTo>
                  <a:pt x="34865" y="14655"/>
                </a:lnTo>
                <a:cubicBezTo>
                  <a:pt x="37505" y="10869"/>
                  <a:pt x="42714" y="9967"/>
                  <a:pt x="46464" y="12606"/>
                </a:cubicBezTo>
                <a:close/>
                <a:moveTo>
                  <a:pt x="46464" y="68168"/>
                </a:moveTo>
                <a:cubicBezTo>
                  <a:pt x="50249" y="70807"/>
                  <a:pt x="51152" y="76016"/>
                  <a:pt x="48513" y="79767"/>
                </a:cubicBezTo>
                <a:lnTo>
                  <a:pt x="29066" y="107548"/>
                </a:lnTo>
                <a:cubicBezTo>
                  <a:pt x="27642" y="109562"/>
                  <a:pt x="25420" y="110847"/>
                  <a:pt x="22954" y="111056"/>
                </a:cubicBezTo>
                <a:cubicBezTo>
                  <a:pt x="20489" y="111264"/>
                  <a:pt x="18058" y="110430"/>
                  <a:pt x="16321" y="108694"/>
                </a:cubicBezTo>
                <a:lnTo>
                  <a:pt x="2431" y="94804"/>
                </a:lnTo>
                <a:cubicBezTo>
                  <a:pt x="-833" y="91539"/>
                  <a:pt x="-833" y="86261"/>
                  <a:pt x="2431" y="83031"/>
                </a:cubicBezTo>
                <a:cubicBezTo>
                  <a:pt x="5695" y="79802"/>
                  <a:pt x="10974" y="79767"/>
                  <a:pt x="14203" y="83031"/>
                </a:cubicBezTo>
                <a:lnTo>
                  <a:pt x="21079" y="89907"/>
                </a:lnTo>
                <a:lnTo>
                  <a:pt x="34831" y="70252"/>
                </a:lnTo>
                <a:cubicBezTo>
                  <a:pt x="37470" y="66467"/>
                  <a:pt x="42679" y="65564"/>
                  <a:pt x="46429" y="68203"/>
                </a:cubicBezTo>
                <a:close/>
                <a:moveTo>
                  <a:pt x="77788" y="33337"/>
                </a:moveTo>
                <a:cubicBezTo>
                  <a:pt x="77788" y="27191"/>
                  <a:pt x="82753" y="22225"/>
                  <a:pt x="88900" y="22225"/>
                </a:cubicBezTo>
                <a:lnTo>
                  <a:pt x="166688" y="22225"/>
                </a:lnTo>
                <a:cubicBezTo>
                  <a:pt x="172834" y="22225"/>
                  <a:pt x="177800" y="27191"/>
                  <a:pt x="177800" y="33337"/>
                </a:cubicBezTo>
                <a:cubicBezTo>
                  <a:pt x="177800" y="39484"/>
                  <a:pt x="172834" y="44450"/>
                  <a:pt x="166688" y="44450"/>
                </a:cubicBezTo>
                <a:lnTo>
                  <a:pt x="88900" y="44450"/>
                </a:lnTo>
                <a:cubicBezTo>
                  <a:pt x="82753" y="44450"/>
                  <a:pt x="77788" y="39484"/>
                  <a:pt x="77788" y="33337"/>
                </a:cubicBezTo>
                <a:close/>
                <a:moveTo>
                  <a:pt x="77788" y="88900"/>
                </a:moveTo>
                <a:cubicBezTo>
                  <a:pt x="77788" y="82753"/>
                  <a:pt x="82753" y="77788"/>
                  <a:pt x="88900" y="77788"/>
                </a:cubicBezTo>
                <a:lnTo>
                  <a:pt x="166688" y="77788"/>
                </a:lnTo>
                <a:cubicBezTo>
                  <a:pt x="172834" y="77788"/>
                  <a:pt x="177800" y="82753"/>
                  <a:pt x="177800" y="88900"/>
                </a:cubicBezTo>
                <a:cubicBezTo>
                  <a:pt x="177800" y="95047"/>
                  <a:pt x="172834" y="100013"/>
                  <a:pt x="166688" y="100013"/>
                </a:cubicBezTo>
                <a:lnTo>
                  <a:pt x="88900" y="100013"/>
                </a:lnTo>
                <a:cubicBezTo>
                  <a:pt x="82753" y="100013"/>
                  <a:pt x="77788" y="95047"/>
                  <a:pt x="77788" y="88900"/>
                </a:cubicBezTo>
                <a:close/>
                <a:moveTo>
                  <a:pt x="55563" y="144463"/>
                </a:moveTo>
                <a:cubicBezTo>
                  <a:pt x="55563" y="138316"/>
                  <a:pt x="60528" y="133350"/>
                  <a:pt x="66675" y="133350"/>
                </a:cubicBezTo>
                <a:lnTo>
                  <a:pt x="166688" y="133350"/>
                </a:lnTo>
                <a:cubicBezTo>
                  <a:pt x="172834" y="133350"/>
                  <a:pt x="177800" y="138316"/>
                  <a:pt x="177800" y="144463"/>
                </a:cubicBezTo>
                <a:cubicBezTo>
                  <a:pt x="177800" y="150609"/>
                  <a:pt x="172834" y="155575"/>
                  <a:pt x="166688" y="155575"/>
                </a:cubicBezTo>
                <a:lnTo>
                  <a:pt x="66675" y="155575"/>
                </a:lnTo>
                <a:cubicBezTo>
                  <a:pt x="60528" y="155575"/>
                  <a:pt x="55563" y="150609"/>
                  <a:pt x="55563" y="144463"/>
                </a:cubicBezTo>
                <a:close/>
                <a:moveTo>
                  <a:pt x="22225" y="130572"/>
                </a:moveTo>
                <a:cubicBezTo>
                  <a:pt x="29891" y="130572"/>
                  <a:pt x="36116" y="136796"/>
                  <a:pt x="36116" y="144463"/>
                </a:cubicBezTo>
                <a:cubicBezTo>
                  <a:pt x="36116" y="152129"/>
                  <a:pt x="29891" y="158353"/>
                  <a:pt x="22225" y="158353"/>
                </a:cubicBezTo>
                <a:cubicBezTo>
                  <a:pt x="14559" y="158353"/>
                  <a:pt x="8334" y="152129"/>
                  <a:pt x="8334" y="144463"/>
                </a:cubicBezTo>
                <a:cubicBezTo>
                  <a:pt x="8334" y="136796"/>
                  <a:pt x="14559" y="130572"/>
                  <a:pt x="22225" y="130572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3"/>
          <p:cNvSpPr/>
          <p:nvPr/>
        </p:nvSpPr>
        <p:spPr>
          <a:xfrm>
            <a:off x="787400" y="3987800"/>
            <a:ext cx="4953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Servo Control Loops</a:t>
            </a:r>
            <a:endParaRPr b="0" i="0" sz="1600" u="none" cap="none" strike="noStrike"/>
          </a:p>
        </p:txBody>
      </p:sp>
      <p:sp>
        <p:nvSpPr>
          <p:cNvPr id="320" name="Google Shape;320;p23"/>
          <p:cNvSpPr/>
          <p:nvPr/>
        </p:nvSpPr>
        <p:spPr>
          <a:xfrm>
            <a:off x="482600" y="4333242"/>
            <a:ext cx="177800" cy="177800"/>
          </a:xfrm>
          <a:custGeom>
            <a:rect b="b" l="l" r="r" t="t"/>
            <a:pathLst>
              <a:path extrusionOk="0" h="177800" w="177800">
                <a:moveTo>
                  <a:pt x="46464" y="12606"/>
                </a:moveTo>
                <a:cubicBezTo>
                  <a:pt x="50249" y="15245"/>
                  <a:pt x="51152" y="20454"/>
                  <a:pt x="48513" y="24204"/>
                </a:cubicBezTo>
                <a:lnTo>
                  <a:pt x="29066" y="51986"/>
                </a:lnTo>
                <a:cubicBezTo>
                  <a:pt x="27642" y="54000"/>
                  <a:pt x="25420" y="55285"/>
                  <a:pt x="22954" y="55493"/>
                </a:cubicBezTo>
                <a:cubicBezTo>
                  <a:pt x="20489" y="55701"/>
                  <a:pt x="18058" y="54868"/>
                  <a:pt x="16321" y="53132"/>
                </a:cubicBezTo>
                <a:lnTo>
                  <a:pt x="2431" y="39241"/>
                </a:lnTo>
                <a:cubicBezTo>
                  <a:pt x="-799" y="35977"/>
                  <a:pt x="-799" y="30698"/>
                  <a:pt x="2431" y="27434"/>
                </a:cubicBezTo>
                <a:cubicBezTo>
                  <a:pt x="5660" y="24170"/>
                  <a:pt x="10974" y="24204"/>
                  <a:pt x="14238" y="27434"/>
                </a:cubicBezTo>
                <a:lnTo>
                  <a:pt x="21114" y="34310"/>
                </a:lnTo>
                <a:lnTo>
                  <a:pt x="34865" y="14655"/>
                </a:lnTo>
                <a:cubicBezTo>
                  <a:pt x="37505" y="10869"/>
                  <a:pt x="42714" y="9967"/>
                  <a:pt x="46464" y="12606"/>
                </a:cubicBezTo>
                <a:close/>
                <a:moveTo>
                  <a:pt x="46464" y="68168"/>
                </a:moveTo>
                <a:cubicBezTo>
                  <a:pt x="50249" y="70807"/>
                  <a:pt x="51152" y="76016"/>
                  <a:pt x="48513" y="79767"/>
                </a:cubicBezTo>
                <a:lnTo>
                  <a:pt x="29066" y="107548"/>
                </a:lnTo>
                <a:cubicBezTo>
                  <a:pt x="27642" y="109562"/>
                  <a:pt x="25420" y="110847"/>
                  <a:pt x="22954" y="111056"/>
                </a:cubicBezTo>
                <a:cubicBezTo>
                  <a:pt x="20489" y="111264"/>
                  <a:pt x="18058" y="110430"/>
                  <a:pt x="16321" y="108694"/>
                </a:cubicBezTo>
                <a:lnTo>
                  <a:pt x="2431" y="94804"/>
                </a:lnTo>
                <a:cubicBezTo>
                  <a:pt x="-833" y="91539"/>
                  <a:pt x="-833" y="86261"/>
                  <a:pt x="2431" y="83031"/>
                </a:cubicBezTo>
                <a:cubicBezTo>
                  <a:pt x="5695" y="79802"/>
                  <a:pt x="10974" y="79767"/>
                  <a:pt x="14203" y="83031"/>
                </a:cubicBezTo>
                <a:lnTo>
                  <a:pt x="21079" y="89907"/>
                </a:lnTo>
                <a:lnTo>
                  <a:pt x="34831" y="70252"/>
                </a:lnTo>
                <a:cubicBezTo>
                  <a:pt x="37470" y="66467"/>
                  <a:pt x="42679" y="65564"/>
                  <a:pt x="46429" y="68203"/>
                </a:cubicBezTo>
                <a:close/>
                <a:moveTo>
                  <a:pt x="77788" y="33337"/>
                </a:moveTo>
                <a:cubicBezTo>
                  <a:pt x="77788" y="27191"/>
                  <a:pt x="82753" y="22225"/>
                  <a:pt x="88900" y="22225"/>
                </a:cubicBezTo>
                <a:lnTo>
                  <a:pt x="166688" y="22225"/>
                </a:lnTo>
                <a:cubicBezTo>
                  <a:pt x="172834" y="22225"/>
                  <a:pt x="177800" y="27191"/>
                  <a:pt x="177800" y="33337"/>
                </a:cubicBezTo>
                <a:cubicBezTo>
                  <a:pt x="177800" y="39484"/>
                  <a:pt x="172834" y="44450"/>
                  <a:pt x="166688" y="44450"/>
                </a:cubicBezTo>
                <a:lnTo>
                  <a:pt x="88900" y="44450"/>
                </a:lnTo>
                <a:cubicBezTo>
                  <a:pt x="82753" y="44450"/>
                  <a:pt x="77788" y="39484"/>
                  <a:pt x="77788" y="33337"/>
                </a:cubicBezTo>
                <a:close/>
                <a:moveTo>
                  <a:pt x="77788" y="88900"/>
                </a:moveTo>
                <a:cubicBezTo>
                  <a:pt x="77788" y="82753"/>
                  <a:pt x="82753" y="77788"/>
                  <a:pt x="88900" y="77788"/>
                </a:cubicBezTo>
                <a:lnTo>
                  <a:pt x="166688" y="77788"/>
                </a:lnTo>
                <a:cubicBezTo>
                  <a:pt x="172834" y="77788"/>
                  <a:pt x="177800" y="82753"/>
                  <a:pt x="177800" y="88900"/>
                </a:cubicBezTo>
                <a:cubicBezTo>
                  <a:pt x="177800" y="95047"/>
                  <a:pt x="172834" y="100013"/>
                  <a:pt x="166688" y="100013"/>
                </a:cubicBezTo>
                <a:lnTo>
                  <a:pt x="88900" y="100013"/>
                </a:lnTo>
                <a:cubicBezTo>
                  <a:pt x="82753" y="100013"/>
                  <a:pt x="77788" y="95047"/>
                  <a:pt x="77788" y="88900"/>
                </a:cubicBezTo>
                <a:close/>
                <a:moveTo>
                  <a:pt x="55563" y="144463"/>
                </a:moveTo>
                <a:cubicBezTo>
                  <a:pt x="55563" y="138316"/>
                  <a:pt x="60528" y="133350"/>
                  <a:pt x="66675" y="133350"/>
                </a:cubicBezTo>
                <a:lnTo>
                  <a:pt x="166688" y="133350"/>
                </a:lnTo>
                <a:cubicBezTo>
                  <a:pt x="172834" y="133350"/>
                  <a:pt x="177800" y="138316"/>
                  <a:pt x="177800" y="144463"/>
                </a:cubicBezTo>
                <a:cubicBezTo>
                  <a:pt x="177800" y="150609"/>
                  <a:pt x="172834" y="155575"/>
                  <a:pt x="166688" y="155575"/>
                </a:cubicBezTo>
                <a:lnTo>
                  <a:pt x="66675" y="155575"/>
                </a:lnTo>
                <a:cubicBezTo>
                  <a:pt x="60528" y="155575"/>
                  <a:pt x="55563" y="150609"/>
                  <a:pt x="55563" y="144463"/>
                </a:cubicBezTo>
                <a:close/>
                <a:moveTo>
                  <a:pt x="22225" y="130572"/>
                </a:moveTo>
                <a:cubicBezTo>
                  <a:pt x="29891" y="130572"/>
                  <a:pt x="36116" y="136796"/>
                  <a:pt x="36116" y="144463"/>
                </a:cubicBezTo>
                <a:cubicBezTo>
                  <a:pt x="36116" y="152129"/>
                  <a:pt x="29891" y="158353"/>
                  <a:pt x="22225" y="158353"/>
                </a:cubicBezTo>
                <a:cubicBezTo>
                  <a:pt x="14559" y="158353"/>
                  <a:pt x="8334" y="152129"/>
                  <a:pt x="8334" y="144463"/>
                </a:cubicBezTo>
                <a:cubicBezTo>
                  <a:pt x="8334" y="136796"/>
                  <a:pt x="14559" y="130572"/>
                  <a:pt x="22225" y="130572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3"/>
          <p:cNvSpPr/>
          <p:nvPr/>
        </p:nvSpPr>
        <p:spPr>
          <a:xfrm>
            <a:off x="787400" y="4292600"/>
            <a:ext cx="4953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Wake Word Detection</a:t>
            </a:r>
            <a:endParaRPr b="0" i="0" sz="1600" u="none" cap="none" strike="noStrike"/>
          </a:p>
        </p:txBody>
      </p:sp>
      <p:sp>
        <p:nvSpPr>
          <p:cNvPr id="322" name="Google Shape;322;p23"/>
          <p:cNvSpPr/>
          <p:nvPr/>
        </p:nvSpPr>
        <p:spPr>
          <a:xfrm>
            <a:off x="482600" y="4638042"/>
            <a:ext cx="177800" cy="177800"/>
          </a:xfrm>
          <a:custGeom>
            <a:rect b="b" l="l" r="r" t="t"/>
            <a:pathLst>
              <a:path extrusionOk="0" h="177800" w="177800">
                <a:moveTo>
                  <a:pt x="46464" y="12606"/>
                </a:moveTo>
                <a:cubicBezTo>
                  <a:pt x="50249" y="15245"/>
                  <a:pt x="51152" y="20454"/>
                  <a:pt x="48513" y="24204"/>
                </a:cubicBezTo>
                <a:lnTo>
                  <a:pt x="29066" y="51986"/>
                </a:lnTo>
                <a:cubicBezTo>
                  <a:pt x="27642" y="54000"/>
                  <a:pt x="25420" y="55285"/>
                  <a:pt x="22954" y="55493"/>
                </a:cubicBezTo>
                <a:cubicBezTo>
                  <a:pt x="20489" y="55701"/>
                  <a:pt x="18058" y="54868"/>
                  <a:pt x="16321" y="53132"/>
                </a:cubicBezTo>
                <a:lnTo>
                  <a:pt x="2431" y="39241"/>
                </a:lnTo>
                <a:cubicBezTo>
                  <a:pt x="-799" y="35977"/>
                  <a:pt x="-799" y="30698"/>
                  <a:pt x="2431" y="27434"/>
                </a:cubicBezTo>
                <a:cubicBezTo>
                  <a:pt x="5660" y="24170"/>
                  <a:pt x="10974" y="24204"/>
                  <a:pt x="14238" y="27434"/>
                </a:cubicBezTo>
                <a:lnTo>
                  <a:pt x="21114" y="34310"/>
                </a:lnTo>
                <a:lnTo>
                  <a:pt x="34865" y="14655"/>
                </a:lnTo>
                <a:cubicBezTo>
                  <a:pt x="37505" y="10869"/>
                  <a:pt x="42714" y="9967"/>
                  <a:pt x="46464" y="12606"/>
                </a:cubicBezTo>
                <a:close/>
                <a:moveTo>
                  <a:pt x="46464" y="68168"/>
                </a:moveTo>
                <a:cubicBezTo>
                  <a:pt x="50249" y="70807"/>
                  <a:pt x="51152" y="76016"/>
                  <a:pt x="48513" y="79767"/>
                </a:cubicBezTo>
                <a:lnTo>
                  <a:pt x="29066" y="107548"/>
                </a:lnTo>
                <a:cubicBezTo>
                  <a:pt x="27642" y="109562"/>
                  <a:pt x="25420" y="110847"/>
                  <a:pt x="22954" y="111056"/>
                </a:cubicBezTo>
                <a:cubicBezTo>
                  <a:pt x="20489" y="111264"/>
                  <a:pt x="18058" y="110430"/>
                  <a:pt x="16321" y="108694"/>
                </a:cubicBezTo>
                <a:lnTo>
                  <a:pt x="2431" y="94804"/>
                </a:lnTo>
                <a:cubicBezTo>
                  <a:pt x="-833" y="91539"/>
                  <a:pt x="-833" y="86261"/>
                  <a:pt x="2431" y="83031"/>
                </a:cubicBezTo>
                <a:cubicBezTo>
                  <a:pt x="5695" y="79802"/>
                  <a:pt x="10974" y="79767"/>
                  <a:pt x="14203" y="83031"/>
                </a:cubicBezTo>
                <a:lnTo>
                  <a:pt x="21079" y="89907"/>
                </a:lnTo>
                <a:lnTo>
                  <a:pt x="34831" y="70252"/>
                </a:lnTo>
                <a:cubicBezTo>
                  <a:pt x="37470" y="66467"/>
                  <a:pt x="42679" y="65564"/>
                  <a:pt x="46429" y="68203"/>
                </a:cubicBezTo>
                <a:close/>
                <a:moveTo>
                  <a:pt x="77788" y="33337"/>
                </a:moveTo>
                <a:cubicBezTo>
                  <a:pt x="77788" y="27191"/>
                  <a:pt x="82753" y="22225"/>
                  <a:pt x="88900" y="22225"/>
                </a:cubicBezTo>
                <a:lnTo>
                  <a:pt x="166688" y="22225"/>
                </a:lnTo>
                <a:cubicBezTo>
                  <a:pt x="172834" y="22225"/>
                  <a:pt x="177800" y="27191"/>
                  <a:pt x="177800" y="33337"/>
                </a:cubicBezTo>
                <a:cubicBezTo>
                  <a:pt x="177800" y="39484"/>
                  <a:pt x="172834" y="44450"/>
                  <a:pt x="166688" y="44450"/>
                </a:cubicBezTo>
                <a:lnTo>
                  <a:pt x="88900" y="44450"/>
                </a:lnTo>
                <a:cubicBezTo>
                  <a:pt x="82753" y="44450"/>
                  <a:pt x="77788" y="39484"/>
                  <a:pt x="77788" y="33337"/>
                </a:cubicBezTo>
                <a:close/>
                <a:moveTo>
                  <a:pt x="77788" y="88900"/>
                </a:moveTo>
                <a:cubicBezTo>
                  <a:pt x="77788" y="82753"/>
                  <a:pt x="82753" y="77788"/>
                  <a:pt x="88900" y="77788"/>
                </a:cubicBezTo>
                <a:lnTo>
                  <a:pt x="166688" y="77788"/>
                </a:lnTo>
                <a:cubicBezTo>
                  <a:pt x="172834" y="77788"/>
                  <a:pt x="177800" y="82753"/>
                  <a:pt x="177800" y="88900"/>
                </a:cubicBezTo>
                <a:cubicBezTo>
                  <a:pt x="177800" y="95047"/>
                  <a:pt x="172834" y="100013"/>
                  <a:pt x="166688" y="100013"/>
                </a:cubicBezTo>
                <a:lnTo>
                  <a:pt x="88900" y="100013"/>
                </a:lnTo>
                <a:cubicBezTo>
                  <a:pt x="82753" y="100013"/>
                  <a:pt x="77788" y="95047"/>
                  <a:pt x="77788" y="88900"/>
                </a:cubicBezTo>
                <a:close/>
                <a:moveTo>
                  <a:pt x="55563" y="144463"/>
                </a:moveTo>
                <a:cubicBezTo>
                  <a:pt x="55563" y="138316"/>
                  <a:pt x="60528" y="133350"/>
                  <a:pt x="66675" y="133350"/>
                </a:cubicBezTo>
                <a:lnTo>
                  <a:pt x="166688" y="133350"/>
                </a:lnTo>
                <a:cubicBezTo>
                  <a:pt x="172834" y="133350"/>
                  <a:pt x="177800" y="138316"/>
                  <a:pt x="177800" y="144463"/>
                </a:cubicBezTo>
                <a:cubicBezTo>
                  <a:pt x="177800" y="150609"/>
                  <a:pt x="172834" y="155575"/>
                  <a:pt x="166688" y="155575"/>
                </a:cubicBezTo>
                <a:lnTo>
                  <a:pt x="66675" y="155575"/>
                </a:lnTo>
                <a:cubicBezTo>
                  <a:pt x="60528" y="155575"/>
                  <a:pt x="55563" y="150609"/>
                  <a:pt x="55563" y="144463"/>
                </a:cubicBezTo>
                <a:close/>
                <a:moveTo>
                  <a:pt x="22225" y="130572"/>
                </a:moveTo>
                <a:cubicBezTo>
                  <a:pt x="29891" y="130572"/>
                  <a:pt x="36116" y="136796"/>
                  <a:pt x="36116" y="144463"/>
                </a:cubicBezTo>
                <a:cubicBezTo>
                  <a:pt x="36116" y="152129"/>
                  <a:pt x="29891" y="158353"/>
                  <a:pt x="22225" y="158353"/>
                </a:cubicBezTo>
                <a:cubicBezTo>
                  <a:pt x="14559" y="158353"/>
                  <a:pt x="8334" y="152129"/>
                  <a:pt x="8334" y="144463"/>
                </a:cubicBezTo>
                <a:cubicBezTo>
                  <a:pt x="8334" y="136796"/>
                  <a:pt x="14559" y="130572"/>
                  <a:pt x="22225" y="130572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3"/>
          <p:cNvSpPr/>
          <p:nvPr/>
        </p:nvSpPr>
        <p:spPr>
          <a:xfrm>
            <a:off x="787400" y="4597400"/>
            <a:ext cx="4953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IMU Balance Control</a:t>
            </a:r>
            <a:endParaRPr b="0" i="0" sz="1600" u="none" cap="none" strike="noStrike"/>
          </a:p>
        </p:txBody>
      </p:sp>
      <p:sp>
        <p:nvSpPr>
          <p:cNvPr id="324" name="Google Shape;324;p23"/>
          <p:cNvSpPr/>
          <p:nvPr/>
        </p:nvSpPr>
        <p:spPr>
          <a:xfrm>
            <a:off x="6248400" y="3022600"/>
            <a:ext cx="5689600" cy="2032000"/>
          </a:xfrm>
          <a:custGeom>
            <a:rect b="b" l="l" r="r" t="t"/>
            <a:pathLst>
              <a:path extrusionOk="0" h="2032000" w="5689600">
                <a:moveTo>
                  <a:pt x="101600" y="0"/>
                </a:moveTo>
                <a:lnTo>
                  <a:pt x="5588000" y="0"/>
                </a:lnTo>
                <a:cubicBezTo>
                  <a:pt x="5644075" y="0"/>
                  <a:pt x="5689600" y="45525"/>
                  <a:pt x="5689600" y="101600"/>
                </a:cubicBezTo>
                <a:lnTo>
                  <a:pt x="5689600" y="1930400"/>
                </a:lnTo>
                <a:cubicBezTo>
                  <a:pt x="5689600" y="1986475"/>
                  <a:pt x="5644075" y="2032000"/>
                  <a:pt x="5588000" y="2032000"/>
                </a:cubicBezTo>
                <a:lnTo>
                  <a:pt x="101600" y="2032000"/>
                </a:lnTo>
                <a:cubicBezTo>
                  <a:pt x="45525" y="2032000"/>
                  <a:pt x="0" y="1986475"/>
                  <a:pt x="0" y="1930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8C8C8C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3"/>
          <p:cNvSpPr/>
          <p:nvPr/>
        </p:nvSpPr>
        <p:spPr>
          <a:xfrm>
            <a:off x="6451600" y="3225800"/>
            <a:ext cx="5791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Communication &amp; Control</a:t>
            </a:r>
            <a:endParaRPr b="0" i="0" sz="1600" u="none" cap="none" strike="noStrike"/>
          </a:p>
        </p:txBody>
      </p:sp>
      <p:sp>
        <p:nvSpPr>
          <p:cNvPr id="326" name="Google Shape;326;p23"/>
          <p:cNvSpPr/>
          <p:nvPr/>
        </p:nvSpPr>
        <p:spPr>
          <a:xfrm>
            <a:off x="6477000" y="3723642"/>
            <a:ext cx="177800" cy="177800"/>
          </a:xfrm>
          <a:custGeom>
            <a:rect b="b" l="l" r="r" t="t"/>
            <a:pathLst>
              <a:path extrusionOk="0" h="177800" w="177800">
                <a:moveTo>
                  <a:pt x="174536" y="52298"/>
                </a:moveTo>
                <a:lnTo>
                  <a:pt x="141198" y="85636"/>
                </a:lnTo>
                <a:cubicBezTo>
                  <a:pt x="138003" y="88831"/>
                  <a:pt x="133246" y="89768"/>
                  <a:pt x="129079" y="88032"/>
                </a:cubicBezTo>
                <a:cubicBezTo>
                  <a:pt x="124911" y="86296"/>
                  <a:pt x="122238" y="82267"/>
                  <a:pt x="122238" y="77788"/>
                </a:cubicBezTo>
                <a:lnTo>
                  <a:pt x="122238" y="55563"/>
                </a:lnTo>
                <a:lnTo>
                  <a:pt x="11112" y="55563"/>
                </a:lnTo>
                <a:cubicBezTo>
                  <a:pt x="4966" y="55563"/>
                  <a:pt x="0" y="50597"/>
                  <a:pt x="0" y="44450"/>
                </a:cubicBezTo>
                <a:cubicBezTo>
                  <a:pt x="0" y="38303"/>
                  <a:pt x="4966" y="33337"/>
                  <a:pt x="11112" y="33337"/>
                </a:cubicBezTo>
                <a:lnTo>
                  <a:pt x="122238" y="33337"/>
                </a:lnTo>
                <a:lnTo>
                  <a:pt x="122238" y="11112"/>
                </a:lnTo>
                <a:cubicBezTo>
                  <a:pt x="122238" y="6633"/>
                  <a:pt x="124946" y="2570"/>
                  <a:pt x="129113" y="833"/>
                </a:cubicBezTo>
                <a:cubicBezTo>
                  <a:pt x="133281" y="-903"/>
                  <a:pt x="138038" y="69"/>
                  <a:pt x="141233" y="3230"/>
                </a:cubicBezTo>
                <a:lnTo>
                  <a:pt x="174570" y="36567"/>
                </a:lnTo>
                <a:cubicBezTo>
                  <a:pt x="178911" y="40908"/>
                  <a:pt x="178911" y="47957"/>
                  <a:pt x="174570" y="52298"/>
                </a:cubicBezTo>
                <a:close/>
                <a:moveTo>
                  <a:pt x="36567" y="174536"/>
                </a:moveTo>
                <a:lnTo>
                  <a:pt x="3230" y="141198"/>
                </a:lnTo>
                <a:cubicBezTo>
                  <a:pt x="-1111" y="136857"/>
                  <a:pt x="-1111" y="129808"/>
                  <a:pt x="3230" y="125467"/>
                </a:cubicBezTo>
                <a:lnTo>
                  <a:pt x="36567" y="92130"/>
                </a:lnTo>
                <a:cubicBezTo>
                  <a:pt x="39762" y="88935"/>
                  <a:pt x="44519" y="87997"/>
                  <a:pt x="48687" y="89733"/>
                </a:cubicBezTo>
                <a:cubicBezTo>
                  <a:pt x="52854" y="91470"/>
                  <a:pt x="55563" y="95533"/>
                  <a:pt x="55563" y="100013"/>
                </a:cubicBezTo>
                <a:lnTo>
                  <a:pt x="55563" y="122238"/>
                </a:lnTo>
                <a:lnTo>
                  <a:pt x="166688" y="122238"/>
                </a:lnTo>
                <a:cubicBezTo>
                  <a:pt x="172834" y="122238"/>
                  <a:pt x="177800" y="127203"/>
                  <a:pt x="177800" y="133350"/>
                </a:cubicBezTo>
                <a:cubicBezTo>
                  <a:pt x="177800" y="139497"/>
                  <a:pt x="172834" y="144463"/>
                  <a:pt x="166688" y="144463"/>
                </a:cubicBezTo>
                <a:lnTo>
                  <a:pt x="55563" y="144463"/>
                </a:lnTo>
                <a:lnTo>
                  <a:pt x="55563" y="166688"/>
                </a:lnTo>
                <a:cubicBezTo>
                  <a:pt x="55563" y="171167"/>
                  <a:pt x="52854" y="175230"/>
                  <a:pt x="48687" y="176967"/>
                </a:cubicBezTo>
                <a:cubicBezTo>
                  <a:pt x="44519" y="178703"/>
                  <a:pt x="39762" y="177731"/>
                  <a:pt x="36567" y="174570"/>
                </a:cubicBezTo>
                <a:close/>
              </a:path>
            </a:pathLst>
          </a:custGeom>
          <a:solidFill>
            <a:srgbClr val="8C8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3"/>
          <p:cNvSpPr/>
          <p:nvPr/>
        </p:nvSpPr>
        <p:spPr>
          <a:xfrm>
            <a:off x="6781800" y="3683000"/>
            <a:ext cx="4953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MQTT Messaging</a:t>
            </a:r>
            <a:endParaRPr b="0" i="0" sz="1600" u="none" cap="none" strike="noStrike"/>
          </a:p>
        </p:txBody>
      </p:sp>
      <p:sp>
        <p:nvSpPr>
          <p:cNvPr id="328" name="Google Shape;328;p23"/>
          <p:cNvSpPr/>
          <p:nvPr/>
        </p:nvSpPr>
        <p:spPr>
          <a:xfrm>
            <a:off x="6488113" y="4028442"/>
            <a:ext cx="155575" cy="177800"/>
          </a:xfrm>
          <a:custGeom>
            <a:rect b="b" l="l" r="r" t="t"/>
            <a:pathLst>
              <a:path extrusionOk="0" h="177800" w="155575">
                <a:moveTo>
                  <a:pt x="44450" y="-11112"/>
                </a:moveTo>
                <a:cubicBezTo>
                  <a:pt x="50597" y="-11112"/>
                  <a:pt x="55563" y="-6147"/>
                  <a:pt x="55563" y="0"/>
                </a:cubicBezTo>
                <a:lnTo>
                  <a:pt x="55563" y="33337"/>
                </a:lnTo>
                <a:lnTo>
                  <a:pt x="100013" y="33337"/>
                </a:lnTo>
                <a:lnTo>
                  <a:pt x="100013" y="0"/>
                </a:lnTo>
                <a:cubicBezTo>
                  <a:pt x="100013" y="-6147"/>
                  <a:pt x="104978" y="-11112"/>
                  <a:pt x="111125" y="-11112"/>
                </a:cubicBezTo>
                <a:cubicBezTo>
                  <a:pt x="117272" y="-11112"/>
                  <a:pt x="122238" y="-6147"/>
                  <a:pt x="122238" y="0"/>
                </a:cubicBezTo>
                <a:lnTo>
                  <a:pt x="122238" y="33337"/>
                </a:lnTo>
                <a:lnTo>
                  <a:pt x="144463" y="33337"/>
                </a:lnTo>
                <a:cubicBezTo>
                  <a:pt x="150609" y="33337"/>
                  <a:pt x="155575" y="38303"/>
                  <a:pt x="155575" y="44450"/>
                </a:cubicBezTo>
                <a:cubicBezTo>
                  <a:pt x="155575" y="50597"/>
                  <a:pt x="150609" y="55563"/>
                  <a:pt x="144463" y="55563"/>
                </a:cubicBezTo>
                <a:lnTo>
                  <a:pt x="144463" y="77788"/>
                </a:lnTo>
                <a:cubicBezTo>
                  <a:pt x="144463" y="110812"/>
                  <a:pt x="120432" y="138246"/>
                  <a:pt x="88900" y="143525"/>
                </a:cubicBezTo>
                <a:lnTo>
                  <a:pt x="88900" y="166688"/>
                </a:lnTo>
                <a:cubicBezTo>
                  <a:pt x="88900" y="172834"/>
                  <a:pt x="83934" y="177800"/>
                  <a:pt x="77788" y="177800"/>
                </a:cubicBezTo>
                <a:cubicBezTo>
                  <a:pt x="71641" y="177800"/>
                  <a:pt x="66675" y="172834"/>
                  <a:pt x="66675" y="166688"/>
                </a:cubicBezTo>
                <a:lnTo>
                  <a:pt x="66675" y="143525"/>
                </a:lnTo>
                <a:cubicBezTo>
                  <a:pt x="35143" y="138246"/>
                  <a:pt x="11112" y="110812"/>
                  <a:pt x="11112" y="77788"/>
                </a:cubicBezTo>
                <a:lnTo>
                  <a:pt x="11112" y="55563"/>
                </a:lnTo>
                <a:cubicBezTo>
                  <a:pt x="4966" y="55563"/>
                  <a:pt x="0" y="50597"/>
                  <a:pt x="0" y="44450"/>
                </a:cubicBezTo>
                <a:cubicBezTo>
                  <a:pt x="0" y="38303"/>
                  <a:pt x="4966" y="33337"/>
                  <a:pt x="11112" y="33337"/>
                </a:cubicBezTo>
                <a:lnTo>
                  <a:pt x="33337" y="33337"/>
                </a:lnTo>
                <a:lnTo>
                  <a:pt x="33337" y="0"/>
                </a:lnTo>
                <a:cubicBezTo>
                  <a:pt x="33337" y="-6147"/>
                  <a:pt x="38303" y="-11112"/>
                  <a:pt x="44450" y="-11112"/>
                </a:cubicBezTo>
                <a:close/>
              </a:path>
            </a:pathLst>
          </a:custGeom>
          <a:solidFill>
            <a:srgbClr val="8C8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3"/>
          <p:cNvSpPr/>
          <p:nvPr/>
        </p:nvSpPr>
        <p:spPr>
          <a:xfrm>
            <a:off x="6781800" y="3987800"/>
            <a:ext cx="4953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I²C for Servo Driver</a:t>
            </a:r>
            <a:endParaRPr b="0" i="0" sz="1600" u="none" cap="none" strike="noStrike"/>
          </a:p>
        </p:txBody>
      </p:sp>
      <p:sp>
        <p:nvSpPr>
          <p:cNvPr id="330" name="Google Shape;330;p23"/>
          <p:cNvSpPr/>
          <p:nvPr/>
        </p:nvSpPr>
        <p:spPr>
          <a:xfrm>
            <a:off x="6488113" y="4333242"/>
            <a:ext cx="155575" cy="177800"/>
          </a:xfrm>
          <a:custGeom>
            <a:rect b="b" l="l" r="r" t="t"/>
            <a:pathLst>
              <a:path extrusionOk="0" h="177800" w="155575">
                <a:moveTo>
                  <a:pt x="117654" y="-3438"/>
                </a:moveTo>
                <a:cubicBezTo>
                  <a:pt x="121786" y="-451"/>
                  <a:pt x="123314" y="4966"/>
                  <a:pt x="121439" y="9689"/>
                </a:cubicBezTo>
                <a:lnTo>
                  <a:pt x="94213" y="77788"/>
                </a:lnTo>
                <a:lnTo>
                  <a:pt x="144463" y="77788"/>
                </a:lnTo>
                <a:cubicBezTo>
                  <a:pt x="149151" y="77788"/>
                  <a:pt x="153318" y="80705"/>
                  <a:pt x="154915" y="85115"/>
                </a:cubicBezTo>
                <a:cubicBezTo>
                  <a:pt x="156513" y="89525"/>
                  <a:pt x="155158" y="94456"/>
                  <a:pt x="151581" y="97443"/>
                </a:cubicBezTo>
                <a:lnTo>
                  <a:pt x="51569" y="180786"/>
                </a:lnTo>
                <a:cubicBezTo>
                  <a:pt x="47645" y="184051"/>
                  <a:pt x="42054" y="184224"/>
                  <a:pt x="37921" y="181238"/>
                </a:cubicBezTo>
                <a:cubicBezTo>
                  <a:pt x="33789" y="178251"/>
                  <a:pt x="32261" y="172834"/>
                  <a:pt x="34136" y="168111"/>
                </a:cubicBezTo>
                <a:lnTo>
                  <a:pt x="61362" y="100013"/>
                </a:lnTo>
                <a:lnTo>
                  <a:pt x="11112" y="100013"/>
                </a:lnTo>
                <a:cubicBezTo>
                  <a:pt x="6424" y="100013"/>
                  <a:pt x="2257" y="97095"/>
                  <a:pt x="660" y="92685"/>
                </a:cubicBezTo>
                <a:cubicBezTo>
                  <a:pt x="-938" y="88275"/>
                  <a:pt x="417" y="83344"/>
                  <a:pt x="3994" y="80357"/>
                </a:cubicBezTo>
                <a:lnTo>
                  <a:pt x="104006" y="-2986"/>
                </a:lnTo>
                <a:cubicBezTo>
                  <a:pt x="107930" y="-6251"/>
                  <a:pt x="113521" y="-6424"/>
                  <a:pt x="117654" y="-3438"/>
                </a:cubicBezTo>
                <a:close/>
              </a:path>
            </a:pathLst>
          </a:custGeom>
          <a:solidFill>
            <a:srgbClr val="8C8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3"/>
          <p:cNvSpPr/>
          <p:nvPr/>
        </p:nvSpPr>
        <p:spPr>
          <a:xfrm>
            <a:off x="6781800" y="4292600"/>
            <a:ext cx="4953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Interrupts for PIR</a:t>
            </a:r>
            <a:endParaRPr b="0" i="0" sz="1600" u="none" cap="none" strike="noStrike"/>
          </a:p>
        </p:txBody>
      </p:sp>
      <p:sp>
        <p:nvSpPr>
          <p:cNvPr id="332" name="Google Shape;332;p23"/>
          <p:cNvSpPr/>
          <p:nvPr/>
        </p:nvSpPr>
        <p:spPr>
          <a:xfrm>
            <a:off x="6477000" y="4638042"/>
            <a:ext cx="177800" cy="177800"/>
          </a:xfrm>
          <a:custGeom>
            <a:rect b="b" l="l" r="r" t="t"/>
            <a:pathLst>
              <a:path extrusionOk="0" h="177800" w="177800">
                <a:moveTo>
                  <a:pt x="67752" y="3299"/>
                </a:moveTo>
                <a:cubicBezTo>
                  <a:pt x="68793" y="-1841"/>
                  <a:pt x="73343" y="-5556"/>
                  <a:pt x="78621" y="-5556"/>
                </a:cubicBezTo>
                <a:lnTo>
                  <a:pt x="99387" y="-5556"/>
                </a:lnTo>
                <a:cubicBezTo>
                  <a:pt x="104666" y="-5556"/>
                  <a:pt x="109215" y="-1841"/>
                  <a:pt x="110257" y="3299"/>
                </a:cubicBezTo>
                <a:lnTo>
                  <a:pt x="115292" y="27608"/>
                </a:lnTo>
                <a:cubicBezTo>
                  <a:pt x="120189" y="29691"/>
                  <a:pt x="124773" y="32365"/>
                  <a:pt x="128940" y="35525"/>
                </a:cubicBezTo>
                <a:lnTo>
                  <a:pt x="152484" y="27712"/>
                </a:lnTo>
                <a:cubicBezTo>
                  <a:pt x="157485" y="26045"/>
                  <a:pt x="162972" y="28129"/>
                  <a:pt x="165611" y="32712"/>
                </a:cubicBezTo>
                <a:lnTo>
                  <a:pt x="175994" y="50701"/>
                </a:lnTo>
                <a:cubicBezTo>
                  <a:pt x="178633" y="55285"/>
                  <a:pt x="177696" y="61049"/>
                  <a:pt x="173737" y="64557"/>
                </a:cubicBezTo>
                <a:lnTo>
                  <a:pt x="155228" y="81017"/>
                </a:lnTo>
                <a:cubicBezTo>
                  <a:pt x="155540" y="83587"/>
                  <a:pt x="155679" y="86226"/>
                  <a:pt x="155679" y="88900"/>
                </a:cubicBezTo>
                <a:cubicBezTo>
                  <a:pt x="155679" y="91574"/>
                  <a:pt x="155506" y="94213"/>
                  <a:pt x="155228" y="96783"/>
                </a:cubicBezTo>
                <a:lnTo>
                  <a:pt x="173772" y="113278"/>
                </a:lnTo>
                <a:cubicBezTo>
                  <a:pt x="177731" y="116785"/>
                  <a:pt x="178633" y="122585"/>
                  <a:pt x="176029" y="127134"/>
                </a:cubicBezTo>
                <a:lnTo>
                  <a:pt x="165646" y="145122"/>
                </a:lnTo>
                <a:cubicBezTo>
                  <a:pt x="163006" y="149671"/>
                  <a:pt x="157520" y="151790"/>
                  <a:pt x="152519" y="150123"/>
                </a:cubicBezTo>
                <a:lnTo>
                  <a:pt x="128974" y="142309"/>
                </a:lnTo>
                <a:cubicBezTo>
                  <a:pt x="124773" y="145470"/>
                  <a:pt x="120189" y="148109"/>
                  <a:pt x="115327" y="150227"/>
                </a:cubicBezTo>
                <a:lnTo>
                  <a:pt x="110326" y="174501"/>
                </a:lnTo>
                <a:cubicBezTo>
                  <a:pt x="109250" y="179675"/>
                  <a:pt x="104701" y="183356"/>
                  <a:pt x="99457" y="183356"/>
                </a:cubicBezTo>
                <a:lnTo>
                  <a:pt x="78690" y="183356"/>
                </a:lnTo>
                <a:cubicBezTo>
                  <a:pt x="73412" y="183356"/>
                  <a:pt x="68863" y="179641"/>
                  <a:pt x="67821" y="174501"/>
                </a:cubicBezTo>
                <a:lnTo>
                  <a:pt x="62820" y="150227"/>
                </a:lnTo>
                <a:cubicBezTo>
                  <a:pt x="57924" y="148144"/>
                  <a:pt x="53375" y="145470"/>
                  <a:pt x="49173" y="142309"/>
                </a:cubicBezTo>
                <a:lnTo>
                  <a:pt x="25524" y="150123"/>
                </a:lnTo>
                <a:cubicBezTo>
                  <a:pt x="20523" y="151790"/>
                  <a:pt x="15037" y="149706"/>
                  <a:pt x="12397" y="145122"/>
                </a:cubicBezTo>
                <a:lnTo>
                  <a:pt x="2014" y="127134"/>
                </a:lnTo>
                <a:cubicBezTo>
                  <a:pt x="-625" y="122550"/>
                  <a:pt x="313" y="116785"/>
                  <a:pt x="4271" y="113278"/>
                </a:cubicBezTo>
                <a:lnTo>
                  <a:pt x="22815" y="96783"/>
                </a:lnTo>
                <a:cubicBezTo>
                  <a:pt x="22503" y="94213"/>
                  <a:pt x="22364" y="91574"/>
                  <a:pt x="22364" y="88900"/>
                </a:cubicBezTo>
                <a:cubicBezTo>
                  <a:pt x="22364" y="86226"/>
                  <a:pt x="22538" y="83587"/>
                  <a:pt x="22815" y="81017"/>
                </a:cubicBezTo>
                <a:lnTo>
                  <a:pt x="4271" y="64522"/>
                </a:lnTo>
                <a:cubicBezTo>
                  <a:pt x="313" y="61015"/>
                  <a:pt x="-590" y="55215"/>
                  <a:pt x="2014" y="50666"/>
                </a:cubicBezTo>
                <a:lnTo>
                  <a:pt x="12397" y="32678"/>
                </a:lnTo>
                <a:cubicBezTo>
                  <a:pt x="15037" y="28094"/>
                  <a:pt x="20523" y="26010"/>
                  <a:pt x="25524" y="27677"/>
                </a:cubicBezTo>
                <a:lnTo>
                  <a:pt x="49069" y="35491"/>
                </a:lnTo>
                <a:cubicBezTo>
                  <a:pt x="53271" y="32330"/>
                  <a:pt x="57854" y="29691"/>
                  <a:pt x="62716" y="27573"/>
                </a:cubicBezTo>
                <a:lnTo>
                  <a:pt x="67752" y="3299"/>
                </a:lnTo>
                <a:close/>
                <a:moveTo>
                  <a:pt x="89004" y="116681"/>
                </a:moveTo>
                <a:cubicBezTo>
                  <a:pt x="98929" y="116644"/>
                  <a:pt x="108081" y="111315"/>
                  <a:pt x="113011" y="102700"/>
                </a:cubicBezTo>
                <a:cubicBezTo>
                  <a:pt x="117942" y="94086"/>
                  <a:pt x="117902" y="83496"/>
                  <a:pt x="112907" y="74919"/>
                </a:cubicBezTo>
                <a:cubicBezTo>
                  <a:pt x="107912" y="66342"/>
                  <a:pt x="98721" y="61082"/>
                  <a:pt x="88796" y="61119"/>
                </a:cubicBezTo>
                <a:cubicBezTo>
                  <a:pt x="78871" y="61156"/>
                  <a:pt x="69719" y="66485"/>
                  <a:pt x="64789" y="75100"/>
                </a:cubicBezTo>
                <a:cubicBezTo>
                  <a:pt x="59858" y="83714"/>
                  <a:pt x="59898" y="94304"/>
                  <a:pt x="64893" y="102881"/>
                </a:cubicBezTo>
                <a:cubicBezTo>
                  <a:pt x="69888" y="111458"/>
                  <a:pt x="79079" y="116718"/>
                  <a:pt x="89004" y="116681"/>
                </a:cubicBezTo>
                <a:close/>
              </a:path>
            </a:pathLst>
          </a:custGeom>
          <a:solidFill>
            <a:srgbClr val="8C8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3"/>
          <p:cNvSpPr/>
          <p:nvPr/>
        </p:nvSpPr>
        <p:spPr>
          <a:xfrm>
            <a:off x="6781800" y="4597400"/>
            <a:ext cx="4953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RTOS Task Scheduling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4"/>
          <p:cNvSpPr/>
          <p:nvPr/>
        </p:nvSpPr>
        <p:spPr>
          <a:xfrm>
            <a:off x="254000" y="162560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ROS 2 &amp; MQTT Bridge</a:t>
            </a:r>
            <a:endParaRPr b="0" i="0" sz="1600" u="none" cap="none" strike="noStrike"/>
          </a:p>
        </p:txBody>
      </p:sp>
      <p:sp>
        <p:nvSpPr>
          <p:cNvPr id="340" name="Google Shape;340;p24"/>
          <p:cNvSpPr/>
          <p:nvPr/>
        </p:nvSpPr>
        <p:spPr>
          <a:xfrm>
            <a:off x="254000" y="2184400"/>
            <a:ext cx="12192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Seamless integration between robot and PC.</a:t>
            </a:r>
            <a:endParaRPr b="0" i="0" sz="1600" u="none" cap="none" strike="noStrike"/>
          </a:p>
        </p:txBody>
      </p:sp>
      <p:sp>
        <p:nvSpPr>
          <p:cNvPr id="341" name="Google Shape;341;p24"/>
          <p:cNvSpPr/>
          <p:nvPr/>
        </p:nvSpPr>
        <p:spPr>
          <a:xfrm>
            <a:off x="842010" y="2844800"/>
            <a:ext cx="952500" cy="762000"/>
          </a:xfrm>
          <a:custGeom>
            <a:rect b="b" l="l" r="r" t="t"/>
            <a:pathLst>
              <a:path extrusionOk="0" h="762000" w="952500">
                <a:moveTo>
                  <a:pt x="523875" y="0"/>
                </a:moveTo>
                <a:cubicBezTo>
                  <a:pt x="523875" y="-26343"/>
                  <a:pt x="502593" y="-47625"/>
                  <a:pt x="476250" y="-47625"/>
                </a:cubicBezTo>
                <a:cubicBezTo>
                  <a:pt x="449907" y="-47625"/>
                  <a:pt x="428625" y="-26343"/>
                  <a:pt x="428625" y="0"/>
                </a:cubicBezTo>
                <a:lnTo>
                  <a:pt x="428625" y="95250"/>
                </a:lnTo>
                <a:lnTo>
                  <a:pt x="285750" y="95250"/>
                </a:lnTo>
                <a:cubicBezTo>
                  <a:pt x="206871" y="95250"/>
                  <a:pt x="142875" y="159246"/>
                  <a:pt x="142875" y="238125"/>
                </a:cubicBezTo>
                <a:lnTo>
                  <a:pt x="142875" y="571500"/>
                </a:lnTo>
                <a:cubicBezTo>
                  <a:pt x="142875" y="650379"/>
                  <a:pt x="206871" y="714375"/>
                  <a:pt x="285750" y="714375"/>
                </a:cubicBezTo>
                <a:lnTo>
                  <a:pt x="666750" y="714375"/>
                </a:lnTo>
                <a:cubicBezTo>
                  <a:pt x="745629" y="714375"/>
                  <a:pt x="809625" y="650379"/>
                  <a:pt x="809625" y="571500"/>
                </a:cubicBezTo>
                <a:lnTo>
                  <a:pt x="809625" y="238125"/>
                </a:lnTo>
                <a:cubicBezTo>
                  <a:pt x="809625" y="159246"/>
                  <a:pt x="745629" y="95250"/>
                  <a:pt x="666750" y="95250"/>
                </a:cubicBezTo>
                <a:lnTo>
                  <a:pt x="523875" y="95250"/>
                </a:lnTo>
                <a:lnTo>
                  <a:pt x="523875" y="0"/>
                </a:lnTo>
                <a:close/>
                <a:moveTo>
                  <a:pt x="238125" y="547687"/>
                </a:moveTo>
                <a:cubicBezTo>
                  <a:pt x="238125" y="527893"/>
                  <a:pt x="254050" y="511969"/>
                  <a:pt x="273844" y="511969"/>
                </a:cubicBezTo>
                <a:lnTo>
                  <a:pt x="321469" y="511969"/>
                </a:lnTo>
                <a:cubicBezTo>
                  <a:pt x="341263" y="511969"/>
                  <a:pt x="357188" y="527893"/>
                  <a:pt x="357188" y="547687"/>
                </a:cubicBezTo>
                <a:cubicBezTo>
                  <a:pt x="357188" y="567482"/>
                  <a:pt x="341263" y="583406"/>
                  <a:pt x="321469" y="583406"/>
                </a:cubicBezTo>
                <a:lnTo>
                  <a:pt x="273844" y="583406"/>
                </a:lnTo>
                <a:cubicBezTo>
                  <a:pt x="254050" y="583406"/>
                  <a:pt x="238125" y="567482"/>
                  <a:pt x="238125" y="547687"/>
                </a:cubicBezTo>
                <a:close/>
                <a:moveTo>
                  <a:pt x="416719" y="547687"/>
                </a:moveTo>
                <a:cubicBezTo>
                  <a:pt x="416719" y="527893"/>
                  <a:pt x="432643" y="511969"/>
                  <a:pt x="452438" y="511969"/>
                </a:cubicBezTo>
                <a:lnTo>
                  <a:pt x="500063" y="511969"/>
                </a:lnTo>
                <a:cubicBezTo>
                  <a:pt x="519857" y="511969"/>
                  <a:pt x="535781" y="527893"/>
                  <a:pt x="535781" y="547687"/>
                </a:cubicBezTo>
                <a:cubicBezTo>
                  <a:pt x="535781" y="567482"/>
                  <a:pt x="519857" y="583406"/>
                  <a:pt x="500063" y="583406"/>
                </a:cubicBezTo>
                <a:lnTo>
                  <a:pt x="452438" y="583406"/>
                </a:lnTo>
                <a:cubicBezTo>
                  <a:pt x="432643" y="583406"/>
                  <a:pt x="416719" y="567482"/>
                  <a:pt x="416719" y="547687"/>
                </a:cubicBezTo>
                <a:close/>
                <a:moveTo>
                  <a:pt x="595313" y="547687"/>
                </a:moveTo>
                <a:cubicBezTo>
                  <a:pt x="595313" y="527893"/>
                  <a:pt x="611237" y="511969"/>
                  <a:pt x="631031" y="511969"/>
                </a:cubicBezTo>
                <a:lnTo>
                  <a:pt x="678656" y="511969"/>
                </a:lnTo>
                <a:cubicBezTo>
                  <a:pt x="698450" y="511969"/>
                  <a:pt x="714375" y="527893"/>
                  <a:pt x="714375" y="547687"/>
                </a:cubicBezTo>
                <a:cubicBezTo>
                  <a:pt x="714375" y="567482"/>
                  <a:pt x="698450" y="583406"/>
                  <a:pt x="678656" y="583406"/>
                </a:cubicBezTo>
                <a:lnTo>
                  <a:pt x="631031" y="583406"/>
                </a:lnTo>
                <a:cubicBezTo>
                  <a:pt x="611237" y="583406"/>
                  <a:pt x="595313" y="567482"/>
                  <a:pt x="595313" y="547687"/>
                </a:cubicBezTo>
                <a:close/>
                <a:moveTo>
                  <a:pt x="333375" y="261938"/>
                </a:moveTo>
                <a:cubicBezTo>
                  <a:pt x="372802" y="261938"/>
                  <a:pt x="404813" y="293948"/>
                  <a:pt x="404813" y="333375"/>
                </a:cubicBezTo>
                <a:cubicBezTo>
                  <a:pt x="404813" y="372802"/>
                  <a:pt x="372802" y="404813"/>
                  <a:pt x="333375" y="404813"/>
                </a:cubicBezTo>
                <a:cubicBezTo>
                  <a:pt x="293948" y="404813"/>
                  <a:pt x="261938" y="372802"/>
                  <a:pt x="261938" y="333375"/>
                </a:cubicBezTo>
                <a:cubicBezTo>
                  <a:pt x="261938" y="293948"/>
                  <a:pt x="293948" y="261938"/>
                  <a:pt x="333375" y="261938"/>
                </a:cubicBezTo>
                <a:close/>
                <a:moveTo>
                  <a:pt x="547687" y="333375"/>
                </a:moveTo>
                <a:cubicBezTo>
                  <a:pt x="547687" y="293948"/>
                  <a:pt x="579698" y="261938"/>
                  <a:pt x="619125" y="261938"/>
                </a:cubicBezTo>
                <a:cubicBezTo>
                  <a:pt x="658552" y="261938"/>
                  <a:pt x="690563" y="293948"/>
                  <a:pt x="690563" y="333375"/>
                </a:cubicBezTo>
                <a:cubicBezTo>
                  <a:pt x="690563" y="372802"/>
                  <a:pt x="658552" y="404813"/>
                  <a:pt x="619125" y="404813"/>
                </a:cubicBezTo>
                <a:cubicBezTo>
                  <a:pt x="579698" y="404813"/>
                  <a:pt x="547687" y="372802"/>
                  <a:pt x="547687" y="333375"/>
                </a:cubicBezTo>
                <a:close/>
                <a:moveTo>
                  <a:pt x="95250" y="333375"/>
                </a:moveTo>
                <a:cubicBezTo>
                  <a:pt x="95250" y="307032"/>
                  <a:pt x="73968" y="285750"/>
                  <a:pt x="47625" y="285750"/>
                </a:cubicBezTo>
                <a:cubicBezTo>
                  <a:pt x="21282" y="285750"/>
                  <a:pt x="0" y="307032"/>
                  <a:pt x="0" y="333375"/>
                </a:cubicBezTo>
                <a:lnTo>
                  <a:pt x="0" y="476250"/>
                </a:lnTo>
                <a:cubicBezTo>
                  <a:pt x="0" y="502593"/>
                  <a:pt x="21282" y="523875"/>
                  <a:pt x="47625" y="523875"/>
                </a:cubicBezTo>
                <a:cubicBezTo>
                  <a:pt x="73968" y="523875"/>
                  <a:pt x="95250" y="502593"/>
                  <a:pt x="95250" y="476250"/>
                </a:cubicBezTo>
                <a:lnTo>
                  <a:pt x="95250" y="333375"/>
                </a:lnTo>
                <a:close/>
                <a:moveTo>
                  <a:pt x="904875" y="285750"/>
                </a:moveTo>
                <a:cubicBezTo>
                  <a:pt x="878532" y="285750"/>
                  <a:pt x="857250" y="307032"/>
                  <a:pt x="857250" y="333375"/>
                </a:cubicBezTo>
                <a:lnTo>
                  <a:pt x="857250" y="476250"/>
                </a:lnTo>
                <a:cubicBezTo>
                  <a:pt x="857250" y="502593"/>
                  <a:pt x="878532" y="523875"/>
                  <a:pt x="904875" y="523875"/>
                </a:cubicBezTo>
                <a:cubicBezTo>
                  <a:pt x="931218" y="523875"/>
                  <a:pt x="952500" y="502593"/>
                  <a:pt x="952500" y="476250"/>
                </a:cubicBezTo>
                <a:lnTo>
                  <a:pt x="952500" y="333375"/>
                </a:lnTo>
                <a:cubicBezTo>
                  <a:pt x="952500" y="307032"/>
                  <a:pt x="931218" y="285750"/>
                  <a:pt x="904875" y="285750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4"/>
          <p:cNvSpPr/>
          <p:nvPr/>
        </p:nvSpPr>
        <p:spPr>
          <a:xfrm>
            <a:off x="0" y="3708400"/>
            <a:ext cx="2641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Robot (MQTT Client)</a:t>
            </a:r>
            <a:endParaRPr b="0" i="0" sz="1600" u="none" cap="none" strike="noStrike"/>
          </a:p>
        </p:txBody>
      </p:sp>
      <p:sp>
        <p:nvSpPr>
          <p:cNvPr id="343" name="Google Shape;343;p24"/>
          <p:cNvSpPr/>
          <p:nvPr/>
        </p:nvSpPr>
        <p:spPr>
          <a:xfrm>
            <a:off x="2585720" y="3403600"/>
            <a:ext cx="2768600" cy="50800"/>
          </a:xfrm>
          <a:custGeom>
            <a:rect b="b" l="l" r="r" t="t"/>
            <a:pathLst>
              <a:path extrusionOk="0" h="50800" w="2768600">
                <a:moveTo>
                  <a:pt x="0" y="0"/>
                </a:moveTo>
                <a:lnTo>
                  <a:pt x="2768600" y="0"/>
                </a:lnTo>
                <a:lnTo>
                  <a:pt x="2768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8C8C8C"/>
          </a:solidFill>
          <a:ln>
            <a:noFill/>
          </a:ln>
        </p:spPr>
      </p:sp>
      <p:sp>
        <p:nvSpPr>
          <p:cNvPr id="344" name="Google Shape;344;p24"/>
          <p:cNvSpPr/>
          <p:nvPr/>
        </p:nvSpPr>
        <p:spPr>
          <a:xfrm>
            <a:off x="5818823" y="2844800"/>
            <a:ext cx="857250" cy="762000"/>
          </a:xfrm>
          <a:custGeom>
            <a:rect b="b" l="l" r="r" t="t"/>
            <a:pathLst>
              <a:path extrusionOk="0" h="762000" w="857250">
                <a:moveTo>
                  <a:pt x="369094" y="130969"/>
                </a:moveTo>
                <a:lnTo>
                  <a:pt x="488156" y="130969"/>
                </a:lnTo>
                <a:lnTo>
                  <a:pt x="488156" y="202406"/>
                </a:lnTo>
                <a:lnTo>
                  <a:pt x="369094" y="202406"/>
                </a:lnTo>
                <a:lnTo>
                  <a:pt x="369094" y="130969"/>
                </a:lnTo>
                <a:close/>
                <a:moveTo>
                  <a:pt x="357188" y="47625"/>
                </a:moveTo>
                <a:cubicBezTo>
                  <a:pt x="317748" y="47625"/>
                  <a:pt x="285750" y="79623"/>
                  <a:pt x="285750" y="119063"/>
                </a:cubicBezTo>
                <a:lnTo>
                  <a:pt x="285750" y="214313"/>
                </a:lnTo>
                <a:cubicBezTo>
                  <a:pt x="285750" y="253752"/>
                  <a:pt x="317748" y="285750"/>
                  <a:pt x="357188" y="285750"/>
                </a:cubicBezTo>
                <a:lnTo>
                  <a:pt x="381000" y="285750"/>
                </a:lnTo>
                <a:lnTo>
                  <a:pt x="381000" y="333375"/>
                </a:lnTo>
                <a:lnTo>
                  <a:pt x="47625" y="333375"/>
                </a:lnTo>
                <a:cubicBezTo>
                  <a:pt x="21282" y="333375"/>
                  <a:pt x="0" y="354657"/>
                  <a:pt x="0" y="381000"/>
                </a:cubicBezTo>
                <a:cubicBezTo>
                  <a:pt x="0" y="407343"/>
                  <a:pt x="21282" y="428625"/>
                  <a:pt x="47625" y="428625"/>
                </a:cubicBezTo>
                <a:lnTo>
                  <a:pt x="190500" y="428625"/>
                </a:lnTo>
                <a:lnTo>
                  <a:pt x="190500" y="476250"/>
                </a:lnTo>
                <a:lnTo>
                  <a:pt x="166688" y="476250"/>
                </a:lnTo>
                <a:cubicBezTo>
                  <a:pt x="127248" y="476250"/>
                  <a:pt x="95250" y="508248"/>
                  <a:pt x="95250" y="547687"/>
                </a:cubicBezTo>
                <a:lnTo>
                  <a:pt x="95250" y="642938"/>
                </a:lnTo>
                <a:cubicBezTo>
                  <a:pt x="95250" y="682377"/>
                  <a:pt x="127248" y="714375"/>
                  <a:pt x="166688" y="714375"/>
                </a:cubicBezTo>
                <a:lnTo>
                  <a:pt x="309563" y="714375"/>
                </a:lnTo>
                <a:cubicBezTo>
                  <a:pt x="349002" y="714375"/>
                  <a:pt x="381000" y="682377"/>
                  <a:pt x="381000" y="642938"/>
                </a:cubicBezTo>
                <a:lnTo>
                  <a:pt x="381000" y="547687"/>
                </a:lnTo>
                <a:cubicBezTo>
                  <a:pt x="381000" y="508248"/>
                  <a:pt x="349002" y="476250"/>
                  <a:pt x="309563" y="476250"/>
                </a:cubicBezTo>
                <a:lnTo>
                  <a:pt x="285750" y="476250"/>
                </a:lnTo>
                <a:lnTo>
                  <a:pt x="285750" y="428625"/>
                </a:lnTo>
                <a:lnTo>
                  <a:pt x="571500" y="428625"/>
                </a:lnTo>
                <a:lnTo>
                  <a:pt x="571500" y="476250"/>
                </a:lnTo>
                <a:lnTo>
                  <a:pt x="547687" y="476250"/>
                </a:lnTo>
                <a:cubicBezTo>
                  <a:pt x="508248" y="476250"/>
                  <a:pt x="476250" y="508248"/>
                  <a:pt x="476250" y="547687"/>
                </a:cubicBezTo>
                <a:lnTo>
                  <a:pt x="476250" y="642938"/>
                </a:lnTo>
                <a:cubicBezTo>
                  <a:pt x="476250" y="682377"/>
                  <a:pt x="508248" y="714375"/>
                  <a:pt x="547687" y="714375"/>
                </a:cubicBezTo>
                <a:lnTo>
                  <a:pt x="690563" y="714375"/>
                </a:lnTo>
                <a:cubicBezTo>
                  <a:pt x="730002" y="714375"/>
                  <a:pt x="762000" y="682377"/>
                  <a:pt x="762000" y="642938"/>
                </a:cubicBezTo>
                <a:lnTo>
                  <a:pt x="762000" y="547687"/>
                </a:lnTo>
                <a:cubicBezTo>
                  <a:pt x="762000" y="508248"/>
                  <a:pt x="730002" y="476250"/>
                  <a:pt x="690563" y="476250"/>
                </a:cubicBezTo>
                <a:lnTo>
                  <a:pt x="666750" y="476250"/>
                </a:lnTo>
                <a:lnTo>
                  <a:pt x="666750" y="428625"/>
                </a:lnTo>
                <a:lnTo>
                  <a:pt x="809625" y="428625"/>
                </a:lnTo>
                <a:cubicBezTo>
                  <a:pt x="835968" y="428625"/>
                  <a:pt x="857250" y="407343"/>
                  <a:pt x="857250" y="381000"/>
                </a:cubicBezTo>
                <a:cubicBezTo>
                  <a:pt x="857250" y="354657"/>
                  <a:pt x="835968" y="333375"/>
                  <a:pt x="809625" y="333375"/>
                </a:cubicBezTo>
                <a:lnTo>
                  <a:pt x="476250" y="333375"/>
                </a:lnTo>
                <a:lnTo>
                  <a:pt x="476250" y="285750"/>
                </a:lnTo>
                <a:lnTo>
                  <a:pt x="500063" y="285750"/>
                </a:lnTo>
                <a:cubicBezTo>
                  <a:pt x="539502" y="285750"/>
                  <a:pt x="571500" y="253752"/>
                  <a:pt x="571500" y="214313"/>
                </a:cubicBezTo>
                <a:lnTo>
                  <a:pt x="571500" y="119063"/>
                </a:lnTo>
                <a:cubicBezTo>
                  <a:pt x="571500" y="79623"/>
                  <a:pt x="539502" y="47625"/>
                  <a:pt x="500063" y="47625"/>
                </a:cubicBezTo>
                <a:lnTo>
                  <a:pt x="357188" y="47625"/>
                </a:lnTo>
                <a:close/>
                <a:moveTo>
                  <a:pt x="666750" y="559594"/>
                </a:moveTo>
                <a:lnTo>
                  <a:pt x="678656" y="559594"/>
                </a:lnTo>
                <a:lnTo>
                  <a:pt x="678656" y="631031"/>
                </a:lnTo>
                <a:lnTo>
                  <a:pt x="559594" y="631031"/>
                </a:lnTo>
                <a:lnTo>
                  <a:pt x="559594" y="559594"/>
                </a:lnTo>
                <a:lnTo>
                  <a:pt x="666750" y="559594"/>
                </a:lnTo>
                <a:close/>
                <a:moveTo>
                  <a:pt x="285750" y="559594"/>
                </a:moveTo>
                <a:lnTo>
                  <a:pt x="297656" y="559594"/>
                </a:lnTo>
                <a:lnTo>
                  <a:pt x="297656" y="631031"/>
                </a:lnTo>
                <a:lnTo>
                  <a:pt x="178594" y="631031"/>
                </a:lnTo>
                <a:lnTo>
                  <a:pt x="178594" y="559594"/>
                </a:lnTo>
                <a:lnTo>
                  <a:pt x="285750" y="559594"/>
                </a:lnTo>
                <a:close/>
              </a:path>
            </a:pathLst>
          </a:custGeom>
          <a:solidFill>
            <a:srgbClr val="8C8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4"/>
          <p:cNvSpPr/>
          <p:nvPr/>
        </p:nvSpPr>
        <p:spPr>
          <a:xfrm>
            <a:off x="5306378" y="3708400"/>
            <a:ext cx="187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MQTT Broker</a:t>
            </a:r>
            <a:endParaRPr b="0" i="0" sz="1600" u="none" cap="none" strike="noStrike"/>
          </a:p>
        </p:txBody>
      </p:sp>
      <p:sp>
        <p:nvSpPr>
          <p:cNvPr id="346" name="Google Shape;346;p24"/>
          <p:cNvSpPr/>
          <p:nvPr/>
        </p:nvSpPr>
        <p:spPr>
          <a:xfrm>
            <a:off x="7137718" y="3403600"/>
            <a:ext cx="2768600" cy="50800"/>
          </a:xfrm>
          <a:custGeom>
            <a:rect b="b" l="l" r="r" t="t"/>
            <a:pathLst>
              <a:path extrusionOk="0" h="50800" w="2768600">
                <a:moveTo>
                  <a:pt x="0" y="0"/>
                </a:moveTo>
                <a:lnTo>
                  <a:pt x="2768600" y="0"/>
                </a:lnTo>
                <a:lnTo>
                  <a:pt x="2768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8C8C8C"/>
          </a:solidFill>
          <a:ln>
            <a:noFill/>
          </a:ln>
        </p:spPr>
      </p:sp>
      <p:sp>
        <p:nvSpPr>
          <p:cNvPr id="347" name="Google Shape;347;p24"/>
          <p:cNvSpPr/>
          <p:nvPr/>
        </p:nvSpPr>
        <p:spPr>
          <a:xfrm>
            <a:off x="10644188" y="2844800"/>
            <a:ext cx="762000" cy="762000"/>
          </a:xfrm>
          <a:custGeom>
            <a:rect b="b" l="l" r="r" t="t"/>
            <a:pathLst>
              <a:path extrusionOk="0" h="762000" w="762000">
                <a:moveTo>
                  <a:pt x="95250" y="47625"/>
                </a:moveTo>
                <a:cubicBezTo>
                  <a:pt x="42714" y="47625"/>
                  <a:pt x="0" y="90339"/>
                  <a:pt x="0" y="142875"/>
                </a:cubicBezTo>
                <a:lnTo>
                  <a:pt x="0" y="523875"/>
                </a:lnTo>
                <a:cubicBezTo>
                  <a:pt x="0" y="576411"/>
                  <a:pt x="42714" y="619125"/>
                  <a:pt x="95250" y="619125"/>
                </a:cubicBezTo>
                <a:lnTo>
                  <a:pt x="309563" y="619125"/>
                </a:lnTo>
                <a:lnTo>
                  <a:pt x="285750" y="690563"/>
                </a:lnTo>
                <a:lnTo>
                  <a:pt x="178594" y="690563"/>
                </a:lnTo>
                <a:cubicBezTo>
                  <a:pt x="158800" y="690563"/>
                  <a:pt x="142875" y="706487"/>
                  <a:pt x="142875" y="726281"/>
                </a:cubicBezTo>
                <a:cubicBezTo>
                  <a:pt x="142875" y="746075"/>
                  <a:pt x="158800" y="762000"/>
                  <a:pt x="178594" y="762000"/>
                </a:cubicBezTo>
                <a:lnTo>
                  <a:pt x="583406" y="762000"/>
                </a:lnTo>
                <a:cubicBezTo>
                  <a:pt x="603200" y="762000"/>
                  <a:pt x="619125" y="746075"/>
                  <a:pt x="619125" y="726281"/>
                </a:cubicBezTo>
                <a:cubicBezTo>
                  <a:pt x="619125" y="706487"/>
                  <a:pt x="603200" y="690563"/>
                  <a:pt x="583406" y="690563"/>
                </a:cubicBezTo>
                <a:lnTo>
                  <a:pt x="476250" y="690563"/>
                </a:lnTo>
                <a:lnTo>
                  <a:pt x="452438" y="619125"/>
                </a:lnTo>
                <a:lnTo>
                  <a:pt x="666750" y="619125"/>
                </a:lnTo>
                <a:cubicBezTo>
                  <a:pt x="719286" y="619125"/>
                  <a:pt x="762000" y="576411"/>
                  <a:pt x="762000" y="523875"/>
                </a:cubicBezTo>
                <a:lnTo>
                  <a:pt x="762000" y="142875"/>
                </a:lnTo>
                <a:cubicBezTo>
                  <a:pt x="762000" y="90339"/>
                  <a:pt x="719286" y="47625"/>
                  <a:pt x="666750" y="47625"/>
                </a:cubicBezTo>
                <a:lnTo>
                  <a:pt x="95250" y="47625"/>
                </a:lnTo>
                <a:close/>
                <a:moveTo>
                  <a:pt x="142875" y="142875"/>
                </a:moveTo>
                <a:lnTo>
                  <a:pt x="619125" y="142875"/>
                </a:lnTo>
                <a:cubicBezTo>
                  <a:pt x="645468" y="142875"/>
                  <a:pt x="666750" y="164157"/>
                  <a:pt x="666750" y="190500"/>
                </a:cubicBezTo>
                <a:lnTo>
                  <a:pt x="666750" y="428625"/>
                </a:lnTo>
                <a:cubicBezTo>
                  <a:pt x="666750" y="454968"/>
                  <a:pt x="645468" y="476250"/>
                  <a:pt x="619125" y="476250"/>
                </a:cubicBezTo>
                <a:lnTo>
                  <a:pt x="142875" y="476250"/>
                </a:lnTo>
                <a:cubicBezTo>
                  <a:pt x="116532" y="476250"/>
                  <a:pt x="95250" y="454968"/>
                  <a:pt x="95250" y="428625"/>
                </a:cubicBezTo>
                <a:lnTo>
                  <a:pt x="95250" y="190500"/>
                </a:lnTo>
                <a:cubicBezTo>
                  <a:pt x="95250" y="164157"/>
                  <a:pt x="116532" y="142875"/>
                  <a:pt x="142875" y="14287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4"/>
          <p:cNvSpPr/>
          <p:nvPr/>
        </p:nvSpPr>
        <p:spPr>
          <a:xfrm>
            <a:off x="9858375" y="3708400"/>
            <a:ext cx="2336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PC (ROS 2 Nodes)</a:t>
            </a:r>
            <a:endParaRPr b="0" i="0" sz="1600" u="none" cap="none" strike="noStrike"/>
          </a:p>
        </p:txBody>
      </p:sp>
      <p:sp>
        <p:nvSpPr>
          <p:cNvPr id="349" name="Google Shape;349;p24"/>
          <p:cNvSpPr/>
          <p:nvPr/>
        </p:nvSpPr>
        <p:spPr>
          <a:xfrm>
            <a:off x="254000" y="4318000"/>
            <a:ext cx="1168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The robot publishes sensor data to an MQTT broker. A PC running ROS 2 subscribes to these topics, processes the data using advanced AI algorithms, and publishes commands back to the robot, creating a robust, modular, and scalable system.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5"/>
          <p:cNvSpPr/>
          <p:nvPr/>
        </p:nvSpPr>
        <p:spPr>
          <a:xfrm>
            <a:off x="254000" y="1386842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Simulation &amp; Training</a:t>
            </a:r>
            <a:endParaRPr b="0" i="0" sz="1600" u="none" cap="none" strike="noStrike"/>
          </a:p>
        </p:txBody>
      </p:sp>
      <p:sp>
        <p:nvSpPr>
          <p:cNvPr id="356" name="Google Shape;356;p25"/>
          <p:cNvSpPr/>
          <p:nvPr/>
        </p:nvSpPr>
        <p:spPr>
          <a:xfrm>
            <a:off x="254000" y="1945642"/>
            <a:ext cx="12192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Accelerating development in a virtual world.</a:t>
            </a:r>
            <a:endParaRPr b="0" i="0" sz="1600" u="none" cap="none" strike="noStrike"/>
          </a:p>
        </p:txBody>
      </p:sp>
      <p:sp>
        <p:nvSpPr>
          <p:cNvPr id="357" name="Google Shape;357;p25"/>
          <p:cNvSpPr/>
          <p:nvPr/>
        </p:nvSpPr>
        <p:spPr>
          <a:xfrm>
            <a:off x="254000" y="2606042"/>
            <a:ext cx="5689600" cy="1955800"/>
          </a:xfrm>
          <a:custGeom>
            <a:rect b="b" l="l" r="r" t="t"/>
            <a:pathLst>
              <a:path extrusionOk="0" h="1955800" w="5689600">
                <a:moveTo>
                  <a:pt x="101604" y="0"/>
                </a:moveTo>
                <a:lnTo>
                  <a:pt x="5587996" y="0"/>
                </a:lnTo>
                <a:cubicBezTo>
                  <a:pt x="5644110" y="0"/>
                  <a:pt x="5689600" y="45490"/>
                  <a:pt x="5689600" y="101604"/>
                </a:cubicBezTo>
                <a:lnTo>
                  <a:pt x="5689600" y="1854196"/>
                </a:lnTo>
                <a:cubicBezTo>
                  <a:pt x="5689600" y="1910310"/>
                  <a:pt x="5644110" y="1955800"/>
                  <a:pt x="5587996" y="1955800"/>
                </a:cubicBezTo>
                <a:lnTo>
                  <a:pt x="101604" y="1955800"/>
                </a:lnTo>
                <a:cubicBezTo>
                  <a:pt x="45490" y="1955800"/>
                  <a:pt x="0" y="1910310"/>
                  <a:pt x="0" y="1854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262626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5"/>
          <p:cNvSpPr/>
          <p:nvPr/>
        </p:nvSpPr>
        <p:spPr>
          <a:xfrm>
            <a:off x="2870200" y="2809242"/>
            <a:ext cx="457200" cy="457200"/>
          </a:xfrm>
          <a:custGeom>
            <a:rect b="b" l="l" r="r" t="t"/>
            <a:pathLst>
              <a:path extrusionOk="0" h="457200" w="457200">
                <a:moveTo>
                  <a:pt x="200293" y="-2232"/>
                </a:moveTo>
                <a:cubicBezTo>
                  <a:pt x="217974" y="-12412"/>
                  <a:pt x="239762" y="-12412"/>
                  <a:pt x="257443" y="-2232"/>
                </a:cubicBezTo>
                <a:lnTo>
                  <a:pt x="414516" y="88404"/>
                </a:lnTo>
                <a:cubicBezTo>
                  <a:pt x="432197" y="98584"/>
                  <a:pt x="443091" y="117515"/>
                  <a:pt x="443091" y="137874"/>
                </a:cubicBezTo>
                <a:lnTo>
                  <a:pt x="443091" y="319147"/>
                </a:lnTo>
                <a:cubicBezTo>
                  <a:pt x="443091" y="339596"/>
                  <a:pt x="432197" y="358438"/>
                  <a:pt x="414516" y="368617"/>
                </a:cubicBezTo>
                <a:lnTo>
                  <a:pt x="257443" y="459432"/>
                </a:lnTo>
                <a:cubicBezTo>
                  <a:pt x="239762" y="469612"/>
                  <a:pt x="217974" y="469612"/>
                  <a:pt x="200293" y="459432"/>
                </a:cubicBezTo>
                <a:lnTo>
                  <a:pt x="43309" y="368796"/>
                </a:lnTo>
                <a:cubicBezTo>
                  <a:pt x="25628" y="358616"/>
                  <a:pt x="14734" y="339685"/>
                  <a:pt x="14734" y="319326"/>
                </a:cubicBezTo>
                <a:lnTo>
                  <a:pt x="14734" y="138053"/>
                </a:lnTo>
                <a:cubicBezTo>
                  <a:pt x="14734" y="117604"/>
                  <a:pt x="25628" y="98762"/>
                  <a:pt x="43309" y="88583"/>
                </a:cubicBezTo>
                <a:lnTo>
                  <a:pt x="200293" y="-2232"/>
                </a:lnTo>
                <a:close/>
                <a:moveTo>
                  <a:pt x="385852" y="319236"/>
                </a:moveTo>
                <a:lnTo>
                  <a:pt x="385852" y="170914"/>
                </a:lnTo>
                <a:lnTo>
                  <a:pt x="257443" y="245031"/>
                </a:lnTo>
                <a:lnTo>
                  <a:pt x="257443" y="393353"/>
                </a:lnTo>
                <a:lnTo>
                  <a:pt x="385852" y="319236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5"/>
          <p:cNvSpPr/>
          <p:nvPr/>
        </p:nvSpPr>
        <p:spPr>
          <a:xfrm>
            <a:off x="1771333" y="3418842"/>
            <a:ext cx="26543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Physics Simulation</a:t>
            </a:r>
            <a:endParaRPr b="0" i="0" sz="1600" u="none" cap="none" strike="noStrike"/>
          </a:p>
        </p:txBody>
      </p:sp>
      <p:sp>
        <p:nvSpPr>
          <p:cNvPr id="360" name="Google Shape;360;p25"/>
          <p:cNvSpPr/>
          <p:nvPr/>
        </p:nvSpPr>
        <p:spPr>
          <a:xfrm>
            <a:off x="457200" y="3825242"/>
            <a:ext cx="52832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Using Gazebo &amp; PyBullet to test gait and obstacle avoidance algorithms safely.</a:t>
            </a:r>
            <a:endParaRPr b="0" i="0" sz="1600" u="none" cap="none" strike="noStrike"/>
          </a:p>
        </p:txBody>
      </p:sp>
      <p:sp>
        <p:nvSpPr>
          <p:cNvPr id="361" name="Google Shape;361;p25"/>
          <p:cNvSpPr/>
          <p:nvPr/>
        </p:nvSpPr>
        <p:spPr>
          <a:xfrm>
            <a:off x="6248400" y="2606042"/>
            <a:ext cx="5664200" cy="1930400"/>
          </a:xfrm>
          <a:custGeom>
            <a:rect b="b" l="l" r="r" t="t"/>
            <a:pathLst>
              <a:path extrusionOk="0" h="1930400" w="5664200">
                <a:moveTo>
                  <a:pt x="101597" y="0"/>
                </a:moveTo>
                <a:lnTo>
                  <a:pt x="5562603" y="0"/>
                </a:lnTo>
                <a:cubicBezTo>
                  <a:pt x="5618713" y="0"/>
                  <a:pt x="5664200" y="45487"/>
                  <a:pt x="5664200" y="101597"/>
                </a:cubicBezTo>
                <a:lnTo>
                  <a:pt x="5664200" y="1828803"/>
                </a:lnTo>
                <a:cubicBezTo>
                  <a:pt x="5664200" y="1884913"/>
                  <a:pt x="5618713" y="1930400"/>
                  <a:pt x="5562603" y="1930400"/>
                </a:cubicBezTo>
                <a:lnTo>
                  <a:pt x="101597" y="1930400"/>
                </a:lnTo>
                <a:cubicBezTo>
                  <a:pt x="45487" y="1930400"/>
                  <a:pt x="0" y="1884913"/>
                  <a:pt x="0" y="18288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FFFFFF">
              <a:alpha val="9803"/>
            </a:srgbClr>
          </a:solidFill>
          <a:ln cap="flat" cmpd="sng" w="10150">
            <a:solidFill>
              <a:srgbClr val="FFFFFF">
                <a:alpha val="4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5"/>
          <p:cNvSpPr/>
          <p:nvPr/>
        </p:nvSpPr>
        <p:spPr>
          <a:xfrm>
            <a:off x="8807450" y="2819400"/>
            <a:ext cx="571500" cy="457200"/>
          </a:xfrm>
          <a:custGeom>
            <a:rect b="b" l="l" r="r" t="t"/>
            <a:pathLst>
              <a:path extrusionOk="0" h="457200" w="571500">
                <a:moveTo>
                  <a:pt x="85725" y="100013"/>
                </a:moveTo>
                <a:cubicBezTo>
                  <a:pt x="85725" y="76349"/>
                  <a:pt x="104924" y="57150"/>
                  <a:pt x="128588" y="57150"/>
                </a:cubicBezTo>
                <a:cubicBezTo>
                  <a:pt x="152251" y="57150"/>
                  <a:pt x="171450" y="76349"/>
                  <a:pt x="171450" y="100013"/>
                </a:cubicBezTo>
                <a:lnTo>
                  <a:pt x="171450" y="200025"/>
                </a:lnTo>
                <a:lnTo>
                  <a:pt x="400050" y="200025"/>
                </a:lnTo>
                <a:lnTo>
                  <a:pt x="400050" y="100013"/>
                </a:lnTo>
                <a:cubicBezTo>
                  <a:pt x="400050" y="76349"/>
                  <a:pt x="419249" y="57150"/>
                  <a:pt x="442913" y="57150"/>
                </a:cubicBezTo>
                <a:cubicBezTo>
                  <a:pt x="466576" y="57150"/>
                  <a:pt x="485775" y="76349"/>
                  <a:pt x="485775" y="100013"/>
                </a:cubicBezTo>
                <a:lnTo>
                  <a:pt x="485775" y="114300"/>
                </a:lnTo>
                <a:lnTo>
                  <a:pt x="500063" y="114300"/>
                </a:lnTo>
                <a:cubicBezTo>
                  <a:pt x="523726" y="114300"/>
                  <a:pt x="542925" y="133499"/>
                  <a:pt x="542925" y="157163"/>
                </a:cubicBezTo>
                <a:lnTo>
                  <a:pt x="542925" y="200025"/>
                </a:lnTo>
                <a:cubicBezTo>
                  <a:pt x="558731" y="200025"/>
                  <a:pt x="571500" y="212794"/>
                  <a:pt x="571500" y="228600"/>
                </a:cubicBezTo>
                <a:cubicBezTo>
                  <a:pt x="571500" y="244406"/>
                  <a:pt x="558731" y="257175"/>
                  <a:pt x="542925" y="257175"/>
                </a:cubicBezTo>
                <a:lnTo>
                  <a:pt x="542925" y="300038"/>
                </a:lnTo>
                <a:cubicBezTo>
                  <a:pt x="542925" y="323701"/>
                  <a:pt x="523726" y="342900"/>
                  <a:pt x="500063" y="342900"/>
                </a:cubicBezTo>
                <a:lnTo>
                  <a:pt x="485775" y="342900"/>
                </a:lnTo>
                <a:lnTo>
                  <a:pt x="485775" y="357188"/>
                </a:lnTo>
                <a:cubicBezTo>
                  <a:pt x="485775" y="380851"/>
                  <a:pt x="466576" y="400050"/>
                  <a:pt x="442913" y="400050"/>
                </a:cubicBezTo>
                <a:cubicBezTo>
                  <a:pt x="419249" y="400050"/>
                  <a:pt x="400050" y="380851"/>
                  <a:pt x="400050" y="357188"/>
                </a:cubicBezTo>
                <a:lnTo>
                  <a:pt x="400050" y="257175"/>
                </a:lnTo>
                <a:lnTo>
                  <a:pt x="171450" y="257175"/>
                </a:lnTo>
                <a:lnTo>
                  <a:pt x="171450" y="357188"/>
                </a:lnTo>
                <a:cubicBezTo>
                  <a:pt x="171450" y="380851"/>
                  <a:pt x="152251" y="400050"/>
                  <a:pt x="128588" y="400050"/>
                </a:cubicBezTo>
                <a:cubicBezTo>
                  <a:pt x="104924" y="400050"/>
                  <a:pt x="85725" y="380851"/>
                  <a:pt x="85725" y="357188"/>
                </a:cubicBezTo>
                <a:lnTo>
                  <a:pt x="85725" y="342900"/>
                </a:lnTo>
                <a:lnTo>
                  <a:pt x="71438" y="342900"/>
                </a:lnTo>
                <a:cubicBezTo>
                  <a:pt x="47774" y="342900"/>
                  <a:pt x="28575" y="323701"/>
                  <a:pt x="28575" y="300038"/>
                </a:cubicBezTo>
                <a:lnTo>
                  <a:pt x="28575" y="257175"/>
                </a:lnTo>
                <a:cubicBezTo>
                  <a:pt x="12769" y="257175"/>
                  <a:pt x="0" y="244406"/>
                  <a:pt x="0" y="228600"/>
                </a:cubicBezTo>
                <a:cubicBezTo>
                  <a:pt x="0" y="212794"/>
                  <a:pt x="12769" y="200025"/>
                  <a:pt x="28575" y="200025"/>
                </a:cubicBezTo>
                <a:lnTo>
                  <a:pt x="28575" y="157163"/>
                </a:lnTo>
                <a:cubicBezTo>
                  <a:pt x="28575" y="133499"/>
                  <a:pt x="47774" y="114300"/>
                  <a:pt x="71438" y="114300"/>
                </a:cubicBezTo>
                <a:lnTo>
                  <a:pt x="85725" y="114300"/>
                </a:lnTo>
                <a:lnTo>
                  <a:pt x="85725" y="100013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5"/>
          <p:cNvSpPr/>
          <p:nvPr/>
        </p:nvSpPr>
        <p:spPr>
          <a:xfrm>
            <a:off x="7453789" y="3429000"/>
            <a:ext cx="32766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Reinforcement Learning</a:t>
            </a:r>
            <a:endParaRPr b="0" i="0" sz="1600" u="none" cap="none" strike="noStrike"/>
          </a:p>
        </p:txBody>
      </p:sp>
      <p:sp>
        <p:nvSpPr>
          <p:cNvPr id="364" name="Google Shape;364;p25"/>
          <p:cNvSpPr/>
          <p:nvPr/>
        </p:nvSpPr>
        <p:spPr>
          <a:xfrm>
            <a:off x="6461760" y="3835400"/>
            <a:ext cx="52578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Using Isaac Gym to optimize locomotion patterns on a local GPU workstation.</a:t>
            </a:r>
            <a:endParaRPr b="0" i="0" sz="1600" u="none" cap="none" strike="noStrike"/>
          </a:p>
        </p:txBody>
      </p:sp>
      <p:sp>
        <p:nvSpPr>
          <p:cNvPr id="365" name="Google Shape;365;p25"/>
          <p:cNvSpPr/>
          <p:nvPr/>
        </p:nvSpPr>
        <p:spPr>
          <a:xfrm>
            <a:off x="254000" y="4861558"/>
            <a:ext cx="1168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Simulation allows for rapid prototyping, reduces the risk of hardware damage, and accelerates the development cycle by enabling testing in a wide variety of virtual environments before real-world deployment.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6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>
            <a:gsLst>
              <a:gs pos="0">
                <a:srgbClr val="F6F8FD"/>
              </a:gs>
              <a:gs pos="100000">
                <a:srgbClr val="BEBEBE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6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pic>
        <p:nvPicPr>
          <p:cNvPr descr="https://kimi-img.moonshot.cn/pub/slides/slides_tmpl/image/25-08-27-19:57:52-d2nf5g18bjvh7rlivt90.png" id="373" name="Google Shape;373;p26"/>
          <p:cNvPicPr preferRelativeResize="0"/>
          <p:nvPr/>
        </p:nvPicPr>
        <p:blipFill rotWithShape="1">
          <a:blip r:embed="rId3">
            <a:alphaModFix/>
          </a:blip>
          <a:srcRect b="0" l="20534" r="0" t="0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6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6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376" name="Google Shape;376;p26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Timeline &amp; Budget</a:t>
            </a:r>
            <a:endParaRPr b="0" i="0" sz="1600" u="none" cap="none" strike="noStrike"/>
          </a:p>
        </p:txBody>
      </p:sp>
      <p:sp>
        <p:nvSpPr>
          <p:cNvPr id="377" name="Google Shape;377;p26"/>
          <p:cNvSpPr/>
          <p:nvPr/>
        </p:nvSpPr>
        <p:spPr>
          <a:xfrm>
            <a:off x="7765415" y="1823085"/>
            <a:ext cx="1781810" cy="133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600" u="none" cap="none" strike="noStrike"/>
          </a:p>
        </p:txBody>
      </p:sp>
      <p:pic>
        <p:nvPicPr>
          <p:cNvPr id="378" name="Google Shape;378;p26"/>
          <p:cNvPicPr preferRelativeResize="0"/>
          <p:nvPr/>
        </p:nvPicPr>
        <p:blipFill rotWithShape="1">
          <a:blip r:embed="rId4">
            <a:alphaModFix/>
          </a:blip>
          <a:srcRect b="777" l="0" r="0" t="787"/>
          <a:stretch/>
        </p:blipFill>
        <p:spPr>
          <a:xfrm>
            <a:off x="1328420" y="2077085"/>
            <a:ext cx="2712719" cy="26701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kimi-img.moonshot.cn/pub/slides/slides_tmpl/image/25-08-27-19:57:52-d2nf5g18bjvh7rlivt9g.png" id="379" name="Google Shape;37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46590" y="2077085"/>
            <a:ext cx="920750" cy="335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7"/>
          <p:cNvSpPr/>
          <p:nvPr/>
        </p:nvSpPr>
        <p:spPr>
          <a:xfrm>
            <a:off x="254000" y="99060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20-Hour Development Roadmap</a:t>
            </a:r>
            <a:endParaRPr b="0" i="0" sz="1600" u="none" cap="none" strike="noStrike"/>
          </a:p>
        </p:txBody>
      </p:sp>
      <p:sp>
        <p:nvSpPr>
          <p:cNvPr id="386" name="Google Shape;386;p27"/>
          <p:cNvSpPr/>
          <p:nvPr/>
        </p:nvSpPr>
        <p:spPr>
          <a:xfrm>
            <a:off x="254000" y="1549400"/>
            <a:ext cx="12192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A fast-paced, milestone-driven project timeline.</a:t>
            </a:r>
            <a:endParaRPr b="0" i="0" sz="1600" u="none" cap="none" strike="noStrike"/>
          </a:p>
        </p:txBody>
      </p:sp>
      <p:sp>
        <p:nvSpPr>
          <p:cNvPr id="387" name="Google Shape;387;p27"/>
          <p:cNvSpPr/>
          <p:nvPr/>
        </p:nvSpPr>
        <p:spPr>
          <a:xfrm>
            <a:off x="0" y="2336800"/>
            <a:ext cx="1727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Phase 1</a:t>
            </a:r>
            <a:endParaRPr b="0" i="0" sz="1600" u="none" cap="none" strike="noStrike"/>
          </a:p>
        </p:txBody>
      </p:sp>
      <p:sp>
        <p:nvSpPr>
          <p:cNvPr id="388" name="Google Shape;388;p27"/>
          <p:cNvSpPr/>
          <p:nvPr/>
        </p:nvSpPr>
        <p:spPr>
          <a:xfrm>
            <a:off x="1676400" y="2489200"/>
            <a:ext cx="7620000" cy="50800"/>
          </a:xfrm>
          <a:custGeom>
            <a:rect b="b" l="l" r="r" t="t"/>
            <a:pathLst>
              <a:path extrusionOk="0" h="50800" w="7620000">
                <a:moveTo>
                  <a:pt x="25400" y="0"/>
                </a:moveTo>
                <a:lnTo>
                  <a:pt x="7594600" y="0"/>
                </a:lnTo>
                <a:cubicBezTo>
                  <a:pt x="7608619" y="0"/>
                  <a:pt x="7620000" y="11381"/>
                  <a:pt x="7620000" y="25400"/>
                </a:cubicBezTo>
                <a:lnTo>
                  <a:pt x="7620000" y="25400"/>
                </a:lnTo>
                <a:cubicBezTo>
                  <a:pt x="7620000" y="39419"/>
                  <a:pt x="7608619" y="50800"/>
                  <a:pt x="7594600" y="50800"/>
                </a:cubicBezTo>
                <a:lnTo>
                  <a:pt x="25400" y="50800"/>
                </a:lnTo>
                <a:cubicBezTo>
                  <a:pt x="11381" y="50800"/>
                  <a:pt x="0" y="39419"/>
                  <a:pt x="0" y="25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7"/>
          <p:cNvSpPr/>
          <p:nvPr/>
        </p:nvSpPr>
        <p:spPr>
          <a:xfrm>
            <a:off x="9499600" y="2209800"/>
            <a:ext cx="2438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3D Printing &amp; Assembly</a:t>
            </a:r>
            <a:endParaRPr b="0" i="0" sz="1600" u="none" cap="none" strike="noStrike"/>
          </a:p>
        </p:txBody>
      </p:sp>
      <p:sp>
        <p:nvSpPr>
          <p:cNvPr id="390" name="Google Shape;390;p27"/>
          <p:cNvSpPr/>
          <p:nvPr/>
        </p:nvSpPr>
        <p:spPr>
          <a:xfrm>
            <a:off x="0" y="2971800"/>
            <a:ext cx="1727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Phase 2</a:t>
            </a:r>
            <a:endParaRPr b="0" i="0" sz="1600" u="none" cap="none" strike="noStrike"/>
          </a:p>
        </p:txBody>
      </p:sp>
      <p:sp>
        <p:nvSpPr>
          <p:cNvPr id="391" name="Google Shape;391;p27"/>
          <p:cNvSpPr/>
          <p:nvPr/>
        </p:nvSpPr>
        <p:spPr>
          <a:xfrm>
            <a:off x="1676400" y="3124200"/>
            <a:ext cx="7620000" cy="50800"/>
          </a:xfrm>
          <a:custGeom>
            <a:rect b="b" l="l" r="r" t="t"/>
            <a:pathLst>
              <a:path extrusionOk="0" h="50800" w="7620000">
                <a:moveTo>
                  <a:pt x="25400" y="0"/>
                </a:moveTo>
                <a:lnTo>
                  <a:pt x="7594600" y="0"/>
                </a:lnTo>
                <a:cubicBezTo>
                  <a:pt x="7608619" y="0"/>
                  <a:pt x="7620000" y="11381"/>
                  <a:pt x="7620000" y="25400"/>
                </a:cubicBezTo>
                <a:lnTo>
                  <a:pt x="7620000" y="25400"/>
                </a:lnTo>
                <a:cubicBezTo>
                  <a:pt x="7620000" y="39419"/>
                  <a:pt x="7608619" y="50800"/>
                  <a:pt x="7594600" y="50800"/>
                </a:cubicBezTo>
                <a:lnTo>
                  <a:pt x="25400" y="50800"/>
                </a:lnTo>
                <a:cubicBezTo>
                  <a:pt x="11381" y="50800"/>
                  <a:pt x="0" y="39419"/>
                  <a:pt x="0" y="25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8C8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7"/>
          <p:cNvSpPr/>
          <p:nvPr/>
        </p:nvSpPr>
        <p:spPr>
          <a:xfrm>
            <a:off x="8991600" y="2997200"/>
            <a:ext cx="294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Electronics Integration</a:t>
            </a:r>
            <a:endParaRPr b="0" i="0" sz="1600" u="none" cap="none" strike="noStrike"/>
          </a:p>
        </p:txBody>
      </p:sp>
      <p:sp>
        <p:nvSpPr>
          <p:cNvPr id="393" name="Google Shape;393;p27"/>
          <p:cNvSpPr/>
          <p:nvPr/>
        </p:nvSpPr>
        <p:spPr>
          <a:xfrm>
            <a:off x="0" y="3479800"/>
            <a:ext cx="1727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Phase 3</a:t>
            </a:r>
            <a:endParaRPr b="0" i="0" sz="1600" u="none" cap="none" strike="noStrike"/>
          </a:p>
        </p:txBody>
      </p:sp>
      <p:sp>
        <p:nvSpPr>
          <p:cNvPr id="394" name="Google Shape;394;p27"/>
          <p:cNvSpPr/>
          <p:nvPr/>
        </p:nvSpPr>
        <p:spPr>
          <a:xfrm>
            <a:off x="1676400" y="3632200"/>
            <a:ext cx="7620000" cy="50800"/>
          </a:xfrm>
          <a:custGeom>
            <a:rect b="b" l="l" r="r" t="t"/>
            <a:pathLst>
              <a:path extrusionOk="0" h="50800" w="7620000">
                <a:moveTo>
                  <a:pt x="25400" y="0"/>
                </a:moveTo>
                <a:lnTo>
                  <a:pt x="7594600" y="0"/>
                </a:lnTo>
                <a:cubicBezTo>
                  <a:pt x="7608619" y="0"/>
                  <a:pt x="7620000" y="11381"/>
                  <a:pt x="7620000" y="25400"/>
                </a:cubicBezTo>
                <a:lnTo>
                  <a:pt x="7620000" y="25400"/>
                </a:lnTo>
                <a:cubicBezTo>
                  <a:pt x="7620000" y="39419"/>
                  <a:pt x="7608619" y="50800"/>
                  <a:pt x="7594600" y="50800"/>
                </a:cubicBezTo>
                <a:lnTo>
                  <a:pt x="25400" y="50800"/>
                </a:lnTo>
                <a:cubicBezTo>
                  <a:pt x="11381" y="50800"/>
                  <a:pt x="0" y="39419"/>
                  <a:pt x="0" y="25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7"/>
          <p:cNvSpPr/>
          <p:nvPr/>
        </p:nvSpPr>
        <p:spPr>
          <a:xfrm>
            <a:off x="8991600" y="3505200"/>
            <a:ext cx="294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Firmware &amp; Basic Gait</a:t>
            </a:r>
            <a:endParaRPr b="0" i="0" sz="1600" u="none" cap="none" strike="noStrike"/>
          </a:p>
        </p:txBody>
      </p:sp>
      <p:sp>
        <p:nvSpPr>
          <p:cNvPr id="396" name="Google Shape;396;p27"/>
          <p:cNvSpPr/>
          <p:nvPr/>
        </p:nvSpPr>
        <p:spPr>
          <a:xfrm>
            <a:off x="0" y="3987800"/>
            <a:ext cx="1727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Phase 4</a:t>
            </a:r>
            <a:endParaRPr b="0" i="0" sz="1600" u="none" cap="none" strike="noStrike"/>
          </a:p>
        </p:txBody>
      </p:sp>
      <p:sp>
        <p:nvSpPr>
          <p:cNvPr id="397" name="Google Shape;397;p27"/>
          <p:cNvSpPr/>
          <p:nvPr/>
        </p:nvSpPr>
        <p:spPr>
          <a:xfrm>
            <a:off x="1676400" y="4140200"/>
            <a:ext cx="7620000" cy="50800"/>
          </a:xfrm>
          <a:custGeom>
            <a:rect b="b" l="l" r="r" t="t"/>
            <a:pathLst>
              <a:path extrusionOk="0" h="50800" w="7620000">
                <a:moveTo>
                  <a:pt x="25400" y="0"/>
                </a:moveTo>
                <a:lnTo>
                  <a:pt x="7594600" y="0"/>
                </a:lnTo>
                <a:cubicBezTo>
                  <a:pt x="7608619" y="0"/>
                  <a:pt x="7620000" y="11381"/>
                  <a:pt x="7620000" y="25400"/>
                </a:cubicBezTo>
                <a:lnTo>
                  <a:pt x="7620000" y="25400"/>
                </a:lnTo>
                <a:cubicBezTo>
                  <a:pt x="7620000" y="39419"/>
                  <a:pt x="7608619" y="50800"/>
                  <a:pt x="7594600" y="50800"/>
                </a:cubicBezTo>
                <a:lnTo>
                  <a:pt x="25400" y="50800"/>
                </a:lnTo>
                <a:cubicBezTo>
                  <a:pt x="11381" y="50800"/>
                  <a:pt x="0" y="39419"/>
                  <a:pt x="0" y="25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8C8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7"/>
          <p:cNvSpPr/>
          <p:nvPr/>
        </p:nvSpPr>
        <p:spPr>
          <a:xfrm>
            <a:off x="8991600" y="4013200"/>
            <a:ext cx="294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Perception &amp; SLAM</a:t>
            </a:r>
            <a:endParaRPr b="0" i="0" sz="1600" u="none" cap="none" strike="noStrike"/>
          </a:p>
        </p:txBody>
      </p:sp>
      <p:sp>
        <p:nvSpPr>
          <p:cNvPr id="399" name="Google Shape;399;p27"/>
          <p:cNvSpPr/>
          <p:nvPr/>
        </p:nvSpPr>
        <p:spPr>
          <a:xfrm>
            <a:off x="0" y="4622800"/>
            <a:ext cx="1727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Phase 5</a:t>
            </a:r>
            <a:endParaRPr b="0" i="0" sz="1600" u="none" cap="none" strike="noStrike"/>
          </a:p>
        </p:txBody>
      </p:sp>
      <p:sp>
        <p:nvSpPr>
          <p:cNvPr id="400" name="Google Shape;400;p27"/>
          <p:cNvSpPr/>
          <p:nvPr/>
        </p:nvSpPr>
        <p:spPr>
          <a:xfrm>
            <a:off x="1676400" y="4775200"/>
            <a:ext cx="7620000" cy="50800"/>
          </a:xfrm>
          <a:custGeom>
            <a:rect b="b" l="l" r="r" t="t"/>
            <a:pathLst>
              <a:path extrusionOk="0" h="50800" w="7620000">
                <a:moveTo>
                  <a:pt x="25400" y="0"/>
                </a:moveTo>
                <a:lnTo>
                  <a:pt x="7594600" y="0"/>
                </a:lnTo>
                <a:cubicBezTo>
                  <a:pt x="7608619" y="0"/>
                  <a:pt x="7620000" y="11381"/>
                  <a:pt x="7620000" y="25400"/>
                </a:cubicBezTo>
                <a:lnTo>
                  <a:pt x="7620000" y="25400"/>
                </a:lnTo>
                <a:cubicBezTo>
                  <a:pt x="7620000" y="39419"/>
                  <a:pt x="7608619" y="50800"/>
                  <a:pt x="7594600" y="50800"/>
                </a:cubicBezTo>
                <a:lnTo>
                  <a:pt x="25400" y="50800"/>
                </a:lnTo>
                <a:cubicBezTo>
                  <a:pt x="11381" y="50800"/>
                  <a:pt x="0" y="39419"/>
                  <a:pt x="0" y="25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7"/>
          <p:cNvSpPr/>
          <p:nvPr/>
        </p:nvSpPr>
        <p:spPr>
          <a:xfrm>
            <a:off x="9499600" y="4495800"/>
            <a:ext cx="2438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AI &amp; Autonomy Features</a:t>
            </a:r>
            <a:endParaRPr b="0" i="0" sz="1600" u="none" cap="none" strike="noStrike"/>
          </a:p>
        </p:txBody>
      </p:sp>
      <p:sp>
        <p:nvSpPr>
          <p:cNvPr id="402" name="Google Shape;402;p27"/>
          <p:cNvSpPr/>
          <p:nvPr/>
        </p:nvSpPr>
        <p:spPr>
          <a:xfrm>
            <a:off x="0" y="5384800"/>
            <a:ext cx="1727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Phase 6</a:t>
            </a:r>
            <a:endParaRPr b="0" i="0" sz="1600" u="none" cap="none" strike="noStrike"/>
          </a:p>
        </p:txBody>
      </p:sp>
      <p:sp>
        <p:nvSpPr>
          <p:cNvPr id="403" name="Google Shape;403;p27"/>
          <p:cNvSpPr/>
          <p:nvPr/>
        </p:nvSpPr>
        <p:spPr>
          <a:xfrm>
            <a:off x="1676400" y="5537200"/>
            <a:ext cx="7620000" cy="50800"/>
          </a:xfrm>
          <a:custGeom>
            <a:rect b="b" l="l" r="r" t="t"/>
            <a:pathLst>
              <a:path extrusionOk="0" h="50800" w="7620000">
                <a:moveTo>
                  <a:pt x="25400" y="0"/>
                </a:moveTo>
                <a:lnTo>
                  <a:pt x="7594600" y="0"/>
                </a:lnTo>
                <a:cubicBezTo>
                  <a:pt x="7608619" y="0"/>
                  <a:pt x="7620000" y="11381"/>
                  <a:pt x="7620000" y="25400"/>
                </a:cubicBezTo>
                <a:lnTo>
                  <a:pt x="7620000" y="25400"/>
                </a:lnTo>
                <a:cubicBezTo>
                  <a:pt x="7620000" y="39419"/>
                  <a:pt x="7608619" y="50800"/>
                  <a:pt x="7594600" y="50800"/>
                </a:cubicBezTo>
                <a:lnTo>
                  <a:pt x="25400" y="50800"/>
                </a:lnTo>
                <a:cubicBezTo>
                  <a:pt x="11381" y="50800"/>
                  <a:pt x="0" y="39419"/>
                  <a:pt x="0" y="25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7"/>
          <p:cNvSpPr/>
          <p:nvPr/>
        </p:nvSpPr>
        <p:spPr>
          <a:xfrm>
            <a:off x="9499600" y="5257800"/>
            <a:ext cx="2438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System Testing &amp; Optimization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8"/>
          <p:cNvSpPr/>
          <p:nvPr/>
        </p:nvSpPr>
        <p:spPr>
          <a:xfrm>
            <a:off x="254000" y="1640842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Component Cost Breakdown</a:t>
            </a:r>
            <a:endParaRPr b="0" i="0" sz="1600" u="none" cap="none" strike="noStrike"/>
          </a:p>
        </p:txBody>
      </p:sp>
      <p:sp>
        <p:nvSpPr>
          <p:cNvPr id="411" name="Google Shape;411;p28"/>
          <p:cNvSpPr/>
          <p:nvPr/>
        </p:nvSpPr>
        <p:spPr>
          <a:xfrm>
            <a:off x="254000" y="2199642"/>
            <a:ext cx="12192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A detailed look at the 6,670 EGP budget.</a:t>
            </a:r>
            <a:endParaRPr b="0" i="0" sz="1600" u="none" cap="none" strike="noStrike"/>
          </a:p>
        </p:txBody>
      </p:sp>
      <p:sp>
        <p:nvSpPr>
          <p:cNvPr id="412" name="Google Shape;412;p28"/>
          <p:cNvSpPr/>
          <p:nvPr/>
        </p:nvSpPr>
        <p:spPr>
          <a:xfrm>
            <a:off x="254000" y="2860042"/>
            <a:ext cx="5638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Arduino Nano RP2040 Connect: </a:t>
            </a:r>
            <a:r>
              <a:rPr b="0" i="0" lang="en-US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1,750 EGP</a:t>
            </a:r>
            <a:endParaRPr b="0" i="0" sz="1600" u="none" cap="none" strike="noStrike"/>
          </a:p>
        </p:txBody>
      </p:sp>
      <p:sp>
        <p:nvSpPr>
          <p:cNvPr id="413" name="Google Shape;413;p28"/>
          <p:cNvSpPr/>
          <p:nvPr/>
        </p:nvSpPr>
        <p:spPr>
          <a:xfrm>
            <a:off x="6299200" y="2860042"/>
            <a:ext cx="5638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MG996R Servos (x12): </a:t>
            </a:r>
            <a:r>
              <a:rPr b="0" i="0" lang="en-US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2,520 EGP</a:t>
            </a:r>
            <a:endParaRPr b="0" i="0" sz="1600" u="none" cap="none" strike="noStrike"/>
          </a:p>
        </p:txBody>
      </p:sp>
      <p:sp>
        <p:nvSpPr>
          <p:cNvPr id="414" name="Google Shape;414;p28"/>
          <p:cNvSpPr/>
          <p:nvPr/>
        </p:nvSpPr>
        <p:spPr>
          <a:xfrm>
            <a:off x="254000" y="3266442"/>
            <a:ext cx="5638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PCA9685 PWM Driver: </a:t>
            </a:r>
            <a:r>
              <a:rPr b="0" i="0" lang="en-US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210 EGP</a:t>
            </a:r>
            <a:endParaRPr b="0" i="0" sz="1600" u="none" cap="none" strike="noStrike"/>
          </a:p>
        </p:txBody>
      </p:sp>
      <p:sp>
        <p:nvSpPr>
          <p:cNvPr id="415" name="Google Shape;415;p28"/>
          <p:cNvSpPr/>
          <p:nvPr/>
        </p:nvSpPr>
        <p:spPr>
          <a:xfrm>
            <a:off x="6299200" y="3266442"/>
            <a:ext cx="5638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Stereo Cameras (x2): </a:t>
            </a:r>
            <a:r>
              <a:rPr b="0" i="0" lang="en-US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700 EGP</a:t>
            </a:r>
            <a:endParaRPr b="0" i="0" sz="1600" u="none" cap="none" strike="noStrike"/>
          </a:p>
        </p:txBody>
      </p:sp>
      <p:sp>
        <p:nvSpPr>
          <p:cNvPr id="416" name="Google Shape;416;p28"/>
          <p:cNvSpPr/>
          <p:nvPr/>
        </p:nvSpPr>
        <p:spPr>
          <a:xfrm>
            <a:off x="254000" y="3672842"/>
            <a:ext cx="5638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GPS Module: </a:t>
            </a:r>
            <a:r>
              <a:rPr b="0" i="0" lang="en-US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450 EGP</a:t>
            </a:r>
            <a:endParaRPr b="0" i="0" sz="1600" u="none" cap="none" strike="noStrike"/>
          </a:p>
        </p:txBody>
      </p:sp>
      <p:sp>
        <p:nvSpPr>
          <p:cNvPr id="417" name="Google Shape;417;p28"/>
          <p:cNvSpPr/>
          <p:nvPr/>
        </p:nvSpPr>
        <p:spPr>
          <a:xfrm>
            <a:off x="6299200" y="3672842"/>
            <a:ext cx="5638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Sensors &amp; Audio: </a:t>
            </a:r>
            <a:r>
              <a:rPr b="0" i="0" lang="en-US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~780 EGP</a:t>
            </a:r>
            <a:endParaRPr b="0" i="0" sz="1600" u="none" cap="none" strike="noStrike"/>
          </a:p>
        </p:txBody>
      </p:sp>
      <p:sp>
        <p:nvSpPr>
          <p:cNvPr id="418" name="Google Shape;418;p28"/>
          <p:cNvSpPr/>
          <p:nvPr/>
        </p:nvSpPr>
        <p:spPr>
          <a:xfrm>
            <a:off x="254000" y="4079242"/>
            <a:ext cx="5638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Battery &amp; Misc: </a:t>
            </a:r>
            <a:r>
              <a:rPr b="0" i="0" lang="en-US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~1,260 EGP</a:t>
            </a:r>
            <a:endParaRPr b="0" i="0" sz="1600" u="none" cap="none" strike="noStrike"/>
          </a:p>
        </p:txBody>
      </p:sp>
      <p:cxnSp>
        <p:nvCxnSpPr>
          <p:cNvPr id="419" name="Google Shape;419;p28"/>
          <p:cNvCxnSpPr/>
          <p:nvPr/>
        </p:nvCxnSpPr>
        <p:spPr>
          <a:xfrm>
            <a:off x="254000" y="4587242"/>
            <a:ext cx="11684000" cy="0"/>
          </a:xfrm>
          <a:prstGeom prst="straightConnector1">
            <a:avLst/>
          </a:prstGeom>
          <a:noFill/>
          <a:ln cap="flat" cmpd="sng" w="20300">
            <a:solidFill>
              <a:srgbClr val="8C8C8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0" name="Google Shape;420;p28"/>
          <p:cNvSpPr/>
          <p:nvPr/>
        </p:nvSpPr>
        <p:spPr>
          <a:xfrm>
            <a:off x="254000" y="4810758"/>
            <a:ext cx="11684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Grand Total: </a:t>
            </a:r>
            <a:r>
              <a:rPr b="0" i="0" lang="en-US" sz="2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6,670 EGP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9"/>
          <p:cNvSpPr/>
          <p:nvPr/>
        </p:nvSpPr>
        <p:spPr>
          <a:xfrm>
            <a:off x="0" y="160020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Local Supplier Ecosystem</a:t>
            </a:r>
            <a:endParaRPr b="0" i="0" sz="1600" u="none" cap="none" strike="noStrike"/>
          </a:p>
        </p:txBody>
      </p:sp>
      <p:sp>
        <p:nvSpPr>
          <p:cNvPr id="427" name="Google Shape;427;p29"/>
          <p:cNvSpPr/>
          <p:nvPr/>
        </p:nvSpPr>
        <p:spPr>
          <a:xfrm>
            <a:off x="0" y="2159000"/>
            <a:ext cx="12192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Reliable, fast procurement from trusted Egyptian suppliers.</a:t>
            </a:r>
            <a:endParaRPr b="0" i="0" sz="1600" u="none" cap="none" strike="noStrike"/>
          </a:p>
        </p:txBody>
      </p:sp>
      <p:sp>
        <p:nvSpPr>
          <p:cNvPr id="428" name="Google Shape;428;p29"/>
          <p:cNvSpPr/>
          <p:nvPr/>
        </p:nvSpPr>
        <p:spPr>
          <a:xfrm>
            <a:off x="254000" y="2921000"/>
            <a:ext cx="5689600" cy="1016000"/>
          </a:xfrm>
          <a:custGeom>
            <a:rect b="b" l="l" r="r" t="t"/>
            <a:pathLst>
              <a:path extrusionOk="0" h="1016000" w="5689600">
                <a:moveTo>
                  <a:pt x="101600" y="0"/>
                </a:moveTo>
                <a:lnTo>
                  <a:pt x="5588000" y="0"/>
                </a:lnTo>
                <a:cubicBezTo>
                  <a:pt x="5644075" y="0"/>
                  <a:pt x="5689600" y="45525"/>
                  <a:pt x="5689600" y="101600"/>
                </a:cubicBezTo>
                <a:lnTo>
                  <a:pt x="5689600" y="914400"/>
                </a:lnTo>
                <a:cubicBezTo>
                  <a:pt x="5689600" y="970475"/>
                  <a:pt x="5644075" y="1016000"/>
                  <a:pt x="55880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262626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9"/>
          <p:cNvSpPr/>
          <p:nvPr/>
        </p:nvSpPr>
        <p:spPr>
          <a:xfrm>
            <a:off x="635000" y="32004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7414" y="64562"/>
                </a:moveTo>
                <a:cubicBezTo>
                  <a:pt x="33576" y="43220"/>
                  <a:pt x="53132" y="28575"/>
                  <a:pt x="75367" y="28575"/>
                </a:cubicBezTo>
                <a:lnTo>
                  <a:pt x="382548" y="28575"/>
                </a:lnTo>
                <a:cubicBezTo>
                  <a:pt x="404783" y="28575"/>
                  <a:pt x="424339" y="43220"/>
                  <a:pt x="430590" y="64562"/>
                </a:cubicBezTo>
                <a:lnTo>
                  <a:pt x="451485" y="136178"/>
                </a:lnTo>
                <a:cubicBezTo>
                  <a:pt x="462915" y="175200"/>
                  <a:pt x="433536" y="214313"/>
                  <a:pt x="392906" y="214313"/>
                </a:cubicBezTo>
                <a:cubicBezTo>
                  <a:pt x="369421" y="214313"/>
                  <a:pt x="348794" y="201007"/>
                  <a:pt x="338614" y="181183"/>
                </a:cubicBezTo>
                <a:cubicBezTo>
                  <a:pt x="328255" y="200739"/>
                  <a:pt x="307717" y="214313"/>
                  <a:pt x="283785" y="214313"/>
                </a:cubicBezTo>
                <a:cubicBezTo>
                  <a:pt x="260033" y="214313"/>
                  <a:pt x="239405" y="200918"/>
                  <a:pt x="229046" y="181273"/>
                </a:cubicBezTo>
                <a:cubicBezTo>
                  <a:pt x="218688" y="200918"/>
                  <a:pt x="198060" y="214313"/>
                  <a:pt x="174308" y="214313"/>
                </a:cubicBezTo>
                <a:cubicBezTo>
                  <a:pt x="150376" y="214313"/>
                  <a:pt x="129838" y="200829"/>
                  <a:pt x="119479" y="181183"/>
                </a:cubicBezTo>
                <a:cubicBezTo>
                  <a:pt x="109299" y="200918"/>
                  <a:pt x="88672" y="214313"/>
                  <a:pt x="65187" y="214313"/>
                </a:cubicBezTo>
                <a:cubicBezTo>
                  <a:pt x="24467" y="214313"/>
                  <a:pt x="-4822" y="175290"/>
                  <a:pt x="6608" y="136178"/>
                </a:cubicBezTo>
                <a:lnTo>
                  <a:pt x="27414" y="64562"/>
                </a:lnTo>
                <a:close/>
                <a:moveTo>
                  <a:pt x="86082" y="314325"/>
                </a:moveTo>
                <a:lnTo>
                  <a:pt x="371832" y="314325"/>
                </a:lnTo>
                <a:lnTo>
                  <a:pt x="371832" y="255032"/>
                </a:lnTo>
                <a:cubicBezTo>
                  <a:pt x="378619" y="256461"/>
                  <a:pt x="385673" y="257175"/>
                  <a:pt x="392817" y="257175"/>
                </a:cubicBezTo>
                <a:cubicBezTo>
                  <a:pt x="405586" y="257175"/>
                  <a:pt x="417820" y="254853"/>
                  <a:pt x="428982" y="250746"/>
                </a:cubicBezTo>
                <a:lnTo>
                  <a:pt x="428982" y="385763"/>
                </a:lnTo>
                <a:cubicBezTo>
                  <a:pt x="428982" y="409426"/>
                  <a:pt x="409783" y="428625"/>
                  <a:pt x="386120" y="428625"/>
                </a:cubicBezTo>
                <a:lnTo>
                  <a:pt x="71795" y="428625"/>
                </a:lnTo>
                <a:cubicBezTo>
                  <a:pt x="48131" y="428625"/>
                  <a:pt x="28932" y="409426"/>
                  <a:pt x="28932" y="385763"/>
                </a:cubicBezTo>
                <a:lnTo>
                  <a:pt x="28932" y="250746"/>
                </a:lnTo>
                <a:cubicBezTo>
                  <a:pt x="40094" y="254853"/>
                  <a:pt x="52239" y="257175"/>
                  <a:pt x="65097" y="257175"/>
                </a:cubicBezTo>
                <a:cubicBezTo>
                  <a:pt x="72330" y="257175"/>
                  <a:pt x="79296" y="256461"/>
                  <a:pt x="86082" y="255032"/>
                </a:cubicBezTo>
                <a:lnTo>
                  <a:pt x="86082" y="314325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9"/>
          <p:cNvSpPr/>
          <p:nvPr/>
        </p:nvSpPr>
        <p:spPr>
          <a:xfrm>
            <a:off x="1473200" y="3124200"/>
            <a:ext cx="28575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MakerSelectronics</a:t>
            </a:r>
            <a:endParaRPr b="0" i="0" sz="1600" u="none" cap="none" strike="noStrike"/>
          </a:p>
        </p:txBody>
      </p:sp>
      <p:sp>
        <p:nvSpPr>
          <p:cNvPr id="431" name="Google Shape;431;p29"/>
          <p:cNvSpPr/>
          <p:nvPr/>
        </p:nvSpPr>
        <p:spPr>
          <a:xfrm>
            <a:off x="1473200" y="3479800"/>
            <a:ext cx="28575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Servos, Drivers, Sensors</a:t>
            </a:r>
            <a:endParaRPr b="0" i="0" sz="1600" u="none" cap="none" strike="noStrike"/>
          </a:p>
        </p:txBody>
      </p:sp>
      <p:sp>
        <p:nvSpPr>
          <p:cNvPr id="432" name="Google Shape;432;p29"/>
          <p:cNvSpPr/>
          <p:nvPr/>
        </p:nvSpPr>
        <p:spPr>
          <a:xfrm>
            <a:off x="6248400" y="2921000"/>
            <a:ext cx="5689600" cy="1016000"/>
          </a:xfrm>
          <a:custGeom>
            <a:rect b="b" l="l" r="r" t="t"/>
            <a:pathLst>
              <a:path extrusionOk="0" h="1016000" w="5689600">
                <a:moveTo>
                  <a:pt x="101600" y="0"/>
                </a:moveTo>
                <a:lnTo>
                  <a:pt x="5588000" y="0"/>
                </a:lnTo>
                <a:cubicBezTo>
                  <a:pt x="5644075" y="0"/>
                  <a:pt x="5689600" y="45525"/>
                  <a:pt x="5689600" y="101600"/>
                </a:cubicBezTo>
                <a:lnTo>
                  <a:pt x="5689600" y="914400"/>
                </a:lnTo>
                <a:cubicBezTo>
                  <a:pt x="5689600" y="970475"/>
                  <a:pt x="5644075" y="1016000"/>
                  <a:pt x="55880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8C8C8C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9"/>
          <p:cNvSpPr/>
          <p:nvPr/>
        </p:nvSpPr>
        <p:spPr>
          <a:xfrm>
            <a:off x="6629400" y="32004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7414" y="64562"/>
                </a:moveTo>
                <a:cubicBezTo>
                  <a:pt x="33576" y="43220"/>
                  <a:pt x="53132" y="28575"/>
                  <a:pt x="75367" y="28575"/>
                </a:cubicBezTo>
                <a:lnTo>
                  <a:pt x="382548" y="28575"/>
                </a:lnTo>
                <a:cubicBezTo>
                  <a:pt x="404783" y="28575"/>
                  <a:pt x="424339" y="43220"/>
                  <a:pt x="430590" y="64562"/>
                </a:cubicBezTo>
                <a:lnTo>
                  <a:pt x="451485" y="136178"/>
                </a:lnTo>
                <a:cubicBezTo>
                  <a:pt x="462915" y="175200"/>
                  <a:pt x="433536" y="214313"/>
                  <a:pt x="392906" y="214313"/>
                </a:cubicBezTo>
                <a:cubicBezTo>
                  <a:pt x="369421" y="214313"/>
                  <a:pt x="348794" y="201007"/>
                  <a:pt x="338614" y="181183"/>
                </a:cubicBezTo>
                <a:cubicBezTo>
                  <a:pt x="328255" y="200739"/>
                  <a:pt x="307717" y="214313"/>
                  <a:pt x="283785" y="214313"/>
                </a:cubicBezTo>
                <a:cubicBezTo>
                  <a:pt x="260033" y="214313"/>
                  <a:pt x="239405" y="200918"/>
                  <a:pt x="229046" y="181273"/>
                </a:cubicBezTo>
                <a:cubicBezTo>
                  <a:pt x="218688" y="200918"/>
                  <a:pt x="198060" y="214313"/>
                  <a:pt x="174308" y="214313"/>
                </a:cubicBezTo>
                <a:cubicBezTo>
                  <a:pt x="150376" y="214313"/>
                  <a:pt x="129838" y="200829"/>
                  <a:pt x="119479" y="181183"/>
                </a:cubicBezTo>
                <a:cubicBezTo>
                  <a:pt x="109299" y="200918"/>
                  <a:pt x="88672" y="214313"/>
                  <a:pt x="65187" y="214313"/>
                </a:cubicBezTo>
                <a:cubicBezTo>
                  <a:pt x="24467" y="214313"/>
                  <a:pt x="-4822" y="175290"/>
                  <a:pt x="6608" y="136178"/>
                </a:cubicBezTo>
                <a:lnTo>
                  <a:pt x="27414" y="64562"/>
                </a:lnTo>
                <a:close/>
                <a:moveTo>
                  <a:pt x="86082" y="314325"/>
                </a:moveTo>
                <a:lnTo>
                  <a:pt x="371832" y="314325"/>
                </a:lnTo>
                <a:lnTo>
                  <a:pt x="371832" y="255032"/>
                </a:lnTo>
                <a:cubicBezTo>
                  <a:pt x="378619" y="256461"/>
                  <a:pt x="385673" y="257175"/>
                  <a:pt x="392817" y="257175"/>
                </a:cubicBezTo>
                <a:cubicBezTo>
                  <a:pt x="405586" y="257175"/>
                  <a:pt x="417820" y="254853"/>
                  <a:pt x="428982" y="250746"/>
                </a:cubicBezTo>
                <a:lnTo>
                  <a:pt x="428982" y="385763"/>
                </a:lnTo>
                <a:cubicBezTo>
                  <a:pt x="428982" y="409426"/>
                  <a:pt x="409783" y="428625"/>
                  <a:pt x="386120" y="428625"/>
                </a:cubicBezTo>
                <a:lnTo>
                  <a:pt x="71795" y="428625"/>
                </a:lnTo>
                <a:cubicBezTo>
                  <a:pt x="48131" y="428625"/>
                  <a:pt x="28932" y="409426"/>
                  <a:pt x="28932" y="385763"/>
                </a:cubicBezTo>
                <a:lnTo>
                  <a:pt x="28932" y="250746"/>
                </a:lnTo>
                <a:cubicBezTo>
                  <a:pt x="40094" y="254853"/>
                  <a:pt x="52239" y="257175"/>
                  <a:pt x="65097" y="257175"/>
                </a:cubicBezTo>
                <a:cubicBezTo>
                  <a:pt x="72330" y="257175"/>
                  <a:pt x="79296" y="256461"/>
                  <a:pt x="86082" y="255032"/>
                </a:cubicBezTo>
                <a:lnTo>
                  <a:pt x="86082" y="314325"/>
                </a:lnTo>
                <a:close/>
              </a:path>
            </a:pathLst>
          </a:custGeom>
          <a:solidFill>
            <a:srgbClr val="8C8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9"/>
          <p:cNvSpPr/>
          <p:nvPr/>
        </p:nvSpPr>
        <p:spPr>
          <a:xfrm>
            <a:off x="7467600" y="3124200"/>
            <a:ext cx="25908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RAM Electronics</a:t>
            </a:r>
            <a:endParaRPr b="0" i="0" sz="1600" u="none" cap="none" strike="noStrike"/>
          </a:p>
        </p:txBody>
      </p:sp>
      <p:sp>
        <p:nvSpPr>
          <p:cNvPr id="435" name="Google Shape;435;p29"/>
          <p:cNvSpPr/>
          <p:nvPr/>
        </p:nvSpPr>
        <p:spPr>
          <a:xfrm>
            <a:off x="7467600" y="3479800"/>
            <a:ext cx="25908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Arduino, Cameras</a:t>
            </a:r>
            <a:endParaRPr b="0" i="0" sz="1600" u="none" cap="none" strike="noStrike"/>
          </a:p>
        </p:txBody>
      </p:sp>
      <p:sp>
        <p:nvSpPr>
          <p:cNvPr id="436" name="Google Shape;436;p29"/>
          <p:cNvSpPr/>
          <p:nvPr/>
        </p:nvSpPr>
        <p:spPr>
          <a:xfrm>
            <a:off x="254000" y="4241800"/>
            <a:ext cx="5689600" cy="1016000"/>
          </a:xfrm>
          <a:custGeom>
            <a:rect b="b" l="l" r="r" t="t"/>
            <a:pathLst>
              <a:path extrusionOk="0" h="1016000" w="5689600">
                <a:moveTo>
                  <a:pt x="101600" y="0"/>
                </a:moveTo>
                <a:lnTo>
                  <a:pt x="5588000" y="0"/>
                </a:lnTo>
                <a:cubicBezTo>
                  <a:pt x="5644075" y="0"/>
                  <a:pt x="5689600" y="45525"/>
                  <a:pt x="5689600" y="101600"/>
                </a:cubicBezTo>
                <a:lnTo>
                  <a:pt x="5689600" y="914400"/>
                </a:lnTo>
                <a:cubicBezTo>
                  <a:pt x="5689600" y="970475"/>
                  <a:pt x="5644075" y="1016000"/>
                  <a:pt x="55880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8C8C8C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9"/>
          <p:cNvSpPr/>
          <p:nvPr/>
        </p:nvSpPr>
        <p:spPr>
          <a:xfrm>
            <a:off x="635000" y="45212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7414" y="64562"/>
                </a:moveTo>
                <a:cubicBezTo>
                  <a:pt x="33576" y="43220"/>
                  <a:pt x="53132" y="28575"/>
                  <a:pt x="75367" y="28575"/>
                </a:cubicBezTo>
                <a:lnTo>
                  <a:pt x="382548" y="28575"/>
                </a:lnTo>
                <a:cubicBezTo>
                  <a:pt x="404783" y="28575"/>
                  <a:pt x="424339" y="43220"/>
                  <a:pt x="430590" y="64562"/>
                </a:cubicBezTo>
                <a:lnTo>
                  <a:pt x="451485" y="136178"/>
                </a:lnTo>
                <a:cubicBezTo>
                  <a:pt x="462915" y="175200"/>
                  <a:pt x="433536" y="214313"/>
                  <a:pt x="392906" y="214313"/>
                </a:cubicBezTo>
                <a:cubicBezTo>
                  <a:pt x="369421" y="214313"/>
                  <a:pt x="348794" y="201007"/>
                  <a:pt x="338614" y="181183"/>
                </a:cubicBezTo>
                <a:cubicBezTo>
                  <a:pt x="328255" y="200739"/>
                  <a:pt x="307717" y="214313"/>
                  <a:pt x="283785" y="214313"/>
                </a:cubicBezTo>
                <a:cubicBezTo>
                  <a:pt x="260033" y="214313"/>
                  <a:pt x="239405" y="200918"/>
                  <a:pt x="229046" y="181273"/>
                </a:cubicBezTo>
                <a:cubicBezTo>
                  <a:pt x="218688" y="200918"/>
                  <a:pt x="198060" y="214313"/>
                  <a:pt x="174308" y="214313"/>
                </a:cubicBezTo>
                <a:cubicBezTo>
                  <a:pt x="150376" y="214313"/>
                  <a:pt x="129838" y="200829"/>
                  <a:pt x="119479" y="181183"/>
                </a:cubicBezTo>
                <a:cubicBezTo>
                  <a:pt x="109299" y="200918"/>
                  <a:pt x="88672" y="214313"/>
                  <a:pt x="65187" y="214313"/>
                </a:cubicBezTo>
                <a:cubicBezTo>
                  <a:pt x="24467" y="214313"/>
                  <a:pt x="-4822" y="175290"/>
                  <a:pt x="6608" y="136178"/>
                </a:cubicBezTo>
                <a:lnTo>
                  <a:pt x="27414" y="64562"/>
                </a:lnTo>
                <a:close/>
                <a:moveTo>
                  <a:pt x="86082" y="314325"/>
                </a:moveTo>
                <a:lnTo>
                  <a:pt x="371832" y="314325"/>
                </a:lnTo>
                <a:lnTo>
                  <a:pt x="371832" y="255032"/>
                </a:lnTo>
                <a:cubicBezTo>
                  <a:pt x="378619" y="256461"/>
                  <a:pt x="385673" y="257175"/>
                  <a:pt x="392817" y="257175"/>
                </a:cubicBezTo>
                <a:cubicBezTo>
                  <a:pt x="405586" y="257175"/>
                  <a:pt x="417820" y="254853"/>
                  <a:pt x="428982" y="250746"/>
                </a:cubicBezTo>
                <a:lnTo>
                  <a:pt x="428982" y="385763"/>
                </a:lnTo>
                <a:cubicBezTo>
                  <a:pt x="428982" y="409426"/>
                  <a:pt x="409783" y="428625"/>
                  <a:pt x="386120" y="428625"/>
                </a:cubicBezTo>
                <a:lnTo>
                  <a:pt x="71795" y="428625"/>
                </a:lnTo>
                <a:cubicBezTo>
                  <a:pt x="48131" y="428625"/>
                  <a:pt x="28932" y="409426"/>
                  <a:pt x="28932" y="385763"/>
                </a:cubicBezTo>
                <a:lnTo>
                  <a:pt x="28932" y="250746"/>
                </a:lnTo>
                <a:cubicBezTo>
                  <a:pt x="40094" y="254853"/>
                  <a:pt x="52239" y="257175"/>
                  <a:pt x="65097" y="257175"/>
                </a:cubicBezTo>
                <a:cubicBezTo>
                  <a:pt x="72330" y="257175"/>
                  <a:pt x="79296" y="256461"/>
                  <a:pt x="86082" y="255032"/>
                </a:cubicBezTo>
                <a:lnTo>
                  <a:pt x="86082" y="314325"/>
                </a:lnTo>
                <a:close/>
              </a:path>
            </a:pathLst>
          </a:custGeom>
          <a:solidFill>
            <a:srgbClr val="8C8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9"/>
          <p:cNvSpPr/>
          <p:nvPr/>
        </p:nvSpPr>
        <p:spPr>
          <a:xfrm>
            <a:off x="1473200" y="4445000"/>
            <a:ext cx="24511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FUT Electronics</a:t>
            </a:r>
            <a:endParaRPr b="0" i="0" sz="1600" u="none" cap="none" strike="noStrike"/>
          </a:p>
        </p:txBody>
      </p:sp>
      <p:sp>
        <p:nvSpPr>
          <p:cNvPr id="439" name="Google Shape;439;p29"/>
          <p:cNvSpPr/>
          <p:nvPr/>
        </p:nvSpPr>
        <p:spPr>
          <a:xfrm>
            <a:off x="1473200" y="4800600"/>
            <a:ext cx="24511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Audio Components</a:t>
            </a:r>
            <a:endParaRPr b="0" i="0" sz="1600" u="none" cap="none" strike="noStrike"/>
          </a:p>
        </p:txBody>
      </p:sp>
      <p:sp>
        <p:nvSpPr>
          <p:cNvPr id="440" name="Google Shape;440;p29"/>
          <p:cNvSpPr/>
          <p:nvPr/>
        </p:nvSpPr>
        <p:spPr>
          <a:xfrm>
            <a:off x="6248400" y="4241800"/>
            <a:ext cx="5689600" cy="1016000"/>
          </a:xfrm>
          <a:custGeom>
            <a:rect b="b" l="l" r="r" t="t"/>
            <a:pathLst>
              <a:path extrusionOk="0" h="1016000" w="5689600">
                <a:moveTo>
                  <a:pt x="101600" y="0"/>
                </a:moveTo>
                <a:lnTo>
                  <a:pt x="5588000" y="0"/>
                </a:lnTo>
                <a:cubicBezTo>
                  <a:pt x="5644075" y="0"/>
                  <a:pt x="5689600" y="45525"/>
                  <a:pt x="5689600" y="101600"/>
                </a:cubicBezTo>
                <a:lnTo>
                  <a:pt x="5689600" y="914400"/>
                </a:lnTo>
                <a:cubicBezTo>
                  <a:pt x="5689600" y="970475"/>
                  <a:pt x="5644075" y="1016000"/>
                  <a:pt x="55880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262626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9"/>
          <p:cNvSpPr/>
          <p:nvPr/>
        </p:nvSpPr>
        <p:spPr>
          <a:xfrm>
            <a:off x="6629400" y="45212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7414" y="64562"/>
                </a:moveTo>
                <a:cubicBezTo>
                  <a:pt x="33576" y="43220"/>
                  <a:pt x="53132" y="28575"/>
                  <a:pt x="75367" y="28575"/>
                </a:cubicBezTo>
                <a:lnTo>
                  <a:pt x="382548" y="28575"/>
                </a:lnTo>
                <a:cubicBezTo>
                  <a:pt x="404783" y="28575"/>
                  <a:pt x="424339" y="43220"/>
                  <a:pt x="430590" y="64562"/>
                </a:cubicBezTo>
                <a:lnTo>
                  <a:pt x="451485" y="136178"/>
                </a:lnTo>
                <a:cubicBezTo>
                  <a:pt x="462915" y="175200"/>
                  <a:pt x="433536" y="214313"/>
                  <a:pt x="392906" y="214313"/>
                </a:cubicBezTo>
                <a:cubicBezTo>
                  <a:pt x="369421" y="214313"/>
                  <a:pt x="348794" y="201007"/>
                  <a:pt x="338614" y="181183"/>
                </a:cubicBezTo>
                <a:cubicBezTo>
                  <a:pt x="328255" y="200739"/>
                  <a:pt x="307717" y="214313"/>
                  <a:pt x="283785" y="214313"/>
                </a:cubicBezTo>
                <a:cubicBezTo>
                  <a:pt x="260033" y="214313"/>
                  <a:pt x="239405" y="200918"/>
                  <a:pt x="229046" y="181273"/>
                </a:cubicBezTo>
                <a:cubicBezTo>
                  <a:pt x="218688" y="200918"/>
                  <a:pt x="198060" y="214313"/>
                  <a:pt x="174308" y="214313"/>
                </a:cubicBezTo>
                <a:cubicBezTo>
                  <a:pt x="150376" y="214313"/>
                  <a:pt x="129838" y="200829"/>
                  <a:pt x="119479" y="181183"/>
                </a:cubicBezTo>
                <a:cubicBezTo>
                  <a:pt x="109299" y="200918"/>
                  <a:pt x="88672" y="214313"/>
                  <a:pt x="65187" y="214313"/>
                </a:cubicBezTo>
                <a:cubicBezTo>
                  <a:pt x="24467" y="214313"/>
                  <a:pt x="-4822" y="175290"/>
                  <a:pt x="6608" y="136178"/>
                </a:cubicBezTo>
                <a:lnTo>
                  <a:pt x="27414" y="64562"/>
                </a:lnTo>
                <a:close/>
                <a:moveTo>
                  <a:pt x="86082" y="314325"/>
                </a:moveTo>
                <a:lnTo>
                  <a:pt x="371832" y="314325"/>
                </a:lnTo>
                <a:lnTo>
                  <a:pt x="371832" y="255032"/>
                </a:lnTo>
                <a:cubicBezTo>
                  <a:pt x="378619" y="256461"/>
                  <a:pt x="385673" y="257175"/>
                  <a:pt x="392817" y="257175"/>
                </a:cubicBezTo>
                <a:cubicBezTo>
                  <a:pt x="405586" y="257175"/>
                  <a:pt x="417820" y="254853"/>
                  <a:pt x="428982" y="250746"/>
                </a:cubicBezTo>
                <a:lnTo>
                  <a:pt x="428982" y="385763"/>
                </a:lnTo>
                <a:cubicBezTo>
                  <a:pt x="428982" y="409426"/>
                  <a:pt x="409783" y="428625"/>
                  <a:pt x="386120" y="428625"/>
                </a:cubicBezTo>
                <a:lnTo>
                  <a:pt x="71795" y="428625"/>
                </a:lnTo>
                <a:cubicBezTo>
                  <a:pt x="48131" y="428625"/>
                  <a:pt x="28932" y="409426"/>
                  <a:pt x="28932" y="385763"/>
                </a:cubicBezTo>
                <a:lnTo>
                  <a:pt x="28932" y="250746"/>
                </a:lnTo>
                <a:cubicBezTo>
                  <a:pt x="40094" y="254853"/>
                  <a:pt x="52239" y="257175"/>
                  <a:pt x="65097" y="257175"/>
                </a:cubicBezTo>
                <a:cubicBezTo>
                  <a:pt x="72330" y="257175"/>
                  <a:pt x="79296" y="256461"/>
                  <a:pt x="86082" y="255032"/>
                </a:cubicBezTo>
                <a:lnTo>
                  <a:pt x="86082" y="314325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9"/>
          <p:cNvSpPr/>
          <p:nvPr/>
        </p:nvSpPr>
        <p:spPr>
          <a:xfrm>
            <a:off x="7467600" y="4445000"/>
            <a:ext cx="21844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Micro Ohm</a:t>
            </a:r>
            <a:endParaRPr b="0" i="0" sz="1600" u="none" cap="none" strike="noStrike"/>
          </a:p>
        </p:txBody>
      </p:sp>
      <p:sp>
        <p:nvSpPr>
          <p:cNvPr id="443" name="Google Shape;443;p29"/>
          <p:cNvSpPr/>
          <p:nvPr/>
        </p:nvSpPr>
        <p:spPr>
          <a:xfrm>
            <a:off x="7467600" y="4800600"/>
            <a:ext cx="21844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Miscellaneous Parts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>
            <a:gsLst>
              <a:gs pos="0">
                <a:srgbClr val="F6F8FD"/>
              </a:gs>
              <a:gs pos="100000">
                <a:srgbClr val="BEBEBE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pic>
        <p:nvPicPr>
          <p:cNvPr descr="https://kimi-img.moonshot.cn/pub/slides/slides_tmpl/image/25-08-27-19:57:52-d2nf5g18bjvh7rlivt90.png" id="451" name="Google Shape;451;p30"/>
          <p:cNvPicPr preferRelativeResize="0"/>
          <p:nvPr/>
        </p:nvPicPr>
        <p:blipFill rotWithShape="1">
          <a:blip r:embed="rId3">
            <a:alphaModFix/>
          </a:blip>
          <a:srcRect b="0" l="20534" r="0" t="0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30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30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454" name="Google Shape;454;p30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Cases &amp; Impact</a:t>
            </a:r>
            <a:endParaRPr b="0" i="0" sz="1600" u="none" cap="none" strike="noStrike"/>
          </a:p>
        </p:txBody>
      </p:sp>
      <p:sp>
        <p:nvSpPr>
          <p:cNvPr id="455" name="Google Shape;455;p30"/>
          <p:cNvSpPr/>
          <p:nvPr/>
        </p:nvSpPr>
        <p:spPr>
          <a:xfrm>
            <a:off x="7765415" y="1823085"/>
            <a:ext cx="1781810" cy="133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1600" u="none" cap="none" strike="noStrike"/>
          </a:p>
        </p:txBody>
      </p:sp>
      <p:pic>
        <p:nvPicPr>
          <p:cNvPr id="456" name="Google Shape;456;p30"/>
          <p:cNvPicPr preferRelativeResize="0"/>
          <p:nvPr/>
        </p:nvPicPr>
        <p:blipFill rotWithShape="1">
          <a:blip r:embed="rId4">
            <a:alphaModFix/>
          </a:blip>
          <a:srcRect b="777" l="0" r="0" t="787"/>
          <a:stretch/>
        </p:blipFill>
        <p:spPr>
          <a:xfrm>
            <a:off x="1328420" y="2077085"/>
            <a:ext cx="2712719" cy="26701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kimi-img.moonshot.cn/pub/slides/slides_tmpl/image/25-08-27-19:57:52-d2nf5g18bjvh7rlivt9g.png" id="457" name="Google Shape;457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46590" y="2077085"/>
            <a:ext cx="920750" cy="335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1"/>
          <p:cNvSpPr/>
          <p:nvPr/>
        </p:nvSpPr>
        <p:spPr>
          <a:xfrm>
            <a:off x="254000" y="254000"/>
            <a:ext cx="715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Use Case: Education &amp; Research</a:t>
            </a:r>
            <a:endParaRPr b="0" i="0" sz="1600" u="none" cap="none" strike="noStrike"/>
          </a:p>
        </p:txBody>
      </p:sp>
      <p:sp>
        <p:nvSpPr>
          <p:cNvPr id="464" name="Google Shape;464;p31"/>
          <p:cNvSpPr/>
          <p:nvPr/>
        </p:nvSpPr>
        <p:spPr>
          <a:xfrm>
            <a:off x="254000" y="914400"/>
            <a:ext cx="6642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 low-cost, open-source platform perfect for Egyptian universities and tech schools. It provides a hands-on tool for teaching robotics, AI, and embedded systems, fostering a new generation of engineers.</a:t>
            </a:r>
            <a:endParaRPr b="0" i="0" sz="1600" u="none" cap="none" strike="noStrike"/>
          </a:p>
        </p:txBody>
      </p:sp>
      <p:sp>
        <p:nvSpPr>
          <p:cNvPr id="465" name="Google Shape;465;p31"/>
          <p:cNvSpPr/>
          <p:nvPr/>
        </p:nvSpPr>
        <p:spPr>
          <a:xfrm>
            <a:off x="292100" y="2387600"/>
            <a:ext cx="228600" cy="203200"/>
          </a:xfrm>
          <a:custGeom>
            <a:rect b="b" l="l" r="r" t="t"/>
            <a:pathLst>
              <a:path extrusionOk="0" h="203200" w="228600">
                <a:moveTo>
                  <a:pt x="19050" y="77708"/>
                </a:moveTo>
                <a:lnTo>
                  <a:pt x="102076" y="111879"/>
                </a:lnTo>
                <a:cubicBezTo>
                  <a:pt x="105966" y="113467"/>
                  <a:pt x="110093" y="114300"/>
                  <a:pt x="114300" y="114300"/>
                </a:cubicBezTo>
                <a:cubicBezTo>
                  <a:pt x="118507" y="114300"/>
                  <a:pt x="122634" y="113467"/>
                  <a:pt x="126524" y="111879"/>
                </a:cubicBezTo>
                <a:lnTo>
                  <a:pt x="222726" y="72271"/>
                </a:lnTo>
                <a:cubicBezTo>
                  <a:pt x="226298" y="70802"/>
                  <a:pt x="228600" y="67350"/>
                  <a:pt x="228600" y="63500"/>
                </a:cubicBezTo>
                <a:cubicBezTo>
                  <a:pt x="228600" y="59650"/>
                  <a:pt x="226298" y="56197"/>
                  <a:pt x="222726" y="54729"/>
                </a:cubicBezTo>
                <a:lnTo>
                  <a:pt x="126524" y="15121"/>
                </a:lnTo>
                <a:cubicBezTo>
                  <a:pt x="122634" y="13533"/>
                  <a:pt x="118507" y="12700"/>
                  <a:pt x="114300" y="12700"/>
                </a:cubicBezTo>
                <a:cubicBezTo>
                  <a:pt x="110093" y="12700"/>
                  <a:pt x="105966" y="13533"/>
                  <a:pt x="102076" y="15121"/>
                </a:cubicBezTo>
                <a:lnTo>
                  <a:pt x="5874" y="54729"/>
                </a:lnTo>
                <a:cubicBezTo>
                  <a:pt x="2302" y="56198"/>
                  <a:pt x="0" y="59650"/>
                  <a:pt x="0" y="63500"/>
                </a:cubicBezTo>
                <a:lnTo>
                  <a:pt x="0" y="180975"/>
                </a:lnTo>
                <a:cubicBezTo>
                  <a:pt x="0" y="186253"/>
                  <a:pt x="4247" y="190500"/>
                  <a:pt x="9525" y="190500"/>
                </a:cubicBezTo>
                <a:cubicBezTo>
                  <a:pt x="14803" y="190500"/>
                  <a:pt x="19050" y="186253"/>
                  <a:pt x="19050" y="180975"/>
                </a:cubicBezTo>
                <a:lnTo>
                  <a:pt x="19050" y="77708"/>
                </a:lnTo>
                <a:close/>
                <a:moveTo>
                  <a:pt x="38100" y="106164"/>
                </a:moveTo>
                <a:lnTo>
                  <a:pt x="38100" y="152400"/>
                </a:lnTo>
                <a:cubicBezTo>
                  <a:pt x="38100" y="173434"/>
                  <a:pt x="72231" y="190500"/>
                  <a:pt x="114300" y="190500"/>
                </a:cubicBezTo>
                <a:cubicBezTo>
                  <a:pt x="156369" y="190500"/>
                  <a:pt x="190500" y="173434"/>
                  <a:pt x="190500" y="152400"/>
                </a:cubicBezTo>
                <a:lnTo>
                  <a:pt x="190500" y="106124"/>
                </a:lnTo>
                <a:lnTo>
                  <a:pt x="133787" y="129500"/>
                </a:lnTo>
                <a:cubicBezTo>
                  <a:pt x="127595" y="132040"/>
                  <a:pt x="121007" y="133350"/>
                  <a:pt x="114300" y="133350"/>
                </a:cubicBezTo>
                <a:cubicBezTo>
                  <a:pt x="107593" y="133350"/>
                  <a:pt x="101005" y="132040"/>
                  <a:pt x="94813" y="129500"/>
                </a:cubicBezTo>
                <a:lnTo>
                  <a:pt x="38100" y="106124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31"/>
          <p:cNvSpPr/>
          <p:nvPr/>
        </p:nvSpPr>
        <p:spPr>
          <a:xfrm>
            <a:off x="660400" y="2336800"/>
            <a:ext cx="2984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Robotics &amp; AI Curriculum</a:t>
            </a:r>
            <a:endParaRPr b="0" i="0" sz="1600" u="none" cap="none" strike="noStrike"/>
          </a:p>
        </p:txBody>
      </p:sp>
      <p:sp>
        <p:nvSpPr>
          <p:cNvPr id="467" name="Google Shape;467;p31"/>
          <p:cNvSpPr/>
          <p:nvPr/>
        </p:nvSpPr>
        <p:spPr>
          <a:xfrm>
            <a:off x="317500" y="2794000"/>
            <a:ext cx="177800" cy="203200"/>
          </a:xfrm>
          <a:custGeom>
            <a:rect b="b" l="l" r="r" t="t"/>
            <a:pathLst>
              <a:path extrusionOk="0" h="203200" w="177800">
                <a:moveTo>
                  <a:pt x="114300" y="0"/>
                </a:moveTo>
                <a:lnTo>
                  <a:pt x="50800" y="0"/>
                </a:lnTo>
                <a:cubicBezTo>
                  <a:pt x="43775" y="0"/>
                  <a:pt x="38100" y="5675"/>
                  <a:pt x="38100" y="12700"/>
                </a:cubicBezTo>
                <a:cubicBezTo>
                  <a:pt x="38100" y="19725"/>
                  <a:pt x="43775" y="25400"/>
                  <a:pt x="50800" y="25400"/>
                </a:cubicBezTo>
                <a:lnTo>
                  <a:pt x="50800" y="85527"/>
                </a:lnTo>
                <a:lnTo>
                  <a:pt x="2977" y="169188"/>
                </a:lnTo>
                <a:cubicBezTo>
                  <a:pt x="1032" y="172641"/>
                  <a:pt x="0" y="176490"/>
                  <a:pt x="0" y="180459"/>
                </a:cubicBezTo>
                <a:cubicBezTo>
                  <a:pt x="0" y="193040"/>
                  <a:pt x="10160" y="203200"/>
                  <a:pt x="22741" y="203200"/>
                </a:cubicBezTo>
                <a:lnTo>
                  <a:pt x="155059" y="203200"/>
                </a:lnTo>
                <a:cubicBezTo>
                  <a:pt x="167600" y="203200"/>
                  <a:pt x="177800" y="193040"/>
                  <a:pt x="177800" y="180459"/>
                </a:cubicBezTo>
                <a:cubicBezTo>
                  <a:pt x="177800" y="176490"/>
                  <a:pt x="176768" y="172601"/>
                  <a:pt x="174823" y="169188"/>
                </a:cubicBezTo>
                <a:lnTo>
                  <a:pt x="127000" y="85527"/>
                </a:lnTo>
                <a:lnTo>
                  <a:pt x="127000" y="25400"/>
                </a:lnTo>
                <a:cubicBezTo>
                  <a:pt x="134025" y="25400"/>
                  <a:pt x="139700" y="19725"/>
                  <a:pt x="139700" y="12700"/>
                </a:cubicBezTo>
                <a:cubicBezTo>
                  <a:pt x="139700" y="5675"/>
                  <a:pt x="134025" y="0"/>
                  <a:pt x="127000" y="0"/>
                </a:cubicBezTo>
                <a:lnTo>
                  <a:pt x="114300" y="0"/>
                </a:lnTo>
                <a:close/>
                <a:moveTo>
                  <a:pt x="76200" y="85527"/>
                </a:moveTo>
                <a:lnTo>
                  <a:pt x="76200" y="25400"/>
                </a:lnTo>
                <a:lnTo>
                  <a:pt x="101600" y="25400"/>
                </a:lnTo>
                <a:lnTo>
                  <a:pt x="101600" y="85527"/>
                </a:lnTo>
                <a:cubicBezTo>
                  <a:pt x="101600" y="89932"/>
                  <a:pt x="102751" y="94298"/>
                  <a:pt x="104934" y="98147"/>
                </a:cubicBezTo>
                <a:lnTo>
                  <a:pt x="121444" y="127000"/>
                </a:lnTo>
                <a:lnTo>
                  <a:pt x="56356" y="127000"/>
                </a:lnTo>
                <a:lnTo>
                  <a:pt x="72866" y="98147"/>
                </a:lnTo>
                <a:cubicBezTo>
                  <a:pt x="75049" y="94298"/>
                  <a:pt x="76200" y="89972"/>
                  <a:pt x="76200" y="85527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31"/>
          <p:cNvSpPr/>
          <p:nvPr/>
        </p:nvSpPr>
        <p:spPr>
          <a:xfrm>
            <a:off x="660400" y="2743200"/>
            <a:ext cx="3035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Student Research Projects</a:t>
            </a:r>
            <a:endParaRPr b="0" i="0" sz="1600" u="none" cap="none" strike="noStrike"/>
          </a:p>
        </p:txBody>
      </p:sp>
      <p:sp>
        <p:nvSpPr>
          <p:cNvPr id="469" name="Google Shape;469;p31"/>
          <p:cNvSpPr/>
          <p:nvPr/>
        </p:nvSpPr>
        <p:spPr>
          <a:xfrm>
            <a:off x="279400" y="3200400"/>
            <a:ext cx="254000" cy="203200"/>
          </a:xfrm>
          <a:custGeom>
            <a:rect b="b" l="l" r="r" t="t"/>
            <a:pathLst>
              <a:path extrusionOk="0" h="203200" w="254000">
                <a:moveTo>
                  <a:pt x="127000" y="6350"/>
                </a:moveTo>
                <a:cubicBezTo>
                  <a:pt x="149780" y="6350"/>
                  <a:pt x="168275" y="24845"/>
                  <a:pt x="168275" y="47625"/>
                </a:cubicBezTo>
                <a:cubicBezTo>
                  <a:pt x="168275" y="70405"/>
                  <a:pt x="149780" y="88900"/>
                  <a:pt x="127000" y="88900"/>
                </a:cubicBezTo>
                <a:cubicBezTo>
                  <a:pt x="104220" y="88900"/>
                  <a:pt x="85725" y="70405"/>
                  <a:pt x="85725" y="47625"/>
                </a:cubicBezTo>
                <a:cubicBezTo>
                  <a:pt x="85725" y="24845"/>
                  <a:pt x="104220" y="6350"/>
                  <a:pt x="127000" y="6350"/>
                </a:cubicBezTo>
                <a:close/>
                <a:moveTo>
                  <a:pt x="38100" y="34925"/>
                </a:moveTo>
                <a:cubicBezTo>
                  <a:pt x="53871" y="34925"/>
                  <a:pt x="66675" y="47729"/>
                  <a:pt x="66675" y="63500"/>
                </a:cubicBezTo>
                <a:cubicBezTo>
                  <a:pt x="66675" y="79271"/>
                  <a:pt x="53871" y="92075"/>
                  <a:pt x="38100" y="92075"/>
                </a:cubicBezTo>
                <a:cubicBezTo>
                  <a:pt x="22329" y="92075"/>
                  <a:pt x="9525" y="79271"/>
                  <a:pt x="9525" y="63500"/>
                </a:cubicBezTo>
                <a:cubicBezTo>
                  <a:pt x="9525" y="47729"/>
                  <a:pt x="22329" y="34925"/>
                  <a:pt x="38100" y="34925"/>
                </a:cubicBezTo>
                <a:close/>
                <a:moveTo>
                  <a:pt x="0" y="165100"/>
                </a:moveTo>
                <a:cubicBezTo>
                  <a:pt x="0" y="137041"/>
                  <a:pt x="22741" y="114300"/>
                  <a:pt x="50800" y="114300"/>
                </a:cubicBezTo>
                <a:cubicBezTo>
                  <a:pt x="55880" y="114300"/>
                  <a:pt x="60801" y="115054"/>
                  <a:pt x="65445" y="116443"/>
                </a:cubicBezTo>
                <a:cubicBezTo>
                  <a:pt x="52388" y="131048"/>
                  <a:pt x="44450" y="150336"/>
                  <a:pt x="44450" y="171450"/>
                </a:cubicBezTo>
                <a:lnTo>
                  <a:pt x="44450" y="177800"/>
                </a:lnTo>
                <a:cubicBezTo>
                  <a:pt x="44450" y="182324"/>
                  <a:pt x="45403" y="186611"/>
                  <a:pt x="47109" y="190500"/>
                </a:cubicBezTo>
                <a:lnTo>
                  <a:pt x="12700" y="190500"/>
                </a:lnTo>
                <a:cubicBezTo>
                  <a:pt x="5675" y="190500"/>
                  <a:pt x="0" y="184825"/>
                  <a:pt x="0" y="177800"/>
                </a:cubicBezTo>
                <a:lnTo>
                  <a:pt x="0" y="165100"/>
                </a:lnTo>
                <a:close/>
                <a:moveTo>
                  <a:pt x="206891" y="190500"/>
                </a:moveTo>
                <a:cubicBezTo>
                  <a:pt x="208597" y="186611"/>
                  <a:pt x="209550" y="182324"/>
                  <a:pt x="209550" y="177800"/>
                </a:cubicBezTo>
                <a:lnTo>
                  <a:pt x="209550" y="171450"/>
                </a:lnTo>
                <a:cubicBezTo>
                  <a:pt x="209550" y="150336"/>
                  <a:pt x="201613" y="131048"/>
                  <a:pt x="188555" y="116443"/>
                </a:cubicBezTo>
                <a:cubicBezTo>
                  <a:pt x="193199" y="115054"/>
                  <a:pt x="198120" y="114300"/>
                  <a:pt x="203200" y="114300"/>
                </a:cubicBezTo>
                <a:cubicBezTo>
                  <a:pt x="231259" y="114300"/>
                  <a:pt x="254000" y="137041"/>
                  <a:pt x="254000" y="165100"/>
                </a:cubicBezTo>
                <a:lnTo>
                  <a:pt x="254000" y="177800"/>
                </a:lnTo>
                <a:cubicBezTo>
                  <a:pt x="254000" y="184825"/>
                  <a:pt x="248325" y="190500"/>
                  <a:pt x="241300" y="190500"/>
                </a:cubicBezTo>
                <a:lnTo>
                  <a:pt x="206891" y="190500"/>
                </a:lnTo>
                <a:close/>
                <a:moveTo>
                  <a:pt x="187325" y="63500"/>
                </a:moveTo>
                <a:cubicBezTo>
                  <a:pt x="187325" y="47729"/>
                  <a:pt x="200129" y="34925"/>
                  <a:pt x="215900" y="34925"/>
                </a:cubicBezTo>
                <a:cubicBezTo>
                  <a:pt x="231671" y="34925"/>
                  <a:pt x="244475" y="47729"/>
                  <a:pt x="244475" y="63500"/>
                </a:cubicBezTo>
                <a:cubicBezTo>
                  <a:pt x="244475" y="79271"/>
                  <a:pt x="231671" y="92075"/>
                  <a:pt x="215900" y="92075"/>
                </a:cubicBezTo>
                <a:cubicBezTo>
                  <a:pt x="200129" y="92075"/>
                  <a:pt x="187325" y="79271"/>
                  <a:pt x="187325" y="63500"/>
                </a:cubicBezTo>
                <a:close/>
                <a:moveTo>
                  <a:pt x="63500" y="171450"/>
                </a:moveTo>
                <a:cubicBezTo>
                  <a:pt x="63500" y="136366"/>
                  <a:pt x="91916" y="107950"/>
                  <a:pt x="127000" y="107950"/>
                </a:cubicBezTo>
                <a:cubicBezTo>
                  <a:pt x="162084" y="107950"/>
                  <a:pt x="190500" y="136366"/>
                  <a:pt x="190500" y="171450"/>
                </a:cubicBezTo>
                <a:lnTo>
                  <a:pt x="190500" y="177800"/>
                </a:lnTo>
                <a:cubicBezTo>
                  <a:pt x="190500" y="184825"/>
                  <a:pt x="184825" y="190500"/>
                  <a:pt x="177800" y="190500"/>
                </a:cubicBezTo>
                <a:lnTo>
                  <a:pt x="76200" y="190500"/>
                </a:lnTo>
                <a:cubicBezTo>
                  <a:pt x="69175" y="190500"/>
                  <a:pt x="63500" y="184825"/>
                  <a:pt x="63500" y="177800"/>
                </a:cubicBezTo>
                <a:lnTo>
                  <a:pt x="63500" y="17145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31"/>
          <p:cNvSpPr/>
          <p:nvPr/>
        </p:nvSpPr>
        <p:spPr>
          <a:xfrm>
            <a:off x="660400" y="3149600"/>
            <a:ext cx="3035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Engineering Competitions</a:t>
            </a:r>
            <a:endParaRPr b="0" i="0" sz="1600" u="none" cap="none" strike="noStrike"/>
          </a:p>
        </p:txBody>
      </p:sp>
      <p:pic>
        <p:nvPicPr>
          <p:cNvPr descr="Bookshelves in library (provided by Getty Images)" id="471" name="Google Shape;471;p31"/>
          <p:cNvPicPr preferRelativeResize="0"/>
          <p:nvPr/>
        </p:nvPicPr>
        <p:blipFill rotWithShape="1">
          <a:blip r:embed="rId3">
            <a:alphaModFix/>
          </a:blip>
          <a:srcRect b="4454" l="0" r="0" t="4445"/>
          <a:stretch/>
        </p:blipFill>
        <p:spPr>
          <a:xfrm>
            <a:off x="7306628" y="254000"/>
            <a:ext cx="4635600" cy="6350100"/>
          </a:xfrm>
          <a:prstGeom prst="roundRect">
            <a:avLst>
              <a:gd fmla="val 2192" name="adj"/>
            </a:avLst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2"/>
          <p:cNvSpPr/>
          <p:nvPr/>
        </p:nvSpPr>
        <p:spPr>
          <a:xfrm>
            <a:off x="0" y="1793242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Use Case: Smart Assistance</a:t>
            </a:r>
            <a:endParaRPr b="0" i="0" sz="1600" u="none" cap="none" strike="noStrike"/>
          </a:p>
        </p:txBody>
      </p:sp>
      <p:sp>
        <p:nvSpPr>
          <p:cNvPr id="478" name="Google Shape;478;p32"/>
          <p:cNvSpPr/>
          <p:nvPr/>
        </p:nvSpPr>
        <p:spPr>
          <a:xfrm>
            <a:off x="0" y="2352042"/>
            <a:ext cx="12192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An intelligent companion for everyday life.</a:t>
            </a:r>
            <a:endParaRPr b="0" i="0" sz="1600" u="none" cap="none" strike="noStrike"/>
          </a:p>
        </p:txBody>
      </p:sp>
      <p:sp>
        <p:nvSpPr>
          <p:cNvPr id="479" name="Google Shape;479;p32"/>
          <p:cNvSpPr/>
          <p:nvPr/>
        </p:nvSpPr>
        <p:spPr>
          <a:xfrm>
            <a:off x="254000" y="3114042"/>
            <a:ext cx="3695700" cy="1955800"/>
          </a:xfrm>
          <a:custGeom>
            <a:rect b="b" l="l" r="r" t="t"/>
            <a:pathLst>
              <a:path extrusionOk="0" h="1955800" w="3695700">
                <a:moveTo>
                  <a:pt x="101604" y="0"/>
                </a:moveTo>
                <a:lnTo>
                  <a:pt x="3594096" y="0"/>
                </a:lnTo>
                <a:cubicBezTo>
                  <a:pt x="3650210" y="0"/>
                  <a:pt x="3695700" y="45490"/>
                  <a:pt x="3695700" y="101604"/>
                </a:cubicBezTo>
                <a:lnTo>
                  <a:pt x="3695700" y="1854196"/>
                </a:lnTo>
                <a:cubicBezTo>
                  <a:pt x="3695700" y="1910310"/>
                  <a:pt x="3650210" y="1955800"/>
                  <a:pt x="3594096" y="1955800"/>
                </a:cubicBezTo>
                <a:lnTo>
                  <a:pt x="101604" y="1955800"/>
                </a:lnTo>
                <a:cubicBezTo>
                  <a:pt x="45490" y="1955800"/>
                  <a:pt x="0" y="1910310"/>
                  <a:pt x="0" y="1854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262626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2"/>
          <p:cNvSpPr/>
          <p:nvPr/>
        </p:nvSpPr>
        <p:spPr>
          <a:xfrm>
            <a:off x="1871027" y="3317242"/>
            <a:ext cx="457200" cy="457200"/>
          </a:xfrm>
          <a:custGeom>
            <a:rect b="b" l="l" r="r" t="t"/>
            <a:pathLst>
              <a:path extrusionOk="0" h="457200" w="457200">
                <a:moveTo>
                  <a:pt x="248067" y="7680"/>
                </a:moveTo>
                <a:cubicBezTo>
                  <a:pt x="237083" y="-2500"/>
                  <a:pt x="220117" y="-2500"/>
                  <a:pt x="209223" y="7680"/>
                </a:cubicBezTo>
                <a:lnTo>
                  <a:pt x="9198" y="193417"/>
                </a:lnTo>
                <a:cubicBezTo>
                  <a:pt x="625" y="201454"/>
                  <a:pt x="-2232" y="213866"/>
                  <a:pt x="2054" y="224760"/>
                </a:cubicBezTo>
                <a:cubicBezTo>
                  <a:pt x="6340" y="235654"/>
                  <a:pt x="16788" y="242888"/>
                  <a:pt x="28575" y="242888"/>
                </a:cubicBezTo>
                <a:lnTo>
                  <a:pt x="42863" y="242888"/>
                </a:lnTo>
                <a:lnTo>
                  <a:pt x="42863" y="400050"/>
                </a:lnTo>
                <a:cubicBezTo>
                  <a:pt x="42863" y="431572"/>
                  <a:pt x="68491" y="457200"/>
                  <a:pt x="100013" y="457200"/>
                </a:cubicBezTo>
                <a:lnTo>
                  <a:pt x="357188" y="457200"/>
                </a:lnTo>
                <a:cubicBezTo>
                  <a:pt x="388709" y="457200"/>
                  <a:pt x="414338" y="431572"/>
                  <a:pt x="414338" y="400050"/>
                </a:cubicBezTo>
                <a:lnTo>
                  <a:pt x="414338" y="242888"/>
                </a:lnTo>
                <a:lnTo>
                  <a:pt x="428625" y="242888"/>
                </a:lnTo>
                <a:cubicBezTo>
                  <a:pt x="440412" y="242888"/>
                  <a:pt x="450949" y="235654"/>
                  <a:pt x="455235" y="224760"/>
                </a:cubicBezTo>
                <a:cubicBezTo>
                  <a:pt x="459522" y="213866"/>
                  <a:pt x="456664" y="201364"/>
                  <a:pt x="448092" y="193417"/>
                </a:cubicBezTo>
                <a:lnTo>
                  <a:pt x="248067" y="7680"/>
                </a:lnTo>
                <a:close/>
                <a:moveTo>
                  <a:pt x="214313" y="285750"/>
                </a:moveTo>
                <a:lnTo>
                  <a:pt x="242888" y="285750"/>
                </a:lnTo>
                <a:cubicBezTo>
                  <a:pt x="266551" y="285750"/>
                  <a:pt x="285750" y="304949"/>
                  <a:pt x="285750" y="328613"/>
                </a:cubicBezTo>
                <a:lnTo>
                  <a:pt x="285750" y="414338"/>
                </a:lnTo>
                <a:lnTo>
                  <a:pt x="171450" y="414338"/>
                </a:lnTo>
                <a:lnTo>
                  <a:pt x="171450" y="328613"/>
                </a:lnTo>
                <a:cubicBezTo>
                  <a:pt x="171450" y="304949"/>
                  <a:pt x="190649" y="285750"/>
                  <a:pt x="214313" y="285750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32"/>
          <p:cNvSpPr/>
          <p:nvPr/>
        </p:nvSpPr>
        <p:spPr>
          <a:xfrm>
            <a:off x="203200" y="3926842"/>
            <a:ext cx="37973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Home Helper</a:t>
            </a:r>
            <a:endParaRPr b="0" i="0" sz="1600" u="none" cap="none" strike="noStrike"/>
          </a:p>
        </p:txBody>
      </p:sp>
      <p:sp>
        <p:nvSpPr>
          <p:cNvPr id="482" name="Google Shape;482;p32"/>
          <p:cNvSpPr/>
          <p:nvPr/>
        </p:nvSpPr>
        <p:spPr>
          <a:xfrm>
            <a:off x="457200" y="4333242"/>
            <a:ext cx="32893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Voice-controlled tasks and monitoring.</a:t>
            </a:r>
            <a:endParaRPr b="0" i="0" sz="1600" u="none" cap="none" strike="noStrike"/>
          </a:p>
        </p:txBody>
      </p:sp>
      <p:sp>
        <p:nvSpPr>
          <p:cNvPr id="483" name="Google Shape;483;p32"/>
          <p:cNvSpPr/>
          <p:nvPr/>
        </p:nvSpPr>
        <p:spPr>
          <a:xfrm>
            <a:off x="4250214" y="3114042"/>
            <a:ext cx="3695700" cy="1955800"/>
          </a:xfrm>
          <a:custGeom>
            <a:rect b="b" l="l" r="r" t="t"/>
            <a:pathLst>
              <a:path extrusionOk="0" h="1955800" w="3695700">
                <a:moveTo>
                  <a:pt x="101604" y="0"/>
                </a:moveTo>
                <a:lnTo>
                  <a:pt x="3594096" y="0"/>
                </a:lnTo>
                <a:cubicBezTo>
                  <a:pt x="3650210" y="0"/>
                  <a:pt x="3695700" y="45490"/>
                  <a:pt x="3695700" y="101604"/>
                </a:cubicBezTo>
                <a:lnTo>
                  <a:pt x="3695700" y="1854196"/>
                </a:lnTo>
                <a:cubicBezTo>
                  <a:pt x="3695700" y="1910310"/>
                  <a:pt x="3650210" y="1955800"/>
                  <a:pt x="3594096" y="1955800"/>
                </a:cubicBezTo>
                <a:lnTo>
                  <a:pt x="101604" y="1955800"/>
                </a:lnTo>
                <a:cubicBezTo>
                  <a:pt x="45490" y="1955800"/>
                  <a:pt x="0" y="1910310"/>
                  <a:pt x="0" y="1854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8C8C8C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32"/>
          <p:cNvSpPr/>
          <p:nvPr/>
        </p:nvSpPr>
        <p:spPr>
          <a:xfrm>
            <a:off x="5838666" y="3317242"/>
            <a:ext cx="514350" cy="457200"/>
          </a:xfrm>
          <a:custGeom>
            <a:rect b="b" l="l" r="r" t="t"/>
            <a:pathLst>
              <a:path extrusionOk="0" h="457200" w="514350">
                <a:moveTo>
                  <a:pt x="57150" y="114300"/>
                </a:moveTo>
                <a:cubicBezTo>
                  <a:pt x="57150" y="59102"/>
                  <a:pt x="101964" y="14288"/>
                  <a:pt x="157162" y="14288"/>
                </a:cubicBezTo>
                <a:cubicBezTo>
                  <a:pt x="212361" y="14288"/>
                  <a:pt x="257175" y="59102"/>
                  <a:pt x="257175" y="114300"/>
                </a:cubicBezTo>
                <a:cubicBezTo>
                  <a:pt x="257175" y="169498"/>
                  <a:pt x="212361" y="214313"/>
                  <a:pt x="157163" y="214313"/>
                </a:cubicBezTo>
                <a:cubicBezTo>
                  <a:pt x="101964" y="214313"/>
                  <a:pt x="57150" y="169498"/>
                  <a:pt x="57150" y="114300"/>
                </a:cubicBezTo>
                <a:close/>
                <a:moveTo>
                  <a:pt x="0" y="414338"/>
                </a:moveTo>
                <a:cubicBezTo>
                  <a:pt x="0" y="327541"/>
                  <a:pt x="70366" y="257175"/>
                  <a:pt x="157163" y="257175"/>
                </a:cubicBezTo>
                <a:cubicBezTo>
                  <a:pt x="243959" y="257175"/>
                  <a:pt x="314325" y="327541"/>
                  <a:pt x="314325" y="414338"/>
                </a:cubicBezTo>
                <a:lnTo>
                  <a:pt x="314325" y="419695"/>
                </a:lnTo>
                <a:cubicBezTo>
                  <a:pt x="314325" y="440412"/>
                  <a:pt x="297537" y="457200"/>
                  <a:pt x="276820" y="457200"/>
                </a:cubicBezTo>
                <a:lnTo>
                  <a:pt x="37505" y="457200"/>
                </a:lnTo>
                <a:cubicBezTo>
                  <a:pt x="16788" y="457200"/>
                  <a:pt x="0" y="440412"/>
                  <a:pt x="0" y="419695"/>
                </a:cubicBezTo>
                <a:lnTo>
                  <a:pt x="0" y="414338"/>
                </a:lnTo>
                <a:close/>
                <a:moveTo>
                  <a:pt x="385763" y="57150"/>
                </a:moveTo>
                <a:cubicBezTo>
                  <a:pt x="433075" y="57150"/>
                  <a:pt x="471488" y="95562"/>
                  <a:pt x="471488" y="142875"/>
                </a:cubicBezTo>
                <a:cubicBezTo>
                  <a:pt x="471488" y="190188"/>
                  <a:pt x="433075" y="228600"/>
                  <a:pt x="385763" y="228600"/>
                </a:cubicBezTo>
                <a:cubicBezTo>
                  <a:pt x="338450" y="228600"/>
                  <a:pt x="300038" y="190188"/>
                  <a:pt x="300038" y="142875"/>
                </a:cubicBezTo>
                <a:cubicBezTo>
                  <a:pt x="300038" y="95562"/>
                  <a:pt x="338450" y="57150"/>
                  <a:pt x="385763" y="57150"/>
                </a:cubicBezTo>
                <a:close/>
                <a:moveTo>
                  <a:pt x="385763" y="271463"/>
                </a:moveTo>
                <a:cubicBezTo>
                  <a:pt x="456754" y="271463"/>
                  <a:pt x="514350" y="329059"/>
                  <a:pt x="514350" y="400050"/>
                </a:cubicBezTo>
                <a:lnTo>
                  <a:pt x="514350" y="420053"/>
                </a:lnTo>
                <a:cubicBezTo>
                  <a:pt x="514350" y="440591"/>
                  <a:pt x="497741" y="457200"/>
                  <a:pt x="477203" y="457200"/>
                </a:cubicBezTo>
                <a:lnTo>
                  <a:pt x="347901" y="457200"/>
                </a:lnTo>
                <a:cubicBezTo>
                  <a:pt x="353794" y="446038"/>
                  <a:pt x="357187" y="433268"/>
                  <a:pt x="357187" y="419695"/>
                </a:cubicBezTo>
                <a:lnTo>
                  <a:pt x="357187" y="414338"/>
                </a:lnTo>
                <a:cubicBezTo>
                  <a:pt x="357187" y="368350"/>
                  <a:pt x="341650" y="326023"/>
                  <a:pt x="315664" y="292269"/>
                </a:cubicBezTo>
                <a:cubicBezTo>
                  <a:pt x="335846" y="279142"/>
                  <a:pt x="359956" y="271463"/>
                  <a:pt x="385762" y="271463"/>
                </a:cubicBezTo>
                <a:close/>
              </a:path>
            </a:pathLst>
          </a:custGeom>
          <a:solidFill>
            <a:srgbClr val="8C8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32"/>
          <p:cNvSpPr/>
          <p:nvPr/>
        </p:nvSpPr>
        <p:spPr>
          <a:xfrm>
            <a:off x="4199414" y="3926842"/>
            <a:ext cx="37973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Elderly Companion</a:t>
            </a:r>
            <a:endParaRPr b="0" i="0" sz="1600" u="none" cap="none" strike="noStrike"/>
          </a:p>
        </p:txBody>
      </p:sp>
      <p:sp>
        <p:nvSpPr>
          <p:cNvPr id="486" name="Google Shape;486;p32"/>
          <p:cNvSpPr/>
          <p:nvPr/>
        </p:nvSpPr>
        <p:spPr>
          <a:xfrm>
            <a:off x="4199414" y="4333242"/>
            <a:ext cx="37973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Friendly interaction and safety alerts.</a:t>
            </a:r>
            <a:endParaRPr b="0" i="0" sz="1600" u="none" cap="none" strike="noStrike"/>
          </a:p>
        </p:txBody>
      </p:sp>
      <p:sp>
        <p:nvSpPr>
          <p:cNvPr id="487" name="Google Shape;487;p32"/>
          <p:cNvSpPr/>
          <p:nvPr/>
        </p:nvSpPr>
        <p:spPr>
          <a:xfrm>
            <a:off x="8246428" y="3114042"/>
            <a:ext cx="3670300" cy="1930400"/>
          </a:xfrm>
          <a:custGeom>
            <a:rect b="b" l="l" r="r" t="t"/>
            <a:pathLst>
              <a:path extrusionOk="0" h="1930400" w="3670300">
                <a:moveTo>
                  <a:pt x="101597" y="0"/>
                </a:moveTo>
                <a:lnTo>
                  <a:pt x="3568703" y="0"/>
                </a:lnTo>
                <a:cubicBezTo>
                  <a:pt x="3624813" y="0"/>
                  <a:pt x="3670300" y="45487"/>
                  <a:pt x="3670300" y="101597"/>
                </a:cubicBezTo>
                <a:lnTo>
                  <a:pt x="3670300" y="1828803"/>
                </a:lnTo>
                <a:cubicBezTo>
                  <a:pt x="3670300" y="1884913"/>
                  <a:pt x="3624813" y="1930400"/>
                  <a:pt x="3568703" y="1930400"/>
                </a:cubicBezTo>
                <a:lnTo>
                  <a:pt x="101597" y="1930400"/>
                </a:lnTo>
                <a:cubicBezTo>
                  <a:pt x="45487" y="1930400"/>
                  <a:pt x="0" y="1884913"/>
                  <a:pt x="0" y="18288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FFFFFF">
              <a:alpha val="9803"/>
            </a:srgbClr>
          </a:solidFill>
          <a:ln cap="flat" cmpd="sng" w="10150">
            <a:solidFill>
              <a:srgbClr val="FFFFFF">
                <a:alpha val="4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32"/>
          <p:cNvSpPr/>
          <p:nvPr/>
        </p:nvSpPr>
        <p:spPr>
          <a:xfrm>
            <a:off x="9863614" y="33274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32"/>
          <p:cNvSpPr/>
          <p:nvPr/>
        </p:nvSpPr>
        <p:spPr>
          <a:xfrm>
            <a:off x="8205788" y="3937000"/>
            <a:ext cx="3771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Security Patrol</a:t>
            </a:r>
            <a:endParaRPr b="0" i="0" sz="1600" u="none" cap="none" strike="noStrike"/>
          </a:p>
        </p:txBody>
      </p:sp>
      <p:sp>
        <p:nvSpPr>
          <p:cNvPr id="490" name="Google Shape;490;p32"/>
          <p:cNvSpPr/>
          <p:nvPr/>
        </p:nvSpPr>
        <p:spPr>
          <a:xfrm>
            <a:off x="8459788" y="4343400"/>
            <a:ext cx="32639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Autonomous patrols with person following.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3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>
            <a:gsLst>
              <a:gs pos="0">
                <a:srgbClr val="F6F8FD"/>
              </a:gs>
              <a:gs pos="100000">
                <a:srgbClr val="BEBEBE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33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pic>
        <p:nvPicPr>
          <p:cNvPr descr="https://kimi-img.moonshot.cn/pub/slides/slides_tmpl/image/25-08-27-19:57:52-d2nf5g18bjvh7rlivt90.png" id="498" name="Google Shape;498;p33"/>
          <p:cNvPicPr preferRelativeResize="0"/>
          <p:nvPr/>
        </p:nvPicPr>
        <p:blipFill rotWithShape="1">
          <a:blip r:embed="rId3">
            <a:alphaModFix/>
          </a:blip>
          <a:srcRect b="0" l="20534" r="0" t="0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3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501" name="Google Shape;501;p33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Next Steps</a:t>
            </a:r>
            <a:endParaRPr b="0" i="0" sz="1600" u="none" cap="none" strike="noStrike"/>
          </a:p>
        </p:txBody>
      </p:sp>
      <p:sp>
        <p:nvSpPr>
          <p:cNvPr id="502" name="Google Shape;502;p33"/>
          <p:cNvSpPr/>
          <p:nvPr/>
        </p:nvSpPr>
        <p:spPr>
          <a:xfrm>
            <a:off x="7765415" y="1823085"/>
            <a:ext cx="1781810" cy="133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1600" u="none" cap="none" strike="noStrike"/>
          </a:p>
        </p:txBody>
      </p:sp>
      <p:pic>
        <p:nvPicPr>
          <p:cNvPr id="503" name="Google Shape;503;p33"/>
          <p:cNvPicPr preferRelativeResize="0"/>
          <p:nvPr/>
        </p:nvPicPr>
        <p:blipFill rotWithShape="1">
          <a:blip r:embed="rId4">
            <a:alphaModFix/>
          </a:blip>
          <a:srcRect b="777" l="0" r="0" t="787"/>
          <a:stretch/>
        </p:blipFill>
        <p:spPr>
          <a:xfrm>
            <a:off x="1328420" y="2077085"/>
            <a:ext cx="2712719" cy="26701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kimi-img.moonshot.cn/pub/slides/slides_tmpl/image/25-08-27-19:57:52-d2nf5g18bjvh7rlivt9g.png" id="504" name="Google Shape;504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46590" y="2077085"/>
            <a:ext cx="920750" cy="335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4"/>
          <p:cNvSpPr/>
          <p:nvPr/>
        </p:nvSpPr>
        <p:spPr>
          <a:xfrm>
            <a:off x="254000" y="134620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Next Steps: Prototype Assembly</a:t>
            </a:r>
            <a:endParaRPr b="0" i="0" sz="1600" u="none" cap="none" strike="noStrike"/>
          </a:p>
        </p:txBody>
      </p:sp>
      <p:sp>
        <p:nvSpPr>
          <p:cNvPr id="511" name="Google Shape;511;p34"/>
          <p:cNvSpPr/>
          <p:nvPr/>
        </p:nvSpPr>
        <p:spPr>
          <a:xfrm>
            <a:off x="254000" y="1905000"/>
            <a:ext cx="12192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From plan to reality: the immediate action plan.</a:t>
            </a:r>
            <a:endParaRPr b="0" i="0" sz="1600" u="none" cap="none" strike="noStrike"/>
          </a:p>
        </p:txBody>
      </p:sp>
      <p:sp>
        <p:nvSpPr>
          <p:cNvPr id="512" name="Google Shape;512;p34"/>
          <p:cNvSpPr/>
          <p:nvPr/>
        </p:nvSpPr>
        <p:spPr>
          <a:xfrm>
            <a:off x="254000" y="2565400"/>
            <a:ext cx="5689600" cy="1320800"/>
          </a:xfrm>
          <a:custGeom>
            <a:rect b="b" l="l" r="r" t="t"/>
            <a:pathLst>
              <a:path extrusionOk="0" h="1320800" w="5689600">
                <a:moveTo>
                  <a:pt x="101596" y="0"/>
                </a:moveTo>
                <a:lnTo>
                  <a:pt x="5588004" y="0"/>
                </a:lnTo>
                <a:cubicBezTo>
                  <a:pt x="5644114" y="0"/>
                  <a:pt x="5689600" y="45486"/>
                  <a:pt x="5689600" y="101596"/>
                </a:cubicBezTo>
                <a:lnTo>
                  <a:pt x="5689600" y="1219204"/>
                </a:lnTo>
                <a:cubicBezTo>
                  <a:pt x="5689600" y="1275314"/>
                  <a:pt x="5644114" y="1320800"/>
                  <a:pt x="55880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262626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34"/>
          <p:cNvSpPr/>
          <p:nvPr/>
        </p:nvSpPr>
        <p:spPr>
          <a:xfrm>
            <a:off x="457200" y="2768600"/>
            <a:ext cx="5791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1. Component Procurement</a:t>
            </a:r>
            <a:endParaRPr b="0" i="0" sz="1600" u="none" cap="none" strike="noStrike"/>
          </a:p>
        </p:txBody>
      </p:sp>
      <p:sp>
        <p:nvSpPr>
          <p:cNvPr id="514" name="Google Shape;514;p34"/>
          <p:cNvSpPr/>
          <p:nvPr/>
        </p:nvSpPr>
        <p:spPr>
          <a:xfrm>
            <a:off x="457200" y="3175000"/>
            <a:ext cx="52832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Order all electronics from local suppliers and contract a 3D print shop for the mechanical parts.</a:t>
            </a:r>
            <a:endParaRPr b="0" i="0" sz="1600" u="none" cap="none" strike="noStrike"/>
          </a:p>
        </p:txBody>
      </p:sp>
      <p:sp>
        <p:nvSpPr>
          <p:cNvPr id="515" name="Google Shape;515;p34"/>
          <p:cNvSpPr/>
          <p:nvPr/>
        </p:nvSpPr>
        <p:spPr>
          <a:xfrm>
            <a:off x="6248400" y="2565400"/>
            <a:ext cx="5689600" cy="1320800"/>
          </a:xfrm>
          <a:custGeom>
            <a:rect b="b" l="l" r="r" t="t"/>
            <a:pathLst>
              <a:path extrusionOk="0" h="1320800" w="5689600">
                <a:moveTo>
                  <a:pt x="101596" y="0"/>
                </a:moveTo>
                <a:lnTo>
                  <a:pt x="5588004" y="0"/>
                </a:lnTo>
                <a:cubicBezTo>
                  <a:pt x="5644114" y="0"/>
                  <a:pt x="5689600" y="45486"/>
                  <a:pt x="5689600" y="101596"/>
                </a:cubicBezTo>
                <a:lnTo>
                  <a:pt x="5689600" y="1219204"/>
                </a:lnTo>
                <a:cubicBezTo>
                  <a:pt x="5689600" y="1275314"/>
                  <a:pt x="5644114" y="1320800"/>
                  <a:pt x="55880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8C8C8C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34"/>
          <p:cNvSpPr/>
          <p:nvPr/>
        </p:nvSpPr>
        <p:spPr>
          <a:xfrm>
            <a:off x="6451600" y="2768600"/>
            <a:ext cx="5791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2. Mechanical Assembly</a:t>
            </a:r>
            <a:endParaRPr b="0" i="0" sz="1600" u="none" cap="none" strike="noStrike"/>
          </a:p>
        </p:txBody>
      </p:sp>
      <p:sp>
        <p:nvSpPr>
          <p:cNvPr id="517" name="Google Shape;517;p34"/>
          <p:cNvSpPr/>
          <p:nvPr/>
        </p:nvSpPr>
        <p:spPr>
          <a:xfrm>
            <a:off x="6451600" y="3175000"/>
            <a:ext cx="52832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Assemble the 3D-printed chassis, mount the servo motors, and install the electronic boards.</a:t>
            </a:r>
            <a:endParaRPr b="0" i="0" sz="1600" u="none" cap="none" strike="noStrike"/>
          </a:p>
        </p:txBody>
      </p:sp>
      <p:sp>
        <p:nvSpPr>
          <p:cNvPr id="518" name="Google Shape;518;p34"/>
          <p:cNvSpPr/>
          <p:nvPr/>
        </p:nvSpPr>
        <p:spPr>
          <a:xfrm>
            <a:off x="254000" y="4191000"/>
            <a:ext cx="5689600" cy="1320800"/>
          </a:xfrm>
          <a:custGeom>
            <a:rect b="b" l="l" r="r" t="t"/>
            <a:pathLst>
              <a:path extrusionOk="0" h="1320800" w="5689600">
                <a:moveTo>
                  <a:pt x="101596" y="0"/>
                </a:moveTo>
                <a:lnTo>
                  <a:pt x="5588004" y="0"/>
                </a:lnTo>
                <a:cubicBezTo>
                  <a:pt x="5644114" y="0"/>
                  <a:pt x="5689600" y="45486"/>
                  <a:pt x="5689600" y="101596"/>
                </a:cubicBezTo>
                <a:lnTo>
                  <a:pt x="5689600" y="1219204"/>
                </a:lnTo>
                <a:cubicBezTo>
                  <a:pt x="5689600" y="1275314"/>
                  <a:pt x="5644114" y="1320800"/>
                  <a:pt x="55880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8C8C8C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4"/>
          <p:cNvSpPr/>
          <p:nvPr/>
        </p:nvSpPr>
        <p:spPr>
          <a:xfrm>
            <a:off x="457200" y="4394200"/>
            <a:ext cx="5791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3. Electronics Integration</a:t>
            </a:r>
            <a:endParaRPr b="0" i="0" sz="1600" u="none" cap="none" strike="noStrike"/>
          </a:p>
        </p:txBody>
      </p:sp>
      <p:sp>
        <p:nvSpPr>
          <p:cNvPr id="520" name="Google Shape;520;p34"/>
          <p:cNvSpPr/>
          <p:nvPr/>
        </p:nvSpPr>
        <p:spPr>
          <a:xfrm>
            <a:off x="457200" y="4800600"/>
            <a:ext cx="52832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Wire all sensors, servos, and modules. Perform initial power-on tests and connectivity checks.</a:t>
            </a:r>
            <a:endParaRPr b="0" i="0" sz="1600" u="none" cap="none" strike="noStrike"/>
          </a:p>
        </p:txBody>
      </p:sp>
      <p:sp>
        <p:nvSpPr>
          <p:cNvPr id="521" name="Google Shape;521;p34"/>
          <p:cNvSpPr/>
          <p:nvPr/>
        </p:nvSpPr>
        <p:spPr>
          <a:xfrm>
            <a:off x="6248400" y="4191000"/>
            <a:ext cx="5689600" cy="1320800"/>
          </a:xfrm>
          <a:custGeom>
            <a:rect b="b" l="l" r="r" t="t"/>
            <a:pathLst>
              <a:path extrusionOk="0" h="1320800" w="5689600">
                <a:moveTo>
                  <a:pt x="101596" y="0"/>
                </a:moveTo>
                <a:lnTo>
                  <a:pt x="5588004" y="0"/>
                </a:lnTo>
                <a:cubicBezTo>
                  <a:pt x="5644114" y="0"/>
                  <a:pt x="5689600" y="45486"/>
                  <a:pt x="5689600" y="101596"/>
                </a:cubicBezTo>
                <a:lnTo>
                  <a:pt x="5689600" y="1219204"/>
                </a:lnTo>
                <a:cubicBezTo>
                  <a:pt x="5689600" y="1275314"/>
                  <a:pt x="5644114" y="1320800"/>
                  <a:pt x="55880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262626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34"/>
          <p:cNvSpPr/>
          <p:nvPr/>
        </p:nvSpPr>
        <p:spPr>
          <a:xfrm>
            <a:off x="6451600" y="4394200"/>
            <a:ext cx="5791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4. Firmware Upload</a:t>
            </a:r>
            <a:endParaRPr b="0" i="0" sz="1600" u="none" cap="none" strike="noStrike"/>
          </a:p>
        </p:txBody>
      </p:sp>
      <p:sp>
        <p:nvSpPr>
          <p:cNvPr id="523" name="Google Shape;523;p34"/>
          <p:cNvSpPr/>
          <p:nvPr/>
        </p:nvSpPr>
        <p:spPr>
          <a:xfrm>
            <a:off x="6451600" y="4800600"/>
            <a:ext cx="52832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Upload the FreeRTOS-based firmware and test basic servo movements and sensor readings.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5"/>
          <p:cNvSpPr/>
          <p:nvPr/>
        </p:nvSpPr>
        <p:spPr>
          <a:xfrm>
            <a:off x="254000" y="114300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Next Steps: Testing &amp; Iteration</a:t>
            </a:r>
            <a:endParaRPr b="0" i="0" sz="1600" u="none" cap="none" strike="noStrike"/>
          </a:p>
        </p:txBody>
      </p:sp>
      <p:sp>
        <p:nvSpPr>
          <p:cNvPr id="530" name="Google Shape;530;p35"/>
          <p:cNvSpPr/>
          <p:nvPr/>
        </p:nvSpPr>
        <p:spPr>
          <a:xfrm>
            <a:off x="254000" y="1701800"/>
            <a:ext cx="12192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A structured approach to refinement and optimization.</a:t>
            </a:r>
            <a:endParaRPr b="0" i="0" sz="1600" u="none" cap="none" strike="noStrike"/>
          </a:p>
        </p:txBody>
      </p:sp>
      <p:sp>
        <p:nvSpPr>
          <p:cNvPr id="531" name="Google Shape;531;p35"/>
          <p:cNvSpPr/>
          <p:nvPr/>
        </p:nvSpPr>
        <p:spPr>
          <a:xfrm>
            <a:off x="254000" y="2489200"/>
            <a:ext cx="1727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Balance</a:t>
            </a:r>
            <a:endParaRPr b="0" i="0" sz="1600" u="none" cap="none" strike="noStrike"/>
          </a:p>
        </p:txBody>
      </p:sp>
      <p:sp>
        <p:nvSpPr>
          <p:cNvPr id="532" name="Google Shape;532;p35"/>
          <p:cNvSpPr/>
          <p:nvPr/>
        </p:nvSpPr>
        <p:spPr>
          <a:xfrm>
            <a:off x="1676400" y="2616200"/>
            <a:ext cx="8432800" cy="101600"/>
          </a:xfrm>
          <a:custGeom>
            <a:rect b="b" l="l" r="r" t="t"/>
            <a:pathLst>
              <a:path extrusionOk="0" h="101600" w="8432800">
                <a:moveTo>
                  <a:pt x="50800" y="0"/>
                </a:moveTo>
                <a:lnTo>
                  <a:pt x="8382000" y="0"/>
                </a:lnTo>
                <a:cubicBezTo>
                  <a:pt x="8410037" y="0"/>
                  <a:pt x="8432800" y="22763"/>
                  <a:pt x="8432800" y="50800"/>
                </a:cubicBezTo>
                <a:lnTo>
                  <a:pt x="8432800" y="50800"/>
                </a:lnTo>
                <a:cubicBezTo>
                  <a:pt x="8432800" y="78837"/>
                  <a:pt x="8410037" y="101600"/>
                  <a:pt x="83820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5"/>
          <p:cNvSpPr/>
          <p:nvPr/>
        </p:nvSpPr>
        <p:spPr>
          <a:xfrm>
            <a:off x="10312400" y="2362200"/>
            <a:ext cx="1625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Tune Gait &amp; Stability</a:t>
            </a:r>
            <a:endParaRPr b="0" i="0" sz="1600" u="none" cap="none" strike="noStrike"/>
          </a:p>
        </p:txBody>
      </p:sp>
      <p:sp>
        <p:nvSpPr>
          <p:cNvPr id="534" name="Google Shape;534;p35"/>
          <p:cNvSpPr/>
          <p:nvPr/>
        </p:nvSpPr>
        <p:spPr>
          <a:xfrm>
            <a:off x="254000" y="3302000"/>
            <a:ext cx="1727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SLAM</a:t>
            </a:r>
            <a:endParaRPr b="0" i="0" sz="1600" u="none" cap="none" strike="noStrike"/>
          </a:p>
        </p:txBody>
      </p:sp>
      <p:sp>
        <p:nvSpPr>
          <p:cNvPr id="535" name="Google Shape;535;p35"/>
          <p:cNvSpPr/>
          <p:nvPr/>
        </p:nvSpPr>
        <p:spPr>
          <a:xfrm>
            <a:off x="1676400" y="3429000"/>
            <a:ext cx="8432800" cy="101600"/>
          </a:xfrm>
          <a:custGeom>
            <a:rect b="b" l="l" r="r" t="t"/>
            <a:pathLst>
              <a:path extrusionOk="0" h="101600" w="8432800">
                <a:moveTo>
                  <a:pt x="50800" y="0"/>
                </a:moveTo>
                <a:lnTo>
                  <a:pt x="8382000" y="0"/>
                </a:lnTo>
                <a:cubicBezTo>
                  <a:pt x="8410037" y="0"/>
                  <a:pt x="8432800" y="22763"/>
                  <a:pt x="8432800" y="50800"/>
                </a:cubicBezTo>
                <a:lnTo>
                  <a:pt x="8432800" y="50800"/>
                </a:lnTo>
                <a:cubicBezTo>
                  <a:pt x="8432800" y="78837"/>
                  <a:pt x="8410037" y="101600"/>
                  <a:pt x="83820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C8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35"/>
          <p:cNvSpPr/>
          <p:nvPr/>
        </p:nvSpPr>
        <p:spPr>
          <a:xfrm>
            <a:off x="10312400" y="3175000"/>
            <a:ext cx="1625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Validate Mapping</a:t>
            </a:r>
            <a:endParaRPr b="0" i="0" sz="1600" u="none" cap="none" strike="noStrike"/>
          </a:p>
        </p:txBody>
      </p:sp>
      <p:sp>
        <p:nvSpPr>
          <p:cNvPr id="537" name="Google Shape;537;p35"/>
          <p:cNvSpPr/>
          <p:nvPr/>
        </p:nvSpPr>
        <p:spPr>
          <a:xfrm>
            <a:off x="254000" y="4267200"/>
            <a:ext cx="1727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endParaRPr b="0" i="0" sz="1600" u="none" cap="none" strike="noStrike"/>
          </a:p>
        </p:txBody>
      </p:sp>
      <p:sp>
        <p:nvSpPr>
          <p:cNvPr id="538" name="Google Shape;538;p35"/>
          <p:cNvSpPr/>
          <p:nvPr/>
        </p:nvSpPr>
        <p:spPr>
          <a:xfrm>
            <a:off x="1676400" y="4394200"/>
            <a:ext cx="8432800" cy="101600"/>
          </a:xfrm>
          <a:custGeom>
            <a:rect b="b" l="l" r="r" t="t"/>
            <a:pathLst>
              <a:path extrusionOk="0" h="101600" w="8432800">
                <a:moveTo>
                  <a:pt x="50800" y="0"/>
                </a:moveTo>
                <a:lnTo>
                  <a:pt x="8382000" y="0"/>
                </a:lnTo>
                <a:cubicBezTo>
                  <a:pt x="8410037" y="0"/>
                  <a:pt x="8432800" y="22763"/>
                  <a:pt x="8432800" y="50800"/>
                </a:cubicBezTo>
                <a:lnTo>
                  <a:pt x="8432800" y="50800"/>
                </a:lnTo>
                <a:cubicBezTo>
                  <a:pt x="8432800" y="78837"/>
                  <a:pt x="8410037" y="101600"/>
                  <a:pt x="83820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35"/>
          <p:cNvSpPr/>
          <p:nvPr/>
        </p:nvSpPr>
        <p:spPr>
          <a:xfrm>
            <a:off x="10312400" y="3987800"/>
            <a:ext cx="162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Test Commands &amp; Vision</a:t>
            </a:r>
            <a:endParaRPr b="0" i="0" sz="1600" u="none" cap="none" strike="noStrike"/>
          </a:p>
        </p:txBody>
      </p:sp>
      <p:sp>
        <p:nvSpPr>
          <p:cNvPr id="540" name="Google Shape;540;p35"/>
          <p:cNvSpPr/>
          <p:nvPr/>
        </p:nvSpPr>
        <p:spPr>
          <a:xfrm>
            <a:off x="254000" y="5232400"/>
            <a:ext cx="1727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System</a:t>
            </a:r>
            <a:endParaRPr b="0" i="0" sz="1600" u="none" cap="none" strike="noStrike"/>
          </a:p>
        </p:txBody>
      </p:sp>
      <p:sp>
        <p:nvSpPr>
          <p:cNvPr id="541" name="Google Shape;541;p35"/>
          <p:cNvSpPr/>
          <p:nvPr/>
        </p:nvSpPr>
        <p:spPr>
          <a:xfrm>
            <a:off x="1676400" y="5359400"/>
            <a:ext cx="8432800" cy="101600"/>
          </a:xfrm>
          <a:custGeom>
            <a:rect b="b" l="l" r="r" t="t"/>
            <a:pathLst>
              <a:path extrusionOk="0" h="101600" w="8432800">
                <a:moveTo>
                  <a:pt x="50800" y="0"/>
                </a:moveTo>
                <a:lnTo>
                  <a:pt x="8382000" y="0"/>
                </a:lnTo>
                <a:cubicBezTo>
                  <a:pt x="8410037" y="0"/>
                  <a:pt x="8432800" y="22763"/>
                  <a:pt x="8432800" y="50800"/>
                </a:cubicBezTo>
                <a:lnTo>
                  <a:pt x="8432800" y="50800"/>
                </a:lnTo>
                <a:cubicBezTo>
                  <a:pt x="8432800" y="78837"/>
                  <a:pt x="8410037" y="101600"/>
                  <a:pt x="83820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5"/>
          <p:cNvSpPr/>
          <p:nvPr/>
        </p:nvSpPr>
        <p:spPr>
          <a:xfrm>
            <a:off x="10312400" y="5105400"/>
            <a:ext cx="1625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User Trials &amp; Feedback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slides_tmpl/image/25-08-27-19:58:00-d2nf5i18bjvh7rlivu80.png" id="548" name="Google Shape;54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5" y="0"/>
            <a:ext cx="12192635" cy="6872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Aperture Laboratories Logo.svg - Wikimedia Commons" id="549" name="Google Shape;54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1325" y="5325950"/>
            <a:ext cx="3917426" cy="997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ملف:Logo freeRTOS.png - ويكيبيديا" id="550" name="Google Shape;550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62572" y="2908422"/>
            <a:ext cx="3062700" cy="1164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Ros logo.svg - Wikimedia Commons" id="551" name="Google Shape;551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62575" y="4269525"/>
            <a:ext cx="3236174" cy="85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slides_tmpl/image/25-08-27-19:58:00-d2nf5i18bjvh7rlivu80.png" id="557" name="Google Shape;55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5" y="0"/>
            <a:ext cx="12192635" cy="6872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kimi-img.moonshot.cn/pub/slides/slides_tmpl/image/25-08-27-19:57:59-d2nf5hp8bjvh7rlivu60.png" id="558" name="Google Shape;558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755" y="304800"/>
            <a:ext cx="8037196" cy="42392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Aperture Laboratories Logo.svg - Wikimedia Commons" id="559" name="Google Shape;559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81325" y="5325950"/>
            <a:ext cx="3917426" cy="99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